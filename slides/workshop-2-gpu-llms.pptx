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the chip you'll use today is the same kind that runs ChatGPT. Recap Workshop 1 (Linux). Today: your code on a real GPU, then why that pattern is the engine of modern AI. Have students switch Colab to T4 GPU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from WS1. Today is lecture-heavy with a short lab in the middle. The image is the actual output of the kernel they'll complete.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mental model. Data parallelism. The grid is a picture of a launch: one thread per cell, all running the same kernel simultaneously.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stadium analogy is the keeper. CPU = a few brilliant mathematicians; GPU = a stadium of students each doing one arithmetic problem. For repetitive parallel math, the stadium wins by orders of magnitude.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real kernel (trimmed). Emphasize the index math and 'one thread = one pixel'. Foreshadow that matrix multiply uses the identical indexing.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Generalize the blur: instead of averaging a neighbourhood, each output element is a sum of products (dot product). Still one independent value per output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matmul/Ch3exercises.cu. The point: it's structurally identical to the blur they just wrote. Same indexing, same one-thread-per-output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light — one analogy: grabbing a whole shelf row in one reach vs walking back and forth. Callback to their own coalesced-vs-not notes in Ch3exercises.cu.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transformer pipeline, labelled by operation. Don't teach transformer internals deeply — just show that the heavy lifting is matmul after matmul, the exact kernel shape they now understand.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real numbers, framed as orders of magnitude. T4 = 2,560 CUDA cores (they'll use a T4). GPU HBM bandwidth ~TB/s vs CPU ~tens of GB/s. Keep it honest: approximate.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the 'why'. Tensor cores = specialized matmul units — the hardware doubling-down on the exact operation LLMs are made 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through-line as one picture. This is the slide to leave up during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Kick off the lab. Leave the full-circle slide (12) or this one up while students work. Reconvene for the numbers/why slides if you front-loaded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olab.research.google.com/github/daryl-888/Workshop2/blob/main/blur.ipynb" TargetMode="External"/><Relationship Id="rId2" Type="http://schemas.openxmlformats.org/officeDocument/2006/relationships/hyperlink" Target="https://colab.research.google.com/github/daryl-888/Workshop2/blob/main/blur.ipynb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 2  ·  FROM ZERO TO GPU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" name="Shape 2"/>
          <p:cNvSpPr/>
          <p:nvPr/>
        </p:nvSpPr>
        <p:spPr>
          <a:xfrm>
            <a:off x="768096" y="1170432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170432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" y="1170432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298448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298448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1298448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Shape 8"/>
          <p:cNvSpPr/>
          <p:nvPr/>
        </p:nvSpPr>
        <p:spPr>
          <a:xfrm>
            <a:off x="1024128" y="1298448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1426464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" name="Shape 10"/>
          <p:cNvSpPr/>
          <p:nvPr/>
        </p:nvSpPr>
        <p:spPr>
          <a:xfrm>
            <a:off x="768096" y="1426464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1"/>
          <p:cNvSpPr/>
          <p:nvPr/>
        </p:nvSpPr>
        <p:spPr>
          <a:xfrm>
            <a:off x="896112" y="1426464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4128" y="1426464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1554480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768096" y="1554480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1554480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4128" y="1554480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182880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GPUs Run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World's AI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658368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blur an image on a real GPU — then see how that exact trick powers ChatGPT.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58368" y="4709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thread per pixel</a:t>
            </a:r>
            <a:pPr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</a:t>
            </a:r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thread per number</a:t>
            </a:r>
            <a:pPr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</a:t>
            </a:r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trillion at once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 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time: a Linux tool. Today: a GPU.</a:t>
            </a:r>
            <a:endParaRPr lang="en-US" sz="3400" dirty="0"/>
          </a:p>
        </p:txBody>
      </p:sp>
      <p:pic>
        <p:nvPicPr>
          <p:cNvPr id="4" name="Image 0" descr="blur_before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7498080" cy="24505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3891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 →  after: your kernel blurs every pixel in parallel.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366760" y="1874520"/>
            <a:ext cx="3154680" cy="2450592"/>
          </a:xfrm>
          <a:prstGeom prst="roundRect">
            <a:avLst>
              <a:gd name="adj" fmla="val 2612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2084832"/>
            <a:ext cx="2743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
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Blur an image on a GPU (lab)
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See it's really matrix math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That math = every LLM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BIG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thread per output element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7830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GPU doesn't do one big job fast. It does the SAME tiny job on thousands of pieces of data at the same time.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288036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blur:  </a:t>
            </a:r>
            <a:pPr indent="0" marL="0">
              <a:buNone/>
            </a:pPr>
            <a:r>
              <a:rPr lang="en-US" sz="16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is handed one pixel. It averages that pixel's neighbours and writes the result. Millions of threads, one per pixel, all at once.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47548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 sentence — the whole workshop is it, scaled up.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040880" y="1783080"/>
            <a:ext cx="4480560" cy="4023360"/>
          </a:xfrm>
          <a:prstGeom prst="roundRect">
            <a:avLst>
              <a:gd name="adj" fmla="val 1591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18120" y="224028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Shape 7"/>
          <p:cNvSpPr/>
          <p:nvPr/>
        </p:nvSpPr>
        <p:spPr>
          <a:xfrm>
            <a:off x="8156448" y="224028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0" name="Shape 8"/>
          <p:cNvSpPr/>
          <p:nvPr/>
        </p:nvSpPr>
        <p:spPr>
          <a:xfrm>
            <a:off x="8494776" y="224028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1" name="Shape 9"/>
          <p:cNvSpPr/>
          <p:nvPr/>
        </p:nvSpPr>
        <p:spPr>
          <a:xfrm>
            <a:off x="8833104" y="224028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71432" y="224028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3" name="Shape 11"/>
          <p:cNvSpPr/>
          <p:nvPr/>
        </p:nvSpPr>
        <p:spPr>
          <a:xfrm>
            <a:off x="9509760" y="224028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8088" y="224028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86416" y="224028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24744" y="224028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818120" y="257860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8" name="Shape 16"/>
          <p:cNvSpPr/>
          <p:nvPr/>
        </p:nvSpPr>
        <p:spPr>
          <a:xfrm>
            <a:off x="8156448" y="257860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9" name="Shape 17"/>
          <p:cNvSpPr/>
          <p:nvPr/>
        </p:nvSpPr>
        <p:spPr>
          <a:xfrm>
            <a:off x="8494776" y="257860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833104" y="257860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1" name="Shape 19"/>
          <p:cNvSpPr/>
          <p:nvPr/>
        </p:nvSpPr>
        <p:spPr>
          <a:xfrm>
            <a:off x="9171432" y="257860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9509760" y="257860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3" name="Shape 21"/>
          <p:cNvSpPr/>
          <p:nvPr/>
        </p:nvSpPr>
        <p:spPr>
          <a:xfrm>
            <a:off x="9848088" y="257860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86416" y="257860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5" name="Shape 23"/>
          <p:cNvSpPr/>
          <p:nvPr/>
        </p:nvSpPr>
        <p:spPr>
          <a:xfrm>
            <a:off x="10524744" y="257860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6" name="Shape 24"/>
          <p:cNvSpPr/>
          <p:nvPr/>
        </p:nvSpPr>
        <p:spPr>
          <a:xfrm>
            <a:off x="7818120" y="291693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156448" y="291693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4776" y="291693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9" name="Shape 27"/>
          <p:cNvSpPr/>
          <p:nvPr/>
        </p:nvSpPr>
        <p:spPr>
          <a:xfrm>
            <a:off x="8833104" y="291693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0" name="Shape 28"/>
          <p:cNvSpPr/>
          <p:nvPr/>
        </p:nvSpPr>
        <p:spPr>
          <a:xfrm>
            <a:off x="9171432" y="291693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1" name="Shape 29"/>
          <p:cNvSpPr/>
          <p:nvPr/>
        </p:nvSpPr>
        <p:spPr>
          <a:xfrm>
            <a:off x="9509760" y="291693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2" name="Shape 30"/>
          <p:cNvSpPr/>
          <p:nvPr/>
        </p:nvSpPr>
        <p:spPr>
          <a:xfrm>
            <a:off x="9848088" y="291693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3" name="Shape 31"/>
          <p:cNvSpPr/>
          <p:nvPr/>
        </p:nvSpPr>
        <p:spPr>
          <a:xfrm>
            <a:off x="10186416" y="291693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4" name="Shape 32"/>
          <p:cNvSpPr/>
          <p:nvPr/>
        </p:nvSpPr>
        <p:spPr>
          <a:xfrm>
            <a:off x="10524744" y="291693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5" name="Shape 33"/>
          <p:cNvSpPr/>
          <p:nvPr/>
        </p:nvSpPr>
        <p:spPr>
          <a:xfrm>
            <a:off x="7818120" y="325526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6" name="Shape 34"/>
          <p:cNvSpPr/>
          <p:nvPr/>
        </p:nvSpPr>
        <p:spPr>
          <a:xfrm>
            <a:off x="8156448" y="325526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7" name="Shape 35"/>
          <p:cNvSpPr/>
          <p:nvPr/>
        </p:nvSpPr>
        <p:spPr>
          <a:xfrm>
            <a:off x="8494776" y="325526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8" name="Shape 36"/>
          <p:cNvSpPr/>
          <p:nvPr/>
        </p:nvSpPr>
        <p:spPr>
          <a:xfrm>
            <a:off x="8833104" y="325526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9" name="Shape 37"/>
          <p:cNvSpPr/>
          <p:nvPr/>
        </p:nvSpPr>
        <p:spPr>
          <a:xfrm>
            <a:off x="9171432" y="325526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0" name="Shape 38"/>
          <p:cNvSpPr/>
          <p:nvPr/>
        </p:nvSpPr>
        <p:spPr>
          <a:xfrm>
            <a:off x="9509760" y="325526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1" name="Shape 39"/>
          <p:cNvSpPr/>
          <p:nvPr/>
        </p:nvSpPr>
        <p:spPr>
          <a:xfrm>
            <a:off x="9848088" y="325526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2" name="Shape 40"/>
          <p:cNvSpPr/>
          <p:nvPr/>
        </p:nvSpPr>
        <p:spPr>
          <a:xfrm>
            <a:off x="10186416" y="325526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3" name="Shape 41"/>
          <p:cNvSpPr/>
          <p:nvPr/>
        </p:nvSpPr>
        <p:spPr>
          <a:xfrm>
            <a:off x="10524744" y="325526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4" name="Shape 42"/>
          <p:cNvSpPr/>
          <p:nvPr/>
        </p:nvSpPr>
        <p:spPr>
          <a:xfrm>
            <a:off x="7818120" y="3593592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5" name="Shape 43"/>
          <p:cNvSpPr/>
          <p:nvPr/>
        </p:nvSpPr>
        <p:spPr>
          <a:xfrm>
            <a:off x="8156448" y="3593592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6" name="Shape 44"/>
          <p:cNvSpPr/>
          <p:nvPr/>
        </p:nvSpPr>
        <p:spPr>
          <a:xfrm>
            <a:off x="8494776" y="3593592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7" name="Shape 45"/>
          <p:cNvSpPr/>
          <p:nvPr/>
        </p:nvSpPr>
        <p:spPr>
          <a:xfrm>
            <a:off x="8833104" y="3593592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8" name="Shape 46"/>
          <p:cNvSpPr/>
          <p:nvPr/>
        </p:nvSpPr>
        <p:spPr>
          <a:xfrm>
            <a:off x="9171432" y="3593592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9" name="Shape 47"/>
          <p:cNvSpPr/>
          <p:nvPr/>
        </p:nvSpPr>
        <p:spPr>
          <a:xfrm>
            <a:off x="9509760" y="3593592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0" name="Shape 48"/>
          <p:cNvSpPr/>
          <p:nvPr/>
        </p:nvSpPr>
        <p:spPr>
          <a:xfrm>
            <a:off x="9848088" y="3593592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1" name="Shape 49"/>
          <p:cNvSpPr/>
          <p:nvPr/>
        </p:nvSpPr>
        <p:spPr>
          <a:xfrm>
            <a:off x="10186416" y="3593592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2" name="Shape 50"/>
          <p:cNvSpPr/>
          <p:nvPr/>
        </p:nvSpPr>
        <p:spPr>
          <a:xfrm>
            <a:off x="10524744" y="3593592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3" name="Shape 51"/>
          <p:cNvSpPr/>
          <p:nvPr/>
        </p:nvSpPr>
        <p:spPr>
          <a:xfrm>
            <a:off x="7818120" y="393192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4" name="Shape 52"/>
          <p:cNvSpPr/>
          <p:nvPr/>
        </p:nvSpPr>
        <p:spPr>
          <a:xfrm>
            <a:off x="8156448" y="393192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5" name="Shape 53"/>
          <p:cNvSpPr/>
          <p:nvPr/>
        </p:nvSpPr>
        <p:spPr>
          <a:xfrm>
            <a:off x="8494776" y="393192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6" name="Shape 54"/>
          <p:cNvSpPr/>
          <p:nvPr/>
        </p:nvSpPr>
        <p:spPr>
          <a:xfrm>
            <a:off x="8833104" y="393192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7" name="Shape 55"/>
          <p:cNvSpPr/>
          <p:nvPr/>
        </p:nvSpPr>
        <p:spPr>
          <a:xfrm>
            <a:off x="9171432" y="393192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8" name="Shape 56"/>
          <p:cNvSpPr/>
          <p:nvPr/>
        </p:nvSpPr>
        <p:spPr>
          <a:xfrm>
            <a:off x="9509760" y="393192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9" name="Shape 57"/>
          <p:cNvSpPr/>
          <p:nvPr/>
        </p:nvSpPr>
        <p:spPr>
          <a:xfrm>
            <a:off x="9848088" y="393192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0" name="Shape 58"/>
          <p:cNvSpPr/>
          <p:nvPr/>
        </p:nvSpPr>
        <p:spPr>
          <a:xfrm>
            <a:off x="10186416" y="393192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1" name="Shape 59"/>
          <p:cNvSpPr/>
          <p:nvPr/>
        </p:nvSpPr>
        <p:spPr>
          <a:xfrm>
            <a:off x="10524744" y="3931920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2" name="Shape 60"/>
          <p:cNvSpPr/>
          <p:nvPr/>
        </p:nvSpPr>
        <p:spPr>
          <a:xfrm>
            <a:off x="7818120" y="427024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3" name="Shape 61"/>
          <p:cNvSpPr/>
          <p:nvPr/>
        </p:nvSpPr>
        <p:spPr>
          <a:xfrm>
            <a:off x="8156448" y="427024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4" name="Shape 62"/>
          <p:cNvSpPr/>
          <p:nvPr/>
        </p:nvSpPr>
        <p:spPr>
          <a:xfrm>
            <a:off x="8494776" y="427024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33104" y="427024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6" name="Shape 64"/>
          <p:cNvSpPr/>
          <p:nvPr/>
        </p:nvSpPr>
        <p:spPr>
          <a:xfrm>
            <a:off x="9171432" y="427024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7" name="Shape 65"/>
          <p:cNvSpPr/>
          <p:nvPr/>
        </p:nvSpPr>
        <p:spPr>
          <a:xfrm>
            <a:off x="9509760" y="427024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8" name="Shape 66"/>
          <p:cNvSpPr/>
          <p:nvPr/>
        </p:nvSpPr>
        <p:spPr>
          <a:xfrm>
            <a:off x="9848088" y="427024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9" name="Shape 67"/>
          <p:cNvSpPr/>
          <p:nvPr/>
        </p:nvSpPr>
        <p:spPr>
          <a:xfrm>
            <a:off x="10186416" y="427024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0" name="Shape 68"/>
          <p:cNvSpPr/>
          <p:nvPr/>
        </p:nvSpPr>
        <p:spPr>
          <a:xfrm>
            <a:off x="10524744" y="4270248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818120" y="460857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2" name="Shape 70"/>
          <p:cNvSpPr/>
          <p:nvPr/>
        </p:nvSpPr>
        <p:spPr>
          <a:xfrm>
            <a:off x="8156448" y="460857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3" name="Shape 71"/>
          <p:cNvSpPr/>
          <p:nvPr/>
        </p:nvSpPr>
        <p:spPr>
          <a:xfrm>
            <a:off x="8494776" y="460857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4" name="Shape 72"/>
          <p:cNvSpPr/>
          <p:nvPr/>
        </p:nvSpPr>
        <p:spPr>
          <a:xfrm>
            <a:off x="8833104" y="460857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5" name="Shape 73"/>
          <p:cNvSpPr/>
          <p:nvPr/>
        </p:nvSpPr>
        <p:spPr>
          <a:xfrm>
            <a:off x="9171432" y="460857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6" name="Shape 74"/>
          <p:cNvSpPr/>
          <p:nvPr/>
        </p:nvSpPr>
        <p:spPr>
          <a:xfrm>
            <a:off x="9509760" y="460857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7" name="Shape 75"/>
          <p:cNvSpPr/>
          <p:nvPr/>
        </p:nvSpPr>
        <p:spPr>
          <a:xfrm>
            <a:off x="9848088" y="460857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8" name="Shape 76"/>
          <p:cNvSpPr/>
          <p:nvPr/>
        </p:nvSpPr>
        <p:spPr>
          <a:xfrm>
            <a:off x="10186416" y="460857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9" name="Shape 77"/>
          <p:cNvSpPr/>
          <p:nvPr/>
        </p:nvSpPr>
        <p:spPr>
          <a:xfrm>
            <a:off x="10524744" y="4608576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818120" y="494690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1" name="Shape 79"/>
          <p:cNvSpPr/>
          <p:nvPr/>
        </p:nvSpPr>
        <p:spPr>
          <a:xfrm>
            <a:off x="8156448" y="494690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2" name="Shape 80"/>
          <p:cNvSpPr/>
          <p:nvPr/>
        </p:nvSpPr>
        <p:spPr>
          <a:xfrm>
            <a:off x="8494776" y="494690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3" name="Shape 81"/>
          <p:cNvSpPr/>
          <p:nvPr/>
        </p:nvSpPr>
        <p:spPr>
          <a:xfrm>
            <a:off x="8833104" y="494690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4" name="Shape 82"/>
          <p:cNvSpPr/>
          <p:nvPr/>
        </p:nvSpPr>
        <p:spPr>
          <a:xfrm>
            <a:off x="9171432" y="494690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5" name="Shape 83"/>
          <p:cNvSpPr/>
          <p:nvPr/>
        </p:nvSpPr>
        <p:spPr>
          <a:xfrm>
            <a:off x="9509760" y="494690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6" name="Shape 84"/>
          <p:cNvSpPr/>
          <p:nvPr/>
        </p:nvSpPr>
        <p:spPr>
          <a:xfrm>
            <a:off x="9848088" y="494690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7" name="Shape 85"/>
          <p:cNvSpPr/>
          <p:nvPr/>
        </p:nvSpPr>
        <p:spPr>
          <a:xfrm>
            <a:off x="10186416" y="494690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8" name="Shape 86"/>
          <p:cNvSpPr/>
          <p:nvPr/>
        </p:nvSpPr>
        <p:spPr>
          <a:xfrm>
            <a:off x="10524744" y="4946904"/>
            <a:ext cx="274320" cy="2743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9" name="Text 87"/>
          <p:cNvSpPr/>
          <p:nvPr/>
        </p:nvSpPr>
        <p:spPr>
          <a:xfrm>
            <a:off x="7040880" y="54406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each square = one pixel = one thread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GPU AT ALL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geniuses vs a stadium of students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3840480"/>
          </a:xfrm>
          <a:prstGeom prst="roundRect">
            <a:avLst>
              <a:gd name="adj" fmla="val 1667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03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very fast cores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457200" cy="457200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8" name="Shape 6"/>
          <p:cNvSpPr/>
          <p:nvPr/>
        </p:nvSpPr>
        <p:spPr>
          <a:xfrm>
            <a:off x="1508760" y="3200400"/>
            <a:ext cx="457200" cy="457200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794760"/>
            <a:ext cx="457200" cy="457200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10" name="Shape 8"/>
          <p:cNvSpPr/>
          <p:nvPr/>
        </p:nvSpPr>
        <p:spPr>
          <a:xfrm>
            <a:off x="1508760" y="3794760"/>
            <a:ext cx="457200" cy="457200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11" name="Text 9"/>
          <p:cNvSpPr/>
          <p:nvPr/>
        </p:nvSpPr>
        <p:spPr>
          <a:xfrm>
            <a:off x="2377440" y="32004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~8–64 </a:t>
            </a:r>
            <a:pPr indent="0" marL="0"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cores.</a:t>
            </a:r>
            <a:endParaRPr lang="en-US" sz="2600" dirty="0"/>
          </a:p>
          <a:p>
            <a:pPr indent="0" marL="0"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at one complicated task at a time.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172200" y="1874520"/>
            <a:ext cx="5349240" cy="3840480"/>
          </a:xfrm>
          <a:prstGeom prst="roundRect">
            <a:avLst>
              <a:gd name="adj" fmla="val 1667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103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simple cores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46520" y="3200400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6647688" y="3200400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848856" y="3200400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7050024" y="3200400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7251192" y="3200400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52360" y="3200400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6446520" y="3401568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6647688" y="3401568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6848856" y="3401568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7050024" y="3401568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7251192" y="3401568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452360" y="3401568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6446520" y="3602736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6647688" y="3602736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6848856" y="3602736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0024" y="3602736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7251192" y="3602736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7452360" y="3602736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6446520" y="3803904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6647688" y="3803904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6848856" y="3803904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7050024" y="3803904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7251192" y="3803904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7452360" y="3803904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6446520" y="4005072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6647688" y="4005072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6848856" y="4005072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7050024" y="4005072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7251192" y="4005072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7452360" y="4005072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6446520" y="4206240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6647688" y="4206240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6848856" y="4206240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0024" y="4206240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7251192" y="4206240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7452360" y="4206240"/>
            <a:ext cx="146304" cy="1463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Text 49"/>
          <p:cNvSpPr/>
          <p:nvPr/>
        </p:nvSpPr>
        <p:spPr>
          <a:xfrm>
            <a:off x="7772400" y="32004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~2,560 </a:t>
            </a:r>
            <a:pPr indent="0" marL="0"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on a Colab T4.</a:t>
            </a:r>
            <a:endParaRPr lang="en-US" sz="2600" dirty="0"/>
          </a:p>
          <a:p>
            <a:pPr indent="0" marL="0"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at the same simple sum, a million times.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Blur, matrix multiply, and LLMs are all "the same simple sum, a million times."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CODE YOU'LL FINISH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blur kernel: runs once per pixel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858000" cy="4114800"/>
          </a:xfrm>
          <a:prstGeom prst="roundRect">
            <a:avLst>
              <a:gd name="adj" fmla="val 1333"/>
            </a:avLst>
          </a:prstGeom>
          <a:solidFill>
            <a:srgbClr val="060912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93392"/>
            <a:ext cx="6455664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blurKernel(uchar* out, uchar* in, int w, int h){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which pixel is THIS thread?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col = blockIdx.x*blockDim.x + threadIdx.x;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row = blockIdx.y*blockDim.y + threadIdx.y;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if(col&lt;w &amp;&amp; row&lt;h){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average the neighbourhood...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idx = (curRow*w + curCol)*3;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rVal += in[idx+0]; ...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out[outIdx] = rVal / pixels;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680960" y="1828800"/>
            <a:ext cx="3840480" cy="4114800"/>
          </a:xfrm>
          <a:prstGeom prst="roundRect">
            <a:avLst>
              <a:gd name="adj" fmla="val 1667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09560" y="205740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as:
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one thread. I figure out my pixel from my position in the grid, average its neighbours, and write one output pixel."
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</a:t>
            </a:r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(row*w + col)</a:t>
            </a:r>
            <a:pPr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flat, row-major indexing — comes back in 3 slides.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ZOOM OUT ONE STEP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"average neighbours" to "dot products"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multiply C = A × B: each output cell is a row of A times a column of B — multiply pairs, add them up. A 'dot product'.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" y="2377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(a row)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97280" y="2834640"/>
            <a:ext cx="512064" cy="512064"/>
          </a:xfrm>
          <a:prstGeom prst="rect">
            <a:avLst/>
          </a:prstGeom>
          <a:solidFill>
            <a:srgbClr val="151B2E"/>
          </a:solidFill>
          <a:ln w="19050">
            <a:solidFill>
              <a:srgbClr val="76B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834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664208" y="2834640"/>
            <a:ext cx="512064" cy="512064"/>
          </a:xfrm>
          <a:prstGeom prst="rect">
            <a:avLst/>
          </a:prstGeom>
          <a:solidFill>
            <a:srgbClr val="151B2E"/>
          </a:solidFill>
          <a:ln w="19050">
            <a:solidFill>
              <a:srgbClr val="76B9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64208" y="2834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31136" y="2834640"/>
            <a:ext cx="512064" cy="512064"/>
          </a:xfrm>
          <a:prstGeom prst="rect">
            <a:avLst/>
          </a:prstGeom>
          <a:solidFill>
            <a:srgbClr val="151B2E"/>
          </a:solidFill>
          <a:ln w="19050">
            <a:solidFill>
              <a:srgbClr val="76B9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31136" y="2834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98064" y="2834640"/>
            <a:ext cx="512064" cy="512064"/>
          </a:xfrm>
          <a:prstGeom prst="rect">
            <a:avLst/>
          </a:prstGeom>
          <a:solidFill>
            <a:srgbClr val="151B2E"/>
          </a:solidFill>
          <a:ln w="19050">
            <a:solidFill>
              <a:srgbClr val="76B9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98064" y="2834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10712" y="28346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867912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(a col)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67912" y="2834640"/>
            <a:ext cx="512064" cy="512064"/>
          </a:xfrm>
          <a:prstGeom prst="rect">
            <a:avLst/>
          </a:prstGeom>
          <a:solidFill>
            <a:srgbClr val="151B2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67912" y="2834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867912" y="3401568"/>
            <a:ext cx="512064" cy="512064"/>
          </a:xfrm>
          <a:prstGeom prst="rect">
            <a:avLst/>
          </a:prstGeom>
          <a:solidFill>
            <a:srgbClr val="151B2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2" y="34015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67912" y="3968496"/>
            <a:ext cx="512064" cy="512064"/>
          </a:xfrm>
          <a:prstGeom prst="rect">
            <a:avLst/>
          </a:prstGeom>
          <a:solidFill>
            <a:srgbClr val="151B2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67912" y="39684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867912" y="4535424"/>
            <a:ext cx="512064" cy="512064"/>
          </a:xfrm>
          <a:prstGeom prst="rect">
            <a:avLst/>
          </a:prstGeom>
          <a:solidFill>
            <a:srgbClr val="151B2E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67912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28346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5029200" y="2834640"/>
            <a:ext cx="512064" cy="51206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2834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852160" y="2697480"/>
            <a:ext cx="4754880" cy="1371600"/>
          </a:xfrm>
          <a:prstGeom prst="roundRect">
            <a:avLst>
              <a:gd name="adj" fmla="val 4000"/>
            </a:avLst>
          </a:prstGeom>
          <a:solidFill>
            <a:srgbClr val="060912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53328" y="2862072"/>
            <a:ext cx="435254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= a1*b1 + a2*b2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+ a3*b3 + a4*b4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output cell, one thread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8368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output cell = one dot product = one thread's job. Sound familiar?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OWN MATMUL KERNEL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launch. Same indexing. Bigger idea.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7040880" cy="4023360"/>
          </a:xfrm>
          <a:prstGeom prst="roundRect">
            <a:avLst>
              <a:gd name="adj" fmla="val 1364"/>
            </a:avLst>
          </a:prstGeom>
          <a:solidFill>
            <a:srgbClr val="060912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93392"/>
            <a:ext cx="6638544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MatrixMul(float* M, float* N,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float* P, int width){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col = blockIdx.x*blockDim.x+threadIdx.x;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if(col &lt; width){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for(int i=0;i&lt;width;++i){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float sum = 0;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for(int k=0;k&lt;width;++k)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sum += M[i*width+k]*N[k*width+col];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P[i*width+col] = sum;   // one cell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863840" y="1828800"/>
            <a:ext cx="3657600" cy="4023360"/>
          </a:xfrm>
          <a:prstGeom prst="roundRect">
            <a:avLst>
              <a:gd name="adj" fmla="val 1750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92440" y="2057400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
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thread-index line as the blur
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</a:t>
            </a:r>
            <a:pPr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i*width+k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row-major math
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→ one output cell
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blur pattern, doing math instead of averaging.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SPEED SECRET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love neighbours reading neighbours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7830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threads read memory that sits side-by-side, the hardware grabs it all in one trip. Jump around, and it takes many trips. This is 'coalesced' access — a big part of GPU speed.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5349240" cy="2651760"/>
          </a:xfrm>
          <a:prstGeom prst="roundRect">
            <a:avLst>
              <a:gd name="adj" fmla="val 2414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Coalesced ✓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794760"/>
            <a:ext cx="603504" cy="6035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Shape 6"/>
          <p:cNvSpPr/>
          <p:nvPr/>
        </p:nvSpPr>
        <p:spPr>
          <a:xfrm>
            <a:off x="1600200" y="3794760"/>
            <a:ext cx="603504" cy="6035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7"/>
          <p:cNvSpPr/>
          <p:nvPr/>
        </p:nvSpPr>
        <p:spPr>
          <a:xfrm>
            <a:off x="2286000" y="3794760"/>
            <a:ext cx="603504" cy="6035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Shape 8"/>
          <p:cNvSpPr/>
          <p:nvPr/>
        </p:nvSpPr>
        <p:spPr>
          <a:xfrm>
            <a:off x="2971800" y="3794760"/>
            <a:ext cx="603504" cy="6035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3794760"/>
            <a:ext cx="603504" cy="6035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400" y="3794760"/>
            <a:ext cx="603504" cy="60350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1-6 read memory 1-6, in order → one fetch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72200" y="3017520"/>
            <a:ext cx="5349240" cy="2651760"/>
          </a:xfrm>
          <a:prstGeom prst="roundRect">
            <a:avLst>
              <a:gd name="adj" fmla="val 2414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✗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46520" y="3794760"/>
            <a:ext cx="603504" cy="60350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794760"/>
            <a:ext cx="603504" cy="60350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0" y="3794760"/>
            <a:ext cx="603504" cy="60350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9" name="Shape 17"/>
          <p:cNvSpPr/>
          <p:nvPr/>
        </p:nvSpPr>
        <p:spPr>
          <a:xfrm>
            <a:off x="9875520" y="3794760"/>
            <a:ext cx="603504" cy="60350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0" name="Shape 18"/>
          <p:cNvSpPr/>
          <p:nvPr/>
        </p:nvSpPr>
        <p:spPr>
          <a:xfrm>
            <a:off x="7818120" y="3794760"/>
            <a:ext cx="603504" cy="60350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1" name="Shape 19"/>
          <p:cNvSpPr/>
          <p:nvPr/>
        </p:nvSpPr>
        <p:spPr>
          <a:xfrm>
            <a:off x="9189720" y="3794760"/>
            <a:ext cx="603504" cy="60350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read all over the place → many slow fetches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is why your Ch3 column kernel beats the row kernel.)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PAYOFF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is (mostly) matrix multiplies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103120" cy="2286000"/>
          </a:xfrm>
          <a:prstGeom prst="roundRect">
            <a:avLst>
              <a:gd name="adj" fmla="val 3043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468880"/>
            <a:ext cx="457200" cy="457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10896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→ numbers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370332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become vectors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24912" y="30175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880360" y="2194560"/>
            <a:ext cx="2103120" cy="2286000"/>
          </a:xfrm>
          <a:prstGeom prst="roundRect">
            <a:avLst>
              <a:gd name="adj" fmla="val 3043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468880"/>
            <a:ext cx="457200" cy="45720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81528" y="310896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Q, K, V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81528" y="370332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matrix multiplies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65192" y="30175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20640" y="2194560"/>
            <a:ext cx="2103120" cy="2286000"/>
          </a:xfrm>
          <a:prstGeom prst="roundRect">
            <a:avLst>
              <a:gd name="adj" fmla="val 3043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49240" y="2468880"/>
            <a:ext cx="457200" cy="45720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53492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21808" y="310896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21808" y="370332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Q·Kᵀ, then × V — matmuls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205472" y="30175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60920" y="2194560"/>
            <a:ext cx="2103120" cy="2286000"/>
          </a:xfrm>
          <a:prstGeom prst="roundRect">
            <a:avLst>
              <a:gd name="adj" fmla="val 3043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9520" y="2468880"/>
            <a:ext cx="457200" cy="45720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Text 22"/>
          <p:cNvSpPr/>
          <p:nvPr/>
        </p:nvSpPr>
        <p:spPr>
          <a:xfrm>
            <a:off x="75895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562088" y="310896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Feed-forward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62088" y="370332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matmuls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45752" y="30175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601200" y="2194560"/>
            <a:ext cx="2103120" cy="2286000"/>
          </a:xfrm>
          <a:prstGeom prst="roundRect">
            <a:avLst>
              <a:gd name="adj" fmla="val 3043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2468880"/>
            <a:ext cx="457200" cy="4572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0" name="Text 28"/>
          <p:cNvSpPr/>
          <p:nvPr/>
        </p:nvSpPr>
        <p:spPr>
          <a:xfrm>
            <a:off x="982980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802368" y="310896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word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02368" y="370332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matmul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49377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box above is the same one-thread-per-output-cell matmul you just met.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B3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THE NUMBERS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just use a CPU?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566160" cy="2743200"/>
          </a:xfrm>
          <a:prstGeom prst="roundRect">
            <a:avLst>
              <a:gd name="adj" fmla="val 2333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560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~2,560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7490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on a Colab T4 GPU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CPU has tens)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80560" y="2194560"/>
            <a:ext cx="3566160" cy="2743200"/>
          </a:xfrm>
          <a:prstGeom prst="roundRect">
            <a:avLst>
              <a:gd name="adj" fmla="val 2333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2560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~1–3 TB/s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663440" y="37490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memory bandwidth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(CPU: ~0.05–0.1 TB/s)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321040" y="2194560"/>
            <a:ext cx="3566160" cy="2743200"/>
          </a:xfrm>
          <a:prstGeom prst="roundRect">
            <a:avLst>
              <a:gd name="adj" fmla="val 2333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0" y="2560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billions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503920" y="37490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multiply-adds per word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generates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257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workers + memory fed fast enough to keep them busy. That combination is what a CPU can't match — and what LLMs need.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approximate and illustrative; exact numbers vary by chip.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PUTTING IT TOGETHER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reasons the GPU runs AI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881360" cy="1097280"/>
          </a:xfrm>
          <a:prstGeom prst="roundRect">
            <a:avLst>
              <a:gd name="adj" fmla="val 5833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02920" cy="50292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645920" y="23317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Massive parallelism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577840" y="233172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threads do independent matmul cells at once — exactly the blur pattern.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5833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675888"/>
            <a:ext cx="502920" cy="50292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0" name="Text 8"/>
          <p:cNvSpPr/>
          <p:nvPr/>
        </p:nvSpPr>
        <p:spPr>
          <a:xfrm>
            <a:off x="1645920" y="35661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Huge memory bandwidth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577840" y="356616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are enormous; the GPU streams them fast enough to keep all those cores fed.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617720"/>
            <a:ext cx="10881360" cy="1097280"/>
          </a:xfrm>
          <a:prstGeom prst="roundRect">
            <a:avLst>
              <a:gd name="adj" fmla="val 5833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910328"/>
            <a:ext cx="502920" cy="5029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4" name="Text 12"/>
          <p:cNvSpPr/>
          <p:nvPr/>
        </p:nvSpPr>
        <p:spPr>
          <a:xfrm>
            <a:off x="1645920" y="48006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 cores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577840" y="48006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GPUs have hardware built to do one thing: small matrix multiplies, insanely fast.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CIRCLE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wrote the pattern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" y="2468880"/>
            <a:ext cx="2286000" cy="1828800"/>
          </a:xfrm>
          <a:prstGeom prst="roundRect">
            <a:avLst>
              <a:gd name="adj" fmla="val 3500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3000" y="34290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thread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pixel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37560" y="30175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931920" y="2468880"/>
            <a:ext cx="2286000" cy="1828800"/>
          </a:xfrm>
          <a:prstGeom prst="roundRect">
            <a:avLst>
              <a:gd name="adj" fmla="val 3500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69080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Matmul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069080" y="34290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thread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cell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63640" y="30175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858000" y="2468880"/>
            <a:ext cx="2286000" cy="1828800"/>
          </a:xfrm>
          <a:prstGeom prst="roundRect">
            <a:avLst>
              <a:gd name="adj" fmla="val 3500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95160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995160" y="34290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thread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score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89720" y="30175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784080" y="2468880"/>
            <a:ext cx="2286000" cy="1828800"/>
          </a:xfrm>
          <a:prstGeom prst="roundRect">
            <a:avLst>
              <a:gd name="adj" fmla="val 3500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21240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B3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921240" y="34290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millions of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892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idea, four scales. Master the smallest one today and the biggest one stops being magic.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TURN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" name="Shape 2"/>
          <p:cNvSpPr/>
          <p:nvPr/>
        </p:nvSpPr>
        <p:spPr>
          <a:xfrm>
            <a:off x="768096" y="1170432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170432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" y="1170432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298448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298448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1298448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Shape 8"/>
          <p:cNvSpPr/>
          <p:nvPr/>
        </p:nvSpPr>
        <p:spPr>
          <a:xfrm>
            <a:off x="1024128" y="1298448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1426464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" name="Shape 10"/>
          <p:cNvSpPr/>
          <p:nvPr/>
        </p:nvSpPr>
        <p:spPr>
          <a:xfrm>
            <a:off x="768096" y="1426464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1"/>
          <p:cNvSpPr/>
          <p:nvPr/>
        </p:nvSpPr>
        <p:spPr>
          <a:xfrm>
            <a:off x="896112" y="1426464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4128" y="1426464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1554480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768096" y="1554480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1554480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4128" y="1554480"/>
            <a:ext cx="91440" cy="914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19202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AF0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fill in the blanks.</a:t>
            </a:r>
            <a:endParaRPr lang="en-US" sz="4600" dirty="0"/>
          </a:p>
        </p:txBody>
      </p:sp>
      <p:sp>
        <p:nvSpPr>
          <p:cNvPr id="20" name="Shape 18">
            <a:hlinkClick r:id="rId1" tooltip=""/>
          </p:cNvPr>
          <p:cNvSpPr/>
          <p:nvPr/>
        </p:nvSpPr>
        <p:spPr>
          <a:xfrm>
            <a:off x="7955280" y="1938528"/>
            <a:ext cx="3566160" cy="841248"/>
          </a:xfrm>
          <a:prstGeom prst="roundRect">
            <a:avLst>
              <a:gd name="adj" fmla="val 11957"/>
            </a:avLst>
          </a:prstGeom>
          <a:solidFill>
            <a:srgbClr val="F5B301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0" y="1938528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Open in Colab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5236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colab.research.google.com/github/daryl-888/Workshop2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" y="3200400"/>
            <a:ext cx="6583680" cy="2651760"/>
          </a:xfrm>
          <a:prstGeom prst="roundRect">
            <a:avLst>
              <a:gd name="adj" fmla="val 2069"/>
            </a:avLst>
          </a:prstGeom>
          <a:solidFill>
            <a:srgbClr val="060912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364992"/>
            <a:ext cx="6181344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 install, no downloads: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click  Open in Colab  (top right)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76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Runtime -&gt; T4 GPU, then run cells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8A9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(cell 1 grabs the repo for you)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fill the 9 TODO blanks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0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it compiles &amp; runs on the GPU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watch your image blur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06640" y="3200400"/>
            <a:ext cx="4114800" cy="2651760"/>
          </a:xfrm>
          <a:prstGeom prst="roundRect">
            <a:avLst>
              <a:gd name="adj" fmla="val 2414"/>
            </a:avLst>
          </a:prstGeom>
          <a:solidFill>
            <a:srgbClr val="151B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35240" y="342900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blanks.
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is a line you now understand: which pixel am I, where is it in memory, what's the average.
</a:t>
            </a:r>
            <a:endParaRPr lang="en-US" sz="2000" dirty="0"/>
          </a:p>
          <a:p>
            <a:pPr indent="0" marL="0">
              <a:buNone/>
            </a:pPr>
            <a:r>
              <a:rPr lang="en-US" sz="1400" i="1" dirty="0">
                <a:solidFill>
                  <a:srgbClr val="76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Stuck? Hints are in the README.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right-hand image blurs — you just ran your own code on the same kind of chip that runs AI.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2026-07-21T17:09:52Z</dcterms:created>
  <dcterms:modified xsi:type="dcterms:W3CDTF">2026-07-21T17:09:52Z</dcterms:modified>
</cp:coreProperties>
</file>