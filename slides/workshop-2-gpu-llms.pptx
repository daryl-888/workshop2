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time: you built a tool on a Linux machine.
Today is different - today your code runs on a completely different processor, and you'll see a photo change because of it.
Housekeeping: get Colab open and switch the runtime to T4 GPU NOW, before we start talking. The first GPU allocation is slow and I want it out of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promise for the hour. Don't oversell - be specific: the SHAPE of what they write today is the shape of what runs a model.
Don't explain how yet. That's the payoff at the end, and it lands much harder once they've written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here. This analogy carries the whole session.
The key move is 'identical and independent'. The stadium only wins when every person can start immediately without waiting for anyone else's answer. If sum #2 needs the result of sum #1, the stadium is useless and the mathematicians win.
Ask the room: which of these is 'add up these million numbers'? (Trick question - it's partly sequential. Don't dwell, just plant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quickly through the first three rows - they're just the analogy made concrete.
Stop hard on the last row. Separate memory is the thing that makes CUDA code look the way it does, and if they don't get it now, every cudaMemcpy in the build will look like pointless bureaucracy.
Next slide is entirely about that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useful mental picture in the session. Draw it in the air if you have to.
Emphasise: this isn't a rule someone invented, it's physical. They're different chips with different memory attached.
Foreshadow the race: 'hold onto the fact that those two arrows cost time. At the end we'll find out that they cost MORE time than the actual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reference slide. Genuinely leave it up while you code, or duplicate it and come back to it.
Point out that step 3 is the only one that's interesting, and it's the only one they'll write today. Steps 1, 2, 4, 5 are already typed in the notebook and never change between the two programs.
'Host' = CPU, 'device' = GPU. That's why it says HostToDevice. Say it once so the constant names stop looking cryptic.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before the build. They are about to type this exact line twice and I want it to be familiar, not magic.
Walk the diagram: green boxes are threads, small number is threadIdx, big number is what we compute. Note 0..11 with no gaps and no repeats - that's the whole requirement. Two threads with the same number would fight over one pixel; a missing number means a pixel nobody colours.
The cinema analogy works well: row number times seats per row, plus your seat.
Don't explain WHY blocks exist (shared memory, scheduling). Not today. If asked: 'the hardware hands work out in groups, and there are clever things you can do within a group - that's session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of the two lines they're about to type. Same treatment: make it familiar now so typing it isn't mysterious.
The 'times three' is worth a beat - beginners often forget the picture is bytes, not pixels.
Mention the row/col swap deliberately. When someone does it in the build (someone always does), the notebook says exactly that, and they'll remember hearing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then make them say it. It is the thread that ties the pixel work to the LLM payoff at the end.
Three uses: one thread per PIXEL (today's build), one thread per NUMBER in a matrix multiply, and that's what a language model is made of.
Short slide. Don't linger - go and build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them the destination before they start typing. It matters - people type with more confidence when they know what it's for.
The third image is a CROP, say so, otherwise the blur looks weak. At full size a 7-pixel blur on a 1920-wide photo is genuinely hard to see on a projector.
Set the expectation for the build: 'the second program will feel almost free, because we only change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minutes.
Type in this order, saying why:
  col  -&gt; 'which column do I own'
  row  -&gt; 'same again, downwards'
  if   -&gt; 'we asked for more threads than pixels; leftovers sit still'
  i    -&gt; 'the flat address, from the slide'
  the weighted sum -&gt; 'and THIS is the only line that's about grey'
When you run it, point at the line printing 2,457,600 threads. That number is the moment the room gets it.
Then show the picture. Let them enjoy it.
Do NOT stop for individual typos. Point at the lifebelt cell and keep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minutes.
Open by scrolling to the bottom of the cell and saying 'look - nothing down here changed. Same five steps, same launch.' That's the lesson, not an aside.
The two for-loops are the only genuinely new thing. Say 'radius three means a seven by seven square'.
Dwell on dividing by n rather than 49 - it's the one real gotcha, and if someone gets it wrong the check literally says 'the middle is right but the edges are dark'.
After it runs: point at the BOTTOM row of the figure, the zoomed crop.
Then: everyone change BLUR_SIZE to 15 and re-run. Twenty times the work, still instant. That lands harder than anything you can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Just run it.
Get them to read the two speedup numbers out loud before you explain.
Then make the point: the blur itself is hundreds of times faster, but counting the copying it's far less - because most of the GPU's time went on moving bytes, not computing.
That's the two-memories slide coming back to bite. And it's the answer to 'why does everyone care whether a model FITS on the GPU' - the weights get loaded on once and left there.
Numbers vary by machine. On a T4 expect the CPU around 1-3 seconds and the kernel in single-digit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two side by side and let them look for a few seconds before you say anything. The recognition is the point.
This is use #2 of 'one thread per output element'.
Don't teach matrix multiplication properly. All they need: each output number is a sum of products, and every output number can be worked out independently of the others. That's the only property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#3 of the one idea, and the moment the title of the series pays off.
Keep it honest and vague where you should be: you are NOT teaching transformers. The claim is only that the expensive parts are matrix multiplies, and matrix multiplies are what they just learned to think about.
'Which words matter to each other' = attention, without the jargon. Use the word if the room can take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last cell of the notebook while this is up - it prints these numbers from their own run, which is far better than reading mine.
Be honest about the comparison: the blur adds whole numbers, a model multiplies decimals. It's for scale, not a benchmark. The notebook says so too. Say it out loud - a room that catches you overclaiming stops believing the rest.
The useful takeaway is the ratio, not the seconds: one word is about a thousand times the work you just watched happen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argument. Slow down and let it land.
Callback to the stadium is deliberate - it closes the loop opened in the first five minutes.
Last line matters: they didn't take your word for it, they measured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list out. People genuinely underestimate what they just did, and hearing it back is the difference between 'I followed a tutorial' and 'I wrote GPU code'.
Point at extras for the one or two who want more. Don't sell it hard.
Then: questions. Common ones - 'do I need an NVIDIA GPU?' (for CUDA yes; there are other frameworks), 'is this what PyTorch does?' (yes, underneath - it calls kernels like these, mostly written by NVIDIA).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2286000"/>
            <a:ext cx="10058400" cy="1097280"/>
          </a:xfrm>
          <a:prstGeom prst="rect">
            <a:avLst/>
          </a:prstGeom>
          <a:noFill/>
          <a:ln/>
        </p:spPr>
        <p:txBody>
          <a:bodyPr wrap="square" lIns="0" tIns="0" rIns="0" bIns="0" rtlCol="0" anchor="ctr"/>
          <a:lstStyle/>
          <a:p>
            <a:pPr indent="0" marL="0">
              <a:buNone/>
            </a:pPr>
            <a:r>
              <a:rPr lang="en-US" sz="5400" b="1" dirty="0">
                <a:solidFill>
                  <a:srgbClr val="F5F7FA"/>
                </a:solidFill>
                <a:latin typeface="Arial" pitchFamily="34" charset="0"/>
                <a:ea typeface="Arial" pitchFamily="34" charset="-122"/>
                <a:cs typeface="Arial" pitchFamily="34" charset="-120"/>
              </a:rPr>
              <a:t>Run Your Code on a GPU</a:t>
            </a:r>
            <a:endParaRPr lang="en-US" sz="5400" dirty="0"/>
          </a:p>
        </p:txBody>
      </p:sp>
      <p:sp>
        <p:nvSpPr>
          <p:cNvPr id="3" name="Text 1"/>
          <p:cNvSpPr txBox="1"/>
          <p:nvPr/>
        </p:nvSpPr>
        <p:spPr>
          <a:xfrm>
            <a:off x="640080" y="1783080"/>
            <a:ext cx="10058400" cy="365760"/>
          </a:xfrm>
          <a:prstGeom prst="rect">
            <a:avLst/>
          </a:prstGeom>
          <a:noFill/>
          <a:ln/>
        </p:spPr>
        <p:txBody>
          <a:bodyPr wrap="square" lIns="0" tIns="0" rIns="0" bIns="0" rtlCol="0" anchor="ctr"/>
          <a:lstStyle/>
          <a:p>
            <a:pPr indent="0" marL="0">
              <a:buNone/>
            </a:pPr>
            <a:r>
              <a:rPr lang="en-US" sz="1400" b="1" spc="300" kern="0" dirty="0">
                <a:solidFill>
                  <a:srgbClr val="3DDC84"/>
                </a:solidFill>
                <a:latin typeface="Arial" pitchFamily="34" charset="0"/>
                <a:ea typeface="Arial" pitchFamily="34" charset="-122"/>
                <a:cs typeface="Arial" pitchFamily="34" charset="-120"/>
              </a:rPr>
              <a:t>From Zero to GPU  ·  Session 2</a:t>
            </a:r>
            <a:endParaRPr lang="en-US" sz="1400" dirty="0"/>
          </a:p>
        </p:txBody>
      </p:sp>
      <p:sp>
        <p:nvSpPr>
          <p:cNvPr id="4" name="Text 2"/>
          <p:cNvSpPr txBox="1"/>
          <p:nvPr/>
        </p:nvSpPr>
        <p:spPr>
          <a:xfrm>
            <a:off x="640080" y="3520440"/>
            <a:ext cx="8686800" cy="914400"/>
          </a:xfrm>
          <a:prstGeom prst="rect">
            <a:avLst/>
          </a:prstGeom>
          <a:noFill/>
          <a:ln/>
        </p:spPr>
        <p:txBody>
          <a:bodyPr wrap="square" lIns="0" tIns="0" rIns="0" bIns="0" rtlCol="0" anchor="ctr"/>
          <a:lstStyle/>
          <a:p>
            <a:pPr indent="0" marL="0">
              <a:lnSpc>
                <a:spcPct val="130000"/>
              </a:lnSpc>
              <a:buNone/>
            </a:pPr>
            <a:r>
              <a:rPr lang="en-US" sz="1900" dirty="0">
                <a:solidFill>
                  <a:srgbClr val="97A6B5"/>
                </a:solidFill>
                <a:latin typeface="Calibri" pitchFamily="34" charset="0"/>
                <a:ea typeface="Calibri" pitchFamily="34" charset="-122"/>
                <a:cs typeface="Calibri" pitchFamily="34" charset="-120"/>
              </a:rPr>
              <a:t>In one hour you will write a program that changes a photo</a:t>
            </a:r>
            <a:endParaRPr lang="en-US" sz="1900" dirty="0"/>
          </a:p>
          <a:p>
            <a:pPr indent="0" marL="0">
              <a:lnSpc>
                <a:spcPct val="130000"/>
              </a:lnSpc>
              <a:buNone/>
            </a:pPr>
            <a:r>
              <a:rPr lang="en-US" sz="1900" dirty="0">
                <a:solidFill>
                  <a:srgbClr val="97A6B5"/>
                </a:solidFill>
                <a:latin typeface="Calibri" pitchFamily="34" charset="0"/>
                <a:ea typeface="Calibri" pitchFamily="34" charset="-122"/>
                <a:cs typeface="Calibri" pitchFamily="34" charset="-120"/>
              </a:rPr>
              <a:t>using 2,457,600 threads at the same time.</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1005840"/>
            <a:ext cx="10911535" cy="822960"/>
          </a:xfrm>
          <a:prstGeom prst="rect">
            <a:avLst/>
          </a:prstGeom>
          <a:noFill/>
          <a:ln/>
        </p:spPr>
        <p:txBody>
          <a:bodyPr wrap="square" lIns="0" tIns="0" rIns="0" bIns="0" rtlCol="0" anchor="ctr"/>
          <a:lstStyle/>
          <a:p>
            <a:pPr algn="l" indent="0" marL="0">
              <a:buNone/>
            </a:pPr>
            <a:r>
              <a:rPr lang="en-US" sz="3400" b="1" dirty="0">
                <a:solidFill>
                  <a:srgbClr val="F5F7FA"/>
                </a:solidFill>
                <a:latin typeface="Arial" pitchFamily="34" charset="0"/>
                <a:ea typeface="Arial" pitchFamily="34" charset="-122"/>
                <a:cs typeface="Arial" pitchFamily="34" charset="-120"/>
              </a:rPr>
              <a:t>Why does everyone want these chips?</a:t>
            </a:r>
            <a:endParaRPr lang="en-US" sz="3400" dirty="0"/>
          </a:p>
        </p:txBody>
      </p:sp>
      <p:sp>
        <p:nvSpPr>
          <p:cNvPr id="3" name="Text 1"/>
          <p:cNvSpPr txBox="1"/>
          <p:nvPr/>
        </p:nvSpPr>
        <p:spPr>
          <a:xfrm>
            <a:off x="640080" y="2103120"/>
            <a:ext cx="10515600" cy="1463040"/>
          </a:xfrm>
          <a:prstGeom prst="rect">
            <a:avLst/>
          </a:prstGeom>
          <a:noFill/>
          <a:ln/>
        </p:spPr>
        <p:txBody>
          <a:bodyPr wrap="square" lIns="0" tIns="0" rIns="0" bIns="0" rtlCol="0" anchor="ctr"/>
          <a:lstStyle/>
          <a:p>
            <a:pPr indent="0" marL="0">
              <a:lnSpc>
                <a:spcPct val="120000"/>
              </a:lnSpc>
              <a:buNone/>
            </a:pPr>
            <a:r>
              <a:rPr lang="en-US" sz="3200" b="1" dirty="0">
                <a:solidFill>
                  <a:srgbClr val="3DDC84"/>
                </a:solidFill>
                <a:latin typeface="Arial" pitchFamily="34" charset="0"/>
                <a:ea typeface="Arial" pitchFamily="34" charset="-122"/>
                <a:cs typeface="Arial" pitchFamily="34" charset="-120"/>
              </a:rPr>
              <a:t>Every answer ChatGPT gives you is</a:t>
            </a:r>
            <a:endParaRPr lang="en-US" sz="3200" dirty="0"/>
          </a:p>
          <a:p>
            <a:pPr indent="0" marL="0">
              <a:lnSpc>
                <a:spcPct val="120000"/>
              </a:lnSpc>
              <a:buNone/>
            </a:pPr>
            <a:r>
              <a:rPr lang="en-US" sz="3200" b="1" dirty="0">
                <a:solidFill>
                  <a:srgbClr val="3DDC84"/>
                </a:solidFill>
                <a:latin typeface="Arial" pitchFamily="34" charset="0"/>
                <a:ea typeface="Arial" pitchFamily="34" charset="-122"/>
                <a:cs typeface="Arial" pitchFamily="34" charset="-120"/>
              </a:rPr>
              <a:t>thousands of GPU cores doing simple sums.</a:t>
            </a:r>
            <a:endParaRPr lang="en-US" sz="3200" dirty="0"/>
          </a:p>
        </p:txBody>
      </p:sp>
      <p:sp>
        <p:nvSpPr>
          <p:cNvPr id="4" name="Text 2"/>
          <p:cNvSpPr txBox="1"/>
          <p:nvPr/>
        </p:nvSpPr>
        <p:spPr>
          <a:xfrm>
            <a:off x="640080" y="3886200"/>
            <a:ext cx="9601200" cy="1188720"/>
          </a:xfrm>
          <a:prstGeom prst="rect">
            <a:avLst/>
          </a:prstGeom>
          <a:noFill/>
          <a:ln/>
        </p:spPr>
        <p:txBody>
          <a:bodyPr wrap="square" lIns="0" tIns="0" rIns="0" bIns="0" rtlCol="0" anchor="ctr"/>
          <a:lstStyle/>
          <a:p>
            <a:pPr indent="0" marL="0">
              <a:lnSpc>
                <a:spcPct val="130000"/>
              </a:lnSpc>
              <a:buNone/>
            </a:pPr>
            <a:r>
              <a:rPr lang="en-US" sz="1700" dirty="0">
                <a:solidFill>
                  <a:srgbClr val="97A6B5"/>
                </a:solidFill>
                <a:latin typeface="Calibri" pitchFamily="34" charset="0"/>
                <a:ea typeface="Calibri" pitchFamily="34" charset="-122"/>
                <a:cs typeface="Calibri" pitchFamily="34" charset="-120"/>
              </a:rPr>
              <a:t>By the end of the hour you'll have written that same kind of code — the same shape, on a much smaller problem — and you'll know exactly why it has to be a GPU and not the processor you normally use.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algn="l" indent="0" marL="0">
              <a:buNone/>
            </a:pPr>
            <a:r>
              <a:rPr lang="en-US" sz="3400" b="1" dirty="0">
                <a:solidFill>
                  <a:srgbClr val="12161C"/>
                </a:solidFill>
                <a:latin typeface="Arial" pitchFamily="34" charset="0"/>
                <a:ea typeface="Arial" pitchFamily="34" charset="-122"/>
                <a:cs typeface="Arial" pitchFamily="34" charset="-120"/>
              </a:rPr>
              <a:t>A CPU and a GPU are good at opposite things</a:t>
            </a:r>
            <a:endParaRPr lang="en-US" sz="3400" dirty="0"/>
          </a:p>
        </p:txBody>
      </p:sp>
      <p:sp>
        <p:nvSpPr>
          <p:cNvPr id="3" name="Shape 1"/>
          <p:cNvSpPr/>
          <p:nvPr/>
        </p:nvSpPr>
        <p:spPr>
          <a:xfrm>
            <a:off x="640080" y="1417320"/>
            <a:ext cx="5257800" cy="3931920"/>
          </a:xfrm>
          <a:prstGeom prst="roundRect">
            <a:avLst>
              <a:gd name="adj" fmla="val 2093"/>
            </a:avLst>
          </a:prstGeom>
          <a:solidFill>
            <a:srgbClr val="FFFFFF"/>
          </a:solidFill>
          <a:ln w="12700">
            <a:solidFill>
              <a:srgbClr val="DCE3EB"/>
            </a:solidFill>
            <a:prstDash val="solid"/>
          </a:ln>
        </p:spPr>
      </p:sp>
      <p:sp>
        <p:nvSpPr>
          <p:cNvPr id="4" name="Shape 2"/>
          <p:cNvSpPr/>
          <p:nvPr/>
        </p:nvSpPr>
        <p:spPr>
          <a:xfrm>
            <a:off x="1051560" y="1783080"/>
            <a:ext cx="566928" cy="566928"/>
          </a:xfrm>
          <a:prstGeom prst="ellipse">
            <a:avLst/>
          </a:prstGeom>
          <a:solidFill>
            <a:srgbClr val="E8A33D"/>
          </a:solidFill>
          <a:ln w="12700">
            <a:solidFill>
              <a:srgbClr val="E8A33D"/>
            </a:solidFill>
            <a:prstDash val="solid"/>
          </a:ln>
        </p:spPr>
      </p:sp>
      <p:sp>
        <p:nvSpPr>
          <p:cNvPr id="5" name="Text 3"/>
          <p:cNvSpPr txBox="1"/>
          <p:nvPr/>
        </p:nvSpPr>
        <p:spPr>
          <a:xfrm>
            <a:off x="1051560" y="1783080"/>
            <a:ext cx="566928" cy="566928"/>
          </a:xfrm>
          <a:prstGeom prst="rect">
            <a:avLst/>
          </a:prstGeom>
          <a:noFill/>
          <a:ln/>
        </p:spPr>
        <p:txBody>
          <a:bodyPr wrap="square" lIns="0" tIns="0" rIns="0" bIns="0" rtlCol="0" anchor="ctr"/>
          <a:lstStyle/>
          <a:p>
            <a:pPr algn="ctr" indent="0" marL="0">
              <a:buNone/>
            </a:pPr>
            <a:r>
              <a:rPr lang="en-US" sz="1100" b="1" dirty="0">
                <a:solidFill>
                  <a:srgbClr val="12161C"/>
                </a:solidFill>
                <a:latin typeface="Arial" pitchFamily="34" charset="0"/>
                <a:ea typeface="Arial" pitchFamily="34" charset="-122"/>
                <a:cs typeface="Arial" pitchFamily="34" charset="-120"/>
              </a:rPr>
              <a:t>CPU</a:t>
            </a:r>
            <a:endParaRPr lang="en-US" sz="1100" dirty="0"/>
          </a:p>
        </p:txBody>
      </p:sp>
      <p:sp>
        <p:nvSpPr>
          <p:cNvPr id="6" name="Text 4"/>
          <p:cNvSpPr txBox="1"/>
          <p:nvPr/>
        </p:nvSpPr>
        <p:spPr>
          <a:xfrm>
            <a:off x="1051560" y="2560320"/>
            <a:ext cx="4480560" cy="457200"/>
          </a:xfrm>
          <a:prstGeom prst="rect">
            <a:avLst/>
          </a:prstGeom>
          <a:noFill/>
          <a:ln/>
        </p:spPr>
        <p:txBody>
          <a:bodyPr wrap="square" lIns="0" tIns="0" rIns="0" bIns="0" rtlCol="0" anchor="ctr"/>
          <a:lstStyle/>
          <a:p>
            <a:pPr indent="0" marL="0">
              <a:buNone/>
            </a:pPr>
            <a:r>
              <a:rPr lang="en-US" sz="2000" b="1" dirty="0">
                <a:solidFill>
                  <a:srgbClr val="12161C"/>
                </a:solidFill>
                <a:latin typeface="Arial" pitchFamily="34" charset="0"/>
                <a:ea typeface="Arial" pitchFamily="34" charset="-122"/>
                <a:cs typeface="Arial" pitchFamily="34" charset="-120"/>
              </a:rPr>
              <a:t>Four brilliant mathematicians</a:t>
            </a:r>
            <a:endParaRPr lang="en-US" sz="2000" dirty="0"/>
          </a:p>
        </p:txBody>
      </p:sp>
      <p:sp>
        <p:nvSpPr>
          <p:cNvPr id="7" name="Text 5"/>
          <p:cNvSpPr txBox="1"/>
          <p:nvPr/>
        </p:nvSpPr>
        <p:spPr>
          <a:xfrm>
            <a:off x="1051560" y="3063240"/>
            <a:ext cx="4480560" cy="2011680"/>
          </a:xfrm>
          <a:prstGeom prst="rect">
            <a:avLst/>
          </a:prstGeom>
          <a:noFill/>
          <a:ln/>
        </p:spPr>
        <p:txBody>
          <a:bodyPr wrap="square" lIns="0" tIns="0" rIns="0" bIns="0" rtlCol="0" anchor="ctr"/>
          <a:lstStyle/>
          <a:p>
            <a:pPr algn="l" indent="0" marL="0">
              <a:lnSpc>
                <a:spcPct val="115000"/>
              </a:lnSpc>
              <a:buNone/>
            </a:pPr>
            <a:r>
              <a:rPr lang="en-US" sz="1500" dirty="0">
                <a:solidFill>
                  <a:srgbClr val="5C6B7A"/>
                </a:solidFill>
                <a:latin typeface="Calibri" pitchFamily="34" charset="0"/>
                <a:ea typeface="Calibri" pitchFamily="34" charset="-122"/>
                <a:cs typeface="Calibri" pitchFamily="34" charset="-120"/>
              </a:rPr>
              <a:t>Give them anything — a hard problem, a weird problem, a problem that changes halfway through — and they'll work it out, fast, one step after another.</a:t>
            </a:r>
            <a:endParaRPr lang="en-US" sz="1500" dirty="0"/>
          </a:p>
          <a:p>
            <a:pPr algn="l" indent="0" marL="0">
              <a:lnSpc>
                <a:spcPct val="115000"/>
              </a:lnSpc>
              <a:buNone/>
            </a:pPr>
            <a:endParaRPr lang="en-US" sz="1500" dirty="0"/>
          </a:p>
          <a:p>
            <a:pPr algn="l" indent="0" marL="0">
              <a:lnSpc>
                <a:spcPct val="115000"/>
              </a:lnSpc>
              <a:buNone/>
            </a:pPr>
            <a:r>
              <a:rPr lang="en-US" sz="1500" dirty="0">
                <a:solidFill>
                  <a:srgbClr val="5C6B7A"/>
                </a:solidFill>
                <a:latin typeface="Calibri" pitchFamily="34" charset="0"/>
                <a:ea typeface="Calibri" pitchFamily="34" charset="-122"/>
                <a:cs typeface="Calibri" pitchFamily="34" charset="-120"/>
              </a:rPr>
              <a:t>Ask them to do a million tiny sums and they'll be there all afternoon.</a:t>
            </a:r>
            <a:endParaRPr lang="en-US" sz="1500" dirty="0"/>
          </a:p>
        </p:txBody>
      </p:sp>
      <p:sp>
        <p:nvSpPr>
          <p:cNvPr id="8" name="Shape 6"/>
          <p:cNvSpPr/>
          <p:nvPr/>
        </p:nvSpPr>
        <p:spPr>
          <a:xfrm>
            <a:off x="6446520" y="1417320"/>
            <a:ext cx="5120640" cy="3931920"/>
          </a:xfrm>
          <a:prstGeom prst="roundRect">
            <a:avLst>
              <a:gd name="adj" fmla="val 2093"/>
            </a:avLst>
          </a:prstGeom>
          <a:solidFill>
            <a:srgbClr val="FFFFFF"/>
          </a:solidFill>
          <a:ln w="12700">
            <a:solidFill>
              <a:srgbClr val="DCE3EB"/>
            </a:solidFill>
            <a:prstDash val="solid"/>
          </a:ln>
        </p:spPr>
      </p:sp>
      <p:sp>
        <p:nvSpPr>
          <p:cNvPr id="9" name="Shape 7"/>
          <p:cNvSpPr/>
          <p:nvPr/>
        </p:nvSpPr>
        <p:spPr>
          <a:xfrm>
            <a:off x="6858000" y="1783080"/>
            <a:ext cx="566928" cy="566928"/>
          </a:xfrm>
          <a:prstGeom prst="ellipse">
            <a:avLst/>
          </a:prstGeom>
          <a:solidFill>
            <a:srgbClr val="3DDC84"/>
          </a:solidFill>
          <a:ln w="12700">
            <a:solidFill>
              <a:srgbClr val="3DDC84"/>
            </a:solidFill>
            <a:prstDash val="solid"/>
          </a:ln>
        </p:spPr>
      </p:sp>
      <p:sp>
        <p:nvSpPr>
          <p:cNvPr id="10" name="Text 8"/>
          <p:cNvSpPr txBox="1"/>
          <p:nvPr/>
        </p:nvSpPr>
        <p:spPr>
          <a:xfrm>
            <a:off x="6858000" y="1783080"/>
            <a:ext cx="566928" cy="566928"/>
          </a:xfrm>
          <a:prstGeom prst="rect">
            <a:avLst/>
          </a:prstGeom>
          <a:noFill/>
          <a:ln/>
        </p:spPr>
        <p:txBody>
          <a:bodyPr wrap="square" lIns="0" tIns="0" rIns="0" bIns="0" rtlCol="0" anchor="ctr"/>
          <a:lstStyle/>
          <a:p>
            <a:pPr algn="ctr" indent="0" marL="0">
              <a:buNone/>
            </a:pPr>
            <a:r>
              <a:rPr lang="en-US" sz="1100" b="1" dirty="0">
                <a:solidFill>
                  <a:srgbClr val="12161C"/>
                </a:solidFill>
                <a:latin typeface="Arial" pitchFamily="34" charset="0"/>
                <a:ea typeface="Arial" pitchFamily="34" charset="-122"/>
                <a:cs typeface="Arial" pitchFamily="34" charset="-120"/>
              </a:rPr>
              <a:t>GPU</a:t>
            </a:r>
            <a:endParaRPr lang="en-US" sz="1100" dirty="0"/>
          </a:p>
        </p:txBody>
      </p:sp>
      <p:sp>
        <p:nvSpPr>
          <p:cNvPr id="11" name="Text 9"/>
          <p:cNvSpPr txBox="1"/>
          <p:nvPr/>
        </p:nvSpPr>
        <p:spPr>
          <a:xfrm>
            <a:off x="6858000" y="2560320"/>
            <a:ext cx="4297680" cy="457200"/>
          </a:xfrm>
          <a:prstGeom prst="rect">
            <a:avLst/>
          </a:prstGeom>
          <a:noFill/>
          <a:ln/>
        </p:spPr>
        <p:txBody>
          <a:bodyPr wrap="square" lIns="0" tIns="0" rIns="0" bIns="0" rtlCol="0" anchor="ctr"/>
          <a:lstStyle/>
          <a:p>
            <a:pPr indent="0" marL="0">
              <a:buNone/>
            </a:pPr>
            <a:r>
              <a:rPr lang="en-US" sz="2000" b="1" dirty="0">
                <a:solidFill>
                  <a:srgbClr val="12161C"/>
                </a:solidFill>
                <a:latin typeface="Arial" pitchFamily="34" charset="0"/>
                <a:ea typeface="Arial" pitchFamily="34" charset="-122"/>
                <a:cs typeface="Arial" pitchFamily="34" charset="-120"/>
              </a:rPr>
              <a:t>A stadium of students</a:t>
            </a:r>
            <a:endParaRPr lang="en-US" sz="2000" dirty="0"/>
          </a:p>
        </p:txBody>
      </p:sp>
      <p:sp>
        <p:nvSpPr>
          <p:cNvPr id="12" name="Text 10"/>
          <p:cNvSpPr txBox="1"/>
          <p:nvPr/>
        </p:nvSpPr>
        <p:spPr>
          <a:xfrm>
            <a:off x="6858000" y="3063240"/>
            <a:ext cx="4297680" cy="2011680"/>
          </a:xfrm>
          <a:prstGeom prst="rect">
            <a:avLst/>
          </a:prstGeom>
          <a:noFill/>
          <a:ln/>
        </p:spPr>
        <p:txBody>
          <a:bodyPr wrap="square" lIns="0" tIns="0" rIns="0" bIns="0" rtlCol="0" anchor="ctr"/>
          <a:lstStyle/>
          <a:p>
            <a:pPr algn="l" indent="0" marL="0">
              <a:lnSpc>
                <a:spcPct val="115000"/>
              </a:lnSpc>
              <a:buNone/>
            </a:pPr>
            <a:r>
              <a:rPr lang="en-US" sz="1500" dirty="0">
                <a:solidFill>
                  <a:srgbClr val="5C6B7A"/>
                </a:solidFill>
                <a:latin typeface="Calibri" pitchFamily="34" charset="0"/>
                <a:ea typeface="Calibri" pitchFamily="34" charset="-122"/>
                <a:cs typeface="Calibri" pitchFamily="34" charset="-120"/>
              </a:rPr>
              <a:t>Each one can do exactly one small sum, and not quickly.</a:t>
            </a:r>
            <a:endParaRPr lang="en-US" sz="1500" dirty="0"/>
          </a:p>
          <a:p>
            <a:pPr algn="l" indent="0" marL="0">
              <a:lnSpc>
                <a:spcPct val="115000"/>
              </a:lnSpc>
              <a:buNone/>
            </a:pPr>
            <a:endParaRPr lang="en-US" sz="1500" dirty="0"/>
          </a:p>
          <a:p>
            <a:pPr algn="l" indent="0" marL="0">
              <a:lnSpc>
                <a:spcPct val="115000"/>
              </a:lnSpc>
              <a:buNone/>
            </a:pPr>
            <a:r>
              <a:rPr lang="en-US" sz="1500" dirty="0">
                <a:solidFill>
                  <a:srgbClr val="5C6B7A"/>
                </a:solidFill>
                <a:latin typeface="Calibri" pitchFamily="34" charset="0"/>
                <a:ea typeface="Calibri" pitchFamily="34" charset="-122"/>
                <a:cs typeface="Calibri" pitchFamily="34" charset="-120"/>
              </a:rPr>
              <a:t>But there are thousands of them, and if you can hand every single person their own sum at the same moment, they finish together — in the time it takes to do one.</a:t>
            </a:r>
            <a:endParaRPr lang="en-US" sz="1500" dirty="0"/>
          </a:p>
        </p:txBody>
      </p:sp>
      <p:sp>
        <p:nvSpPr>
          <p:cNvPr id="13" name="Text 11"/>
          <p:cNvSpPr txBox="1"/>
          <p:nvPr/>
        </p:nvSpPr>
        <p:spPr>
          <a:xfrm>
            <a:off x="640080" y="5623560"/>
            <a:ext cx="10911535" cy="457200"/>
          </a:xfrm>
          <a:prstGeom prst="rect">
            <a:avLst/>
          </a:prstGeom>
          <a:noFill/>
          <a:ln/>
        </p:spPr>
        <p:txBody>
          <a:bodyPr wrap="square" lIns="0" tIns="0" rIns="0" bIns="0" rtlCol="0" anchor="ctr"/>
          <a:lstStyle/>
          <a:p>
            <a:pPr algn="l" indent="0" marL="0">
              <a:lnSpc>
                <a:spcPct val="115000"/>
              </a:lnSpc>
              <a:buNone/>
            </a:pPr>
            <a:r>
              <a:rPr lang="en-US" sz="1600" b="1" dirty="0">
                <a:solidFill>
                  <a:srgbClr val="12161C"/>
                </a:solidFill>
                <a:latin typeface="Calibri" pitchFamily="34" charset="0"/>
                <a:ea typeface="Calibri" pitchFamily="34" charset="-122"/>
                <a:cs typeface="Calibri" pitchFamily="34" charset="-120"/>
              </a:rPr>
              <a:t>Today's job — “make every pixel in this photo grey” — is two and a half million tiny identical sums.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algn="l" indent="0" marL="0">
              <a:buNone/>
            </a:pPr>
            <a:r>
              <a:rPr lang="en-US" sz="3400" b="1" dirty="0">
                <a:solidFill>
                  <a:srgbClr val="12161C"/>
                </a:solidFill>
                <a:latin typeface="Arial" pitchFamily="34" charset="0"/>
                <a:ea typeface="Arial" pitchFamily="34" charset="-122"/>
                <a:cs typeface="Arial" pitchFamily="34" charset="-120"/>
              </a:rPr>
              <a:t>The same trade, in numbers</a:t>
            </a:r>
            <a:endParaRPr lang="en-US" sz="3400" dirty="0"/>
          </a:p>
        </p:txBody>
      </p:sp>
      <p:sp>
        <p:nvSpPr>
          <p:cNvPr id="3" name="Text 1"/>
          <p:cNvSpPr txBox="1"/>
          <p:nvPr/>
        </p:nvSpPr>
        <p:spPr>
          <a:xfrm>
            <a:off x="640080" y="1371600"/>
            <a:ext cx="91440" cy="91440"/>
          </a:xfrm>
          <a:prstGeom prst="rect">
            <a:avLst/>
          </a:prstGeom>
          <a:noFill/>
          <a:ln/>
        </p:spPr>
        <p:txBody>
          <a:bodyPr wrap="square" rtlCol="0" anchor="ctr"/>
          <a:lstStyle/>
          <a:p>
            <a:pPr indent="0" marL="0">
              <a:buNone/>
            </a:pPr>
            <a:endParaRPr lang="en-US" dirty="0"/>
          </a:p>
        </p:txBody>
      </p:sp>
      <p:sp>
        <p:nvSpPr>
          <p:cNvPr id="4" name="Text 2"/>
          <p:cNvSpPr txBox="1"/>
          <p:nvPr/>
        </p:nvSpPr>
        <p:spPr>
          <a:xfrm>
            <a:off x="5029200" y="1143000"/>
            <a:ext cx="3108960" cy="365760"/>
          </a:xfrm>
          <a:prstGeom prst="rect">
            <a:avLst/>
          </a:prstGeom>
          <a:noFill/>
          <a:ln/>
        </p:spPr>
        <p:txBody>
          <a:bodyPr wrap="square" lIns="0" tIns="0" rIns="0" bIns="0" rtlCol="0" anchor="ctr"/>
          <a:lstStyle/>
          <a:p>
            <a:pPr algn="ctr" indent="0" marL="0">
              <a:buNone/>
            </a:pPr>
            <a:r>
              <a:rPr lang="en-US" sz="1500" b="1" dirty="0">
                <a:solidFill>
                  <a:srgbClr val="E8A33D"/>
                </a:solidFill>
                <a:latin typeface="Arial" pitchFamily="34" charset="0"/>
                <a:ea typeface="Arial" pitchFamily="34" charset="-122"/>
                <a:cs typeface="Arial" pitchFamily="34" charset="-120"/>
              </a:rPr>
              <a:t>CPU</a:t>
            </a:r>
            <a:endParaRPr lang="en-US" sz="1500" dirty="0"/>
          </a:p>
        </p:txBody>
      </p:sp>
      <p:sp>
        <p:nvSpPr>
          <p:cNvPr id="5" name="Text 3"/>
          <p:cNvSpPr txBox="1"/>
          <p:nvPr/>
        </p:nvSpPr>
        <p:spPr>
          <a:xfrm>
            <a:off x="8321040" y="1143000"/>
            <a:ext cx="3200400" cy="365760"/>
          </a:xfrm>
          <a:prstGeom prst="rect">
            <a:avLst/>
          </a:prstGeom>
          <a:noFill/>
          <a:ln/>
        </p:spPr>
        <p:txBody>
          <a:bodyPr wrap="square" lIns="0" tIns="0" rIns="0" bIns="0" rtlCol="0" anchor="ctr"/>
          <a:lstStyle/>
          <a:p>
            <a:pPr algn="ctr" indent="0" marL="0">
              <a:buNone/>
            </a:pPr>
            <a:r>
              <a:rPr lang="en-US" sz="1500" b="1" dirty="0">
                <a:solidFill>
                  <a:srgbClr val="3DDC84"/>
                </a:solidFill>
                <a:latin typeface="Arial" pitchFamily="34" charset="0"/>
                <a:ea typeface="Arial" pitchFamily="34" charset="-122"/>
                <a:cs typeface="Arial" pitchFamily="34" charset="-120"/>
              </a:rPr>
              <a:t>GPU</a:t>
            </a:r>
            <a:endParaRPr lang="en-US" sz="1500" dirty="0"/>
          </a:p>
        </p:txBody>
      </p:sp>
      <p:sp>
        <p:nvSpPr>
          <p:cNvPr id="6" name="Shape 4"/>
          <p:cNvSpPr/>
          <p:nvPr/>
        </p:nvSpPr>
        <p:spPr>
          <a:xfrm>
            <a:off x="640080" y="1545336"/>
            <a:ext cx="10911535" cy="731520"/>
          </a:xfrm>
          <a:prstGeom prst="rect">
            <a:avLst/>
          </a:prstGeom>
          <a:solidFill>
            <a:srgbClr val="ECF0F5"/>
          </a:solidFill>
          <a:ln w="12700">
            <a:solidFill>
              <a:srgbClr val="ECF0F5"/>
            </a:solidFill>
            <a:prstDash val="solid"/>
          </a:ln>
        </p:spPr>
      </p:sp>
      <p:sp>
        <p:nvSpPr>
          <p:cNvPr id="7" name="Text 5"/>
          <p:cNvSpPr txBox="1"/>
          <p:nvPr/>
        </p:nvSpPr>
        <p:spPr>
          <a:xfrm>
            <a:off x="822960" y="1600200"/>
            <a:ext cx="4023360" cy="603504"/>
          </a:xfrm>
          <a:prstGeom prst="rect">
            <a:avLst/>
          </a:prstGeom>
          <a:noFill/>
          <a:ln/>
        </p:spPr>
        <p:txBody>
          <a:bodyPr wrap="square" lIns="0" tIns="0" rIns="0" bIns="0" rtlCol="0" anchor="ctr"/>
          <a:lstStyle/>
          <a:p>
            <a:pPr indent="0" marL="0">
              <a:buNone/>
            </a:pPr>
            <a:r>
              <a:rPr lang="en-US" sz="1600" dirty="0">
                <a:solidFill>
                  <a:srgbClr val="5C6B7A"/>
                </a:solidFill>
                <a:latin typeface="Calibri" pitchFamily="34" charset="0"/>
                <a:ea typeface="Calibri" pitchFamily="34" charset="-122"/>
                <a:cs typeface="Calibri" pitchFamily="34" charset="-120"/>
              </a:rPr>
              <a:t>How many cores</a:t>
            </a:r>
            <a:endParaRPr lang="en-US" sz="1600" dirty="0"/>
          </a:p>
        </p:txBody>
      </p:sp>
      <p:sp>
        <p:nvSpPr>
          <p:cNvPr id="8" name="Text 6"/>
          <p:cNvSpPr txBox="1"/>
          <p:nvPr/>
        </p:nvSpPr>
        <p:spPr>
          <a:xfrm>
            <a:off x="5029200" y="1600200"/>
            <a:ext cx="3108960" cy="603504"/>
          </a:xfrm>
          <a:prstGeom prst="rect">
            <a:avLst/>
          </a:prstGeom>
          <a:noFill/>
          <a:ln/>
        </p:spPr>
        <p:txBody>
          <a:bodyPr wrap="square" lIns="0" tIns="0" rIns="0" bIns="0" rtlCol="0" anchor="ctr"/>
          <a:lstStyle/>
          <a:p>
            <a:pPr algn="ctr" indent="0" marL="0">
              <a:buNone/>
            </a:pPr>
            <a:r>
              <a:rPr lang="en-US" sz="1700" b="1" dirty="0">
                <a:solidFill>
                  <a:srgbClr val="12161C"/>
                </a:solidFill>
                <a:latin typeface="Arial" pitchFamily="34" charset="0"/>
                <a:ea typeface="Arial" pitchFamily="34" charset="-122"/>
                <a:cs typeface="Arial" pitchFamily="34" charset="-120"/>
              </a:rPr>
              <a:t>8 – 16</a:t>
            </a:r>
            <a:endParaRPr lang="en-US" sz="1700" dirty="0"/>
          </a:p>
        </p:txBody>
      </p:sp>
      <p:sp>
        <p:nvSpPr>
          <p:cNvPr id="9" name="Text 7"/>
          <p:cNvSpPr txBox="1"/>
          <p:nvPr/>
        </p:nvSpPr>
        <p:spPr>
          <a:xfrm>
            <a:off x="8321040" y="1600200"/>
            <a:ext cx="3200400" cy="603504"/>
          </a:xfrm>
          <a:prstGeom prst="rect">
            <a:avLst/>
          </a:prstGeom>
          <a:noFill/>
          <a:ln/>
        </p:spPr>
        <p:txBody>
          <a:bodyPr wrap="square" lIns="0" tIns="0" rIns="0" bIns="0" rtlCol="0" anchor="ctr"/>
          <a:lstStyle/>
          <a:p>
            <a:pPr algn="ctr" indent="0" marL="0">
              <a:buNone/>
            </a:pPr>
            <a:r>
              <a:rPr lang="en-US" sz="1700" b="1" dirty="0">
                <a:solidFill>
                  <a:srgbClr val="12161C"/>
                </a:solidFill>
                <a:latin typeface="Arial" pitchFamily="34" charset="0"/>
                <a:ea typeface="Arial" pitchFamily="34" charset="-122"/>
                <a:cs typeface="Arial" pitchFamily="34" charset="-120"/>
              </a:rPr>
              <a:t>Thousands</a:t>
            </a:r>
            <a:endParaRPr lang="en-US" sz="1700" dirty="0"/>
          </a:p>
        </p:txBody>
      </p:sp>
      <p:sp>
        <p:nvSpPr>
          <p:cNvPr id="10" name="Text 8"/>
          <p:cNvSpPr txBox="1"/>
          <p:nvPr/>
        </p:nvSpPr>
        <p:spPr>
          <a:xfrm>
            <a:off x="822960" y="2386584"/>
            <a:ext cx="4023360" cy="603504"/>
          </a:xfrm>
          <a:prstGeom prst="rect">
            <a:avLst/>
          </a:prstGeom>
          <a:noFill/>
          <a:ln/>
        </p:spPr>
        <p:txBody>
          <a:bodyPr wrap="square" lIns="0" tIns="0" rIns="0" bIns="0" rtlCol="0" anchor="ctr"/>
          <a:lstStyle/>
          <a:p>
            <a:pPr indent="0" marL="0">
              <a:buNone/>
            </a:pPr>
            <a:r>
              <a:rPr lang="en-US" sz="1600" dirty="0">
                <a:solidFill>
                  <a:srgbClr val="5C6B7A"/>
                </a:solidFill>
                <a:latin typeface="Calibri" pitchFamily="34" charset="0"/>
                <a:ea typeface="Calibri" pitchFamily="34" charset="-122"/>
                <a:cs typeface="Calibri" pitchFamily="34" charset="-120"/>
              </a:rPr>
              <a:t>Speed of one core</a:t>
            </a:r>
            <a:endParaRPr lang="en-US" sz="1600" dirty="0"/>
          </a:p>
        </p:txBody>
      </p:sp>
      <p:sp>
        <p:nvSpPr>
          <p:cNvPr id="11" name="Text 9"/>
          <p:cNvSpPr txBox="1"/>
          <p:nvPr/>
        </p:nvSpPr>
        <p:spPr>
          <a:xfrm>
            <a:off x="5029200" y="2386584"/>
            <a:ext cx="3108960" cy="603504"/>
          </a:xfrm>
          <a:prstGeom prst="rect">
            <a:avLst/>
          </a:prstGeom>
          <a:noFill/>
          <a:ln/>
        </p:spPr>
        <p:txBody>
          <a:bodyPr wrap="square" lIns="0" tIns="0" rIns="0" bIns="0" rtlCol="0" anchor="ctr"/>
          <a:lstStyle/>
          <a:p>
            <a:pPr algn="ctr" indent="0" marL="0">
              <a:buNone/>
            </a:pPr>
            <a:r>
              <a:rPr lang="en-US" sz="1700" b="1" dirty="0">
                <a:solidFill>
                  <a:srgbClr val="12161C"/>
                </a:solidFill>
                <a:latin typeface="Arial" pitchFamily="34" charset="0"/>
                <a:ea typeface="Arial" pitchFamily="34" charset="-122"/>
                <a:cs typeface="Arial" pitchFamily="34" charset="-120"/>
              </a:rPr>
              <a:t>Very fast</a:t>
            </a:r>
            <a:endParaRPr lang="en-US" sz="1700" dirty="0"/>
          </a:p>
        </p:txBody>
      </p:sp>
      <p:sp>
        <p:nvSpPr>
          <p:cNvPr id="12" name="Text 10"/>
          <p:cNvSpPr txBox="1"/>
          <p:nvPr/>
        </p:nvSpPr>
        <p:spPr>
          <a:xfrm>
            <a:off x="8321040" y="2386584"/>
            <a:ext cx="3200400" cy="603504"/>
          </a:xfrm>
          <a:prstGeom prst="rect">
            <a:avLst/>
          </a:prstGeom>
          <a:noFill/>
          <a:ln/>
        </p:spPr>
        <p:txBody>
          <a:bodyPr wrap="square" lIns="0" tIns="0" rIns="0" bIns="0" rtlCol="0" anchor="ctr"/>
          <a:lstStyle/>
          <a:p>
            <a:pPr algn="ctr" indent="0" marL="0">
              <a:buNone/>
            </a:pPr>
            <a:r>
              <a:rPr lang="en-US" sz="1700" b="1" dirty="0">
                <a:solidFill>
                  <a:srgbClr val="12161C"/>
                </a:solidFill>
                <a:latin typeface="Arial" pitchFamily="34" charset="0"/>
                <a:ea typeface="Arial" pitchFamily="34" charset="-122"/>
                <a:cs typeface="Arial" pitchFamily="34" charset="-120"/>
              </a:rPr>
              <a:t>Fairly slow</a:t>
            </a:r>
            <a:endParaRPr lang="en-US" sz="1700" dirty="0"/>
          </a:p>
        </p:txBody>
      </p:sp>
      <p:sp>
        <p:nvSpPr>
          <p:cNvPr id="13" name="Shape 11"/>
          <p:cNvSpPr/>
          <p:nvPr/>
        </p:nvSpPr>
        <p:spPr>
          <a:xfrm>
            <a:off x="640080" y="3118104"/>
            <a:ext cx="10911535" cy="731520"/>
          </a:xfrm>
          <a:prstGeom prst="rect">
            <a:avLst/>
          </a:prstGeom>
          <a:solidFill>
            <a:srgbClr val="ECF0F5"/>
          </a:solidFill>
          <a:ln w="12700">
            <a:solidFill>
              <a:srgbClr val="ECF0F5"/>
            </a:solidFill>
            <a:prstDash val="solid"/>
          </a:ln>
        </p:spPr>
      </p:sp>
      <p:sp>
        <p:nvSpPr>
          <p:cNvPr id="14" name="Text 12"/>
          <p:cNvSpPr txBox="1"/>
          <p:nvPr/>
        </p:nvSpPr>
        <p:spPr>
          <a:xfrm>
            <a:off x="822960" y="3172968"/>
            <a:ext cx="4023360" cy="603504"/>
          </a:xfrm>
          <a:prstGeom prst="rect">
            <a:avLst/>
          </a:prstGeom>
          <a:noFill/>
          <a:ln/>
        </p:spPr>
        <p:txBody>
          <a:bodyPr wrap="square" lIns="0" tIns="0" rIns="0" bIns="0" rtlCol="0" anchor="ctr"/>
          <a:lstStyle/>
          <a:p>
            <a:pPr indent="0" marL="0">
              <a:buNone/>
            </a:pPr>
            <a:r>
              <a:rPr lang="en-US" sz="1600" dirty="0">
                <a:solidFill>
                  <a:srgbClr val="5C6B7A"/>
                </a:solidFill>
                <a:latin typeface="Calibri" pitchFamily="34" charset="0"/>
                <a:ea typeface="Calibri" pitchFamily="34" charset="-122"/>
                <a:cs typeface="Calibri" pitchFamily="34" charset="-120"/>
              </a:rPr>
              <a:t>Best at</a:t>
            </a:r>
            <a:endParaRPr lang="en-US" sz="1600" dirty="0"/>
          </a:p>
        </p:txBody>
      </p:sp>
      <p:sp>
        <p:nvSpPr>
          <p:cNvPr id="15" name="Text 13"/>
          <p:cNvSpPr txBox="1"/>
          <p:nvPr/>
        </p:nvSpPr>
        <p:spPr>
          <a:xfrm>
            <a:off x="5029200" y="3172968"/>
            <a:ext cx="3108960" cy="603504"/>
          </a:xfrm>
          <a:prstGeom prst="rect">
            <a:avLst/>
          </a:prstGeom>
          <a:noFill/>
          <a:ln/>
        </p:spPr>
        <p:txBody>
          <a:bodyPr wrap="square" lIns="0" tIns="0" rIns="0" bIns="0" rtlCol="0" anchor="ctr"/>
          <a:lstStyle/>
          <a:p>
            <a:pPr algn="ctr" indent="0" marL="0">
              <a:buNone/>
            </a:pPr>
            <a:r>
              <a:rPr lang="en-US" sz="1700" b="1" dirty="0">
                <a:solidFill>
                  <a:srgbClr val="12161C"/>
                </a:solidFill>
                <a:latin typeface="Arial" pitchFamily="34" charset="0"/>
                <a:ea typeface="Arial" pitchFamily="34" charset="-122"/>
                <a:cs typeface="Arial" pitchFamily="34" charset="-120"/>
              </a:rPr>
              <a:t>Anything, in order</a:t>
            </a:r>
            <a:endParaRPr lang="en-US" sz="1700" dirty="0"/>
          </a:p>
        </p:txBody>
      </p:sp>
      <p:sp>
        <p:nvSpPr>
          <p:cNvPr id="16" name="Text 14"/>
          <p:cNvSpPr txBox="1"/>
          <p:nvPr/>
        </p:nvSpPr>
        <p:spPr>
          <a:xfrm>
            <a:off x="8321040" y="3172968"/>
            <a:ext cx="3200400" cy="603504"/>
          </a:xfrm>
          <a:prstGeom prst="rect">
            <a:avLst/>
          </a:prstGeom>
          <a:noFill/>
          <a:ln/>
        </p:spPr>
        <p:txBody>
          <a:bodyPr wrap="square" lIns="0" tIns="0" rIns="0" bIns="0" rtlCol="0" anchor="ctr"/>
          <a:lstStyle/>
          <a:p>
            <a:pPr algn="ctr" indent="0" marL="0">
              <a:buNone/>
            </a:pPr>
            <a:r>
              <a:rPr lang="en-US" sz="1700" b="1" dirty="0">
                <a:solidFill>
                  <a:srgbClr val="12161C"/>
                </a:solidFill>
                <a:latin typeface="Arial" pitchFamily="34" charset="0"/>
                <a:ea typeface="Arial" pitchFamily="34" charset="-122"/>
                <a:cs typeface="Arial" pitchFamily="34" charset="-120"/>
              </a:rPr>
              <a:t>One job, a million times</a:t>
            </a:r>
            <a:endParaRPr lang="en-US" sz="1700" dirty="0"/>
          </a:p>
        </p:txBody>
      </p:sp>
      <p:sp>
        <p:nvSpPr>
          <p:cNvPr id="17" name="Text 15"/>
          <p:cNvSpPr txBox="1"/>
          <p:nvPr/>
        </p:nvSpPr>
        <p:spPr>
          <a:xfrm>
            <a:off x="822960" y="3959352"/>
            <a:ext cx="4023360" cy="603504"/>
          </a:xfrm>
          <a:prstGeom prst="rect">
            <a:avLst/>
          </a:prstGeom>
          <a:noFill/>
          <a:ln/>
        </p:spPr>
        <p:txBody>
          <a:bodyPr wrap="square" lIns="0" tIns="0" rIns="0" bIns="0" rtlCol="0" anchor="ctr"/>
          <a:lstStyle/>
          <a:p>
            <a:pPr indent="0" marL="0">
              <a:buNone/>
            </a:pPr>
            <a:r>
              <a:rPr lang="en-US" sz="1600" dirty="0">
                <a:solidFill>
                  <a:srgbClr val="5C6B7A"/>
                </a:solidFill>
                <a:latin typeface="Calibri" pitchFamily="34" charset="0"/>
                <a:ea typeface="Calibri" pitchFamily="34" charset="-122"/>
                <a:cs typeface="Calibri" pitchFamily="34" charset="-120"/>
              </a:rPr>
              <a:t>Memory</a:t>
            </a:r>
            <a:endParaRPr lang="en-US" sz="1600" dirty="0"/>
          </a:p>
        </p:txBody>
      </p:sp>
      <p:sp>
        <p:nvSpPr>
          <p:cNvPr id="18" name="Text 16"/>
          <p:cNvSpPr txBox="1"/>
          <p:nvPr/>
        </p:nvSpPr>
        <p:spPr>
          <a:xfrm>
            <a:off x="5029200" y="3959352"/>
            <a:ext cx="3108960" cy="603504"/>
          </a:xfrm>
          <a:prstGeom prst="rect">
            <a:avLst/>
          </a:prstGeom>
          <a:noFill/>
          <a:ln/>
        </p:spPr>
        <p:txBody>
          <a:bodyPr wrap="square" lIns="0" tIns="0" rIns="0" bIns="0" rtlCol="0" anchor="ctr"/>
          <a:lstStyle/>
          <a:p>
            <a:pPr algn="ctr" indent="0" marL="0">
              <a:buNone/>
            </a:pPr>
            <a:r>
              <a:rPr lang="en-US" sz="1700" b="1" dirty="0">
                <a:solidFill>
                  <a:srgbClr val="12161C"/>
                </a:solidFill>
                <a:latin typeface="Arial" pitchFamily="34" charset="0"/>
                <a:ea typeface="Arial" pitchFamily="34" charset="-122"/>
                <a:cs typeface="Arial" pitchFamily="34" charset="-120"/>
              </a:rPr>
              <a:t>Your RAM</a:t>
            </a:r>
            <a:endParaRPr lang="en-US" sz="1700" dirty="0"/>
          </a:p>
        </p:txBody>
      </p:sp>
      <p:sp>
        <p:nvSpPr>
          <p:cNvPr id="19" name="Text 17"/>
          <p:cNvSpPr txBox="1"/>
          <p:nvPr/>
        </p:nvSpPr>
        <p:spPr>
          <a:xfrm>
            <a:off x="8321040" y="3959352"/>
            <a:ext cx="3200400" cy="603504"/>
          </a:xfrm>
          <a:prstGeom prst="rect">
            <a:avLst/>
          </a:prstGeom>
          <a:noFill/>
          <a:ln/>
        </p:spPr>
        <p:txBody>
          <a:bodyPr wrap="square" lIns="0" tIns="0" rIns="0" bIns="0" rtlCol="0" anchor="ctr"/>
          <a:lstStyle/>
          <a:p>
            <a:pPr algn="ctr" indent="0" marL="0">
              <a:buNone/>
            </a:pPr>
            <a:r>
              <a:rPr lang="en-US" sz="1700" b="1" dirty="0">
                <a:solidFill>
                  <a:srgbClr val="12161C"/>
                </a:solidFill>
                <a:latin typeface="Arial" pitchFamily="34" charset="0"/>
                <a:ea typeface="Arial" pitchFamily="34" charset="-122"/>
                <a:cs typeface="Arial" pitchFamily="34" charset="-120"/>
              </a:rPr>
              <a:t>Its own, separate</a:t>
            </a:r>
            <a:endParaRPr lang="en-US" sz="1700" dirty="0"/>
          </a:p>
        </p:txBody>
      </p:sp>
      <p:sp>
        <p:nvSpPr>
          <p:cNvPr id="20" name="Text 18"/>
          <p:cNvSpPr txBox="1"/>
          <p:nvPr/>
        </p:nvSpPr>
        <p:spPr>
          <a:xfrm>
            <a:off x="640080" y="5120640"/>
            <a:ext cx="10058400" cy="457200"/>
          </a:xfrm>
          <a:prstGeom prst="rect">
            <a:avLst/>
          </a:prstGeom>
          <a:noFill/>
          <a:ln/>
        </p:spPr>
        <p:txBody>
          <a:bodyPr wrap="square" lIns="0" tIns="0" rIns="0" bIns="0" rtlCol="0" anchor="ctr"/>
          <a:lstStyle/>
          <a:p>
            <a:pPr algn="l" indent="0" marL="0">
              <a:lnSpc>
                <a:spcPct val="115000"/>
              </a:lnSpc>
              <a:buNone/>
            </a:pPr>
            <a:r>
              <a:rPr lang="en-US" sz="1700" b="1" dirty="0">
                <a:solidFill>
                  <a:srgbClr val="12161C"/>
                </a:solidFill>
                <a:latin typeface="Calibri" pitchFamily="34" charset="0"/>
                <a:ea typeface="Calibri" pitchFamily="34" charset="-122"/>
                <a:cs typeface="Calibri" pitchFamily="34" charset="-120"/>
              </a:rPr>
              <a:t>That last row is the one that catches everybody out.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algn="l" indent="0" marL="0">
              <a:buNone/>
            </a:pPr>
            <a:r>
              <a:rPr lang="en-US" sz="3400" b="1" dirty="0">
                <a:solidFill>
                  <a:srgbClr val="12161C"/>
                </a:solidFill>
                <a:latin typeface="Arial" pitchFamily="34" charset="0"/>
                <a:ea typeface="Arial" pitchFamily="34" charset="-122"/>
                <a:cs typeface="Arial" pitchFamily="34" charset="-120"/>
              </a:rPr>
              <a:t>The catch: the GPU cannot see your data</a:t>
            </a:r>
            <a:endParaRPr lang="en-US" sz="3400" dirty="0"/>
          </a:p>
        </p:txBody>
      </p:sp>
      <p:sp>
        <p:nvSpPr>
          <p:cNvPr id="3" name="Shape 1"/>
          <p:cNvSpPr/>
          <p:nvPr/>
        </p:nvSpPr>
        <p:spPr>
          <a:xfrm>
            <a:off x="640080" y="1600200"/>
            <a:ext cx="4160520" cy="2834640"/>
          </a:xfrm>
          <a:prstGeom prst="roundRect">
            <a:avLst>
              <a:gd name="adj" fmla="val 2903"/>
            </a:avLst>
          </a:prstGeom>
          <a:solidFill>
            <a:srgbClr val="FDF4E5"/>
          </a:solidFill>
          <a:ln w="12700">
            <a:solidFill>
              <a:srgbClr val="F0D9AC"/>
            </a:solidFill>
            <a:prstDash val="solid"/>
          </a:ln>
        </p:spPr>
      </p:sp>
      <p:sp>
        <p:nvSpPr>
          <p:cNvPr id="4" name="Text 2"/>
          <p:cNvSpPr txBox="1"/>
          <p:nvPr/>
        </p:nvSpPr>
        <p:spPr>
          <a:xfrm>
            <a:off x="914400" y="1828800"/>
            <a:ext cx="1828800" cy="365760"/>
          </a:xfrm>
          <a:prstGeom prst="rect">
            <a:avLst/>
          </a:prstGeom>
          <a:noFill/>
          <a:ln/>
        </p:spPr>
        <p:txBody>
          <a:bodyPr wrap="square" lIns="0" tIns="0" rIns="0" bIns="0" rtlCol="0" anchor="ctr"/>
          <a:lstStyle/>
          <a:p>
            <a:pPr indent="0" marL="0">
              <a:buNone/>
            </a:pPr>
            <a:r>
              <a:rPr lang="en-US" sz="1400" b="1" dirty="0">
                <a:solidFill>
                  <a:srgbClr val="E8A33D"/>
                </a:solidFill>
                <a:latin typeface="Arial" pitchFamily="34" charset="0"/>
                <a:ea typeface="Arial" pitchFamily="34" charset="-122"/>
                <a:cs typeface="Arial" pitchFamily="34" charset="-120"/>
              </a:rPr>
              <a:t>CPU</a:t>
            </a:r>
            <a:endParaRPr lang="en-US" sz="1400" dirty="0"/>
          </a:p>
        </p:txBody>
      </p:sp>
      <p:sp>
        <p:nvSpPr>
          <p:cNvPr id="5" name="Text 3"/>
          <p:cNvSpPr txBox="1"/>
          <p:nvPr/>
        </p:nvSpPr>
        <p:spPr>
          <a:xfrm>
            <a:off x="914400" y="2331720"/>
            <a:ext cx="3566160" cy="914400"/>
          </a:xfrm>
          <a:prstGeom prst="rect">
            <a:avLst/>
          </a:prstGeom>
          <a:noFill/>
          <a:ln/>
        </p:spPr>
        <p:txBody>
          <a:bodyPr wrap="square" lIns="0" tIns="0" rIns="0" bIns="0" rtlCol="0" anchor="ctr"/>
          <a:lstStyle/>
          <a:p>
            <a:pPr indent="0" marL="0">
              <a:lnSpc>
                <a:spcPct val="115000"/>
              </a:lnSpc>
              <a:buNone/>
            </a:pPr>
            <a:r>
              <a:rPr lang="en-US" sz="2000" b="1" dirty="0">
                <a:solidFill>
                  <a:srgbClr val="12161C"/>
                </a:solidFill>
                <a:latin typeface="Arial" pitchFamily="34" charset="0"/>
                <a:ea typeface="Arial" pitchFamily="34" charset="-122"/>
                <a:cs typeface="Arial" pitchFamily="34" charset="-120"/>
              </a:rPr>
              <a:t>your photo</a:t>
            </a:r>
            <a:endParaRPr lang="en-US" sz="2000" dirty="0"/>
          </a:p>
          <a:p>
            <a:pPr indent="0" marL="0">
              <a:lnSpc>
                <a:spcPct val="115000"/>
              </a:lnSpc>
              <a:buNone/>
            </a:pPr>
            <a:r>
              <a:rPr lang="en-US" sz="2000" b="1" dirty="0">
                <a:solidFill>
                  <a:srgbClr val="12161C"/>
                </a:solidFill>
                <a:latin typeface="Arial" pitchFamily="34" charset="0"/>
                <a:ea typeface="Arial" pitchFamily="34" charset="-122"/>
                <a:cs typeface="Arial" pitchFamily="34" charset="-120"/>
              </a:rPr>
              <a:t>lives here</a:t>
            </a:r>
            <a:endParaRPr lang="en-US" sz="2000" dirty="0"/>
          </a:p>
        </p:txBody>
      </p:sp>
      <p:sp>
        <p:nvSpPr>
          <p:cNvPr id="6" name="Text 4"/>
          <p:cNvSpPr txBox="1"/>
          <p:nvPr/>
        </p:nvSpPr>
        <p:spPr>
          <a:xfrm>
            <a:off x="914400" y="3383280"/>
            <a:ext cx="3566160" cy="914400"/>
          </a:xfrm>
          <a:prstGeom prst="rect">
            <a:avLst/>
          </a:prstGeom>
          <a:noFill/>
          <a:ln/>
        </p:spPr>
        <p:txBody>
          <a:bodyPr wrap="square" lIns="0" tIns="0" rIns="0" bIns="0" rtlCol="0" anchor="ctr"/>
          <a:lstStyle/>
          <a:p>
            <a:pPr algn="l" indent="0" marL="0">
              <a:lnSpc>
                <a:spcPct val="115000"/>
              </a:lnSpc>
              <a:buNone/>
            </a:pPr>
            <a:r>
              <a:rPr lang="en-US" sz="1400" dirty="0">
                <a:solidFill>
                  <a:srgbClr val="5C6B7A"/>
                </a:solidFill>
                <a:latin typeface="Calibri" pitchFamily="34" charset="0"/>
                <a:ea typeface="Calibri" pitchFamily="34" charset="-122"/>
                <a:cs typeface="Calibri" pitchFamily="34" charset="-120"/>
              </a:rPr>
              <a:t>Ordinary memory. Your program can read and write it whenever it likes.</a:t>
            </a:r>
            <a:endParaRPr lang="en-US" sz="1400" dirty="0"/>
          </a:p>
        </p:txBody>
      </p:sp>
      <p:sp>
        <p:nvSpPr>
          <p:cNvPr id="7" name="Shape 5"/>
          <p:cNvSpPr/>
          <p:nvPr/>
        </p:nvSpPr>
        <p:spPr>
          <a:xfrm>
            <a:off x="7406640" y="1600200"/>
            <a:ext cx="4160520" cy="2834640"/>
          </a:xfrm>
          <a:prstGeom prst="roundRect">
            <a:avLst>
              <a:gd name="adj" fmla="val 2903"/>
            </a:avLst>
          </a:prstGeom>
          <a:solidFill>
            <a:srgbClr val="E9FBF1"/>
          </a:solidFill>
          <a:ln w="12700">
            <a:solidFill>
              <a:srgbClr val="A9E9C6"/>
            </a:solidFill>
            <a:prstDash val="solid"/>
          </a:ln>
        </p:spPr>
      </p:sp>
      <p:sp>
        <p:nvSpPr>
          <p:cNvPr id="8" name="Text 6"/>
          <p:cNvSpPr txBox="1"/>
          <p:nvPr/>
        </p:nvSpPr>
        <p:spPr>
          <a:xfrm>
            <a:off x="7680960" y="1828800"/>
            <a:ext cx="1828800" cy="365760"/>
          </a:xfrm>
          <a:prstGeom prst="rect">
            <a:avLst/>
          </a:prstGeom>
          <a:noFill/>
          <a:ln/>
        </p:spPr>
        <p:txBody>
          <a:bodyPr wrap="square" lIns="0" tIns="0" rIns="0" bIns="0" rtlCol="0" anchor="ctr"/>
          <a:lstStyle/>
          <a:p>
            <a:pPr indent="0" marL="0">
              <a:buNone/>
            </a:pPr>
            <a:r>
              <a:rPr lang="en-US" sz="1400" b="1" dirty="0">
                <a:solidFill>
                  <a:srgbClr val="1F9E5C"/>
                </a:solidFill>
                <a:latin typeface="Arial" pitchFamily="34" charset="0"/>
                <a:ea typeface="Arial" pitchFamily="34" charset="-122"/>
                <a:cs typeface="Arial" pitchFamily="34" charset="-120"/>
              </a:rPr>
              <a:t>GPU</a:t>
            </a:r>
            <a:endParaRPr lang="en-US" sz="1400" dirty="0"/>
          </a:p>
        </p:txBody>
      </p:sp>
      <p:sp>
        <p:nvSpPr>
          <p:cNvPr id="9" name="Text 7"/>
          <p:cNvSpPr txBox="1"/>
          <p:nvPr/>
        </p:nvSpPr>
        <p:spPr>
          <a:xfrm>
            <a:off x="7680960" y="2331720"/>
            <a:ext cx="3566160" cy="914400"/>
          </a:xfrm>
          <a:prstGeom prst="rect">
            <a:avLst/>
          </a:prstGeom>
          <a:noFill/>
          <a:ln/>
        </p:spPr>
        <p:txBody>
          <a:bodyPr wrap="square" lIns="0" tIns="0" rIns="0" bIns="0" rtlCol="0" anchor="ctr"/>
          <a:lstStyle/>
          <a:p>
            <a:pPr indent="0" marL="0">
              <a:lnSpc>
                <a:spcPct val="115000"/>
              </a:lnSpc>
              <a:buNone/>
            </a:pPr>
            <a:r>
              <a:rPr lang="en-US" sz="2000" b="1" dirty="0">
                <a:solidFill>
                  <a:srgbClr val="12161C"/>
                </a:solidFill>
                <a:latin typeface="Arial" pitchFamily="34" charset="0"/>
                <a:ea typeface="Arial" pitchFamily="34" charset="-122"/>
                <a:cs typeface="Arial" pitchFamily="34" charset="-120"/>
              </a:rPr>
              <a:t>its own memory,</a:t>
            </a:r>
            <a:endParaRPr lang="en-US" sz="2000" dirty="0"/>
          </a:p>
          <a:p>
            <a:pPr indent="0" marL="0">
              <a:lnSpc>
                <a:spcPct val="115000"/>
              </a:lnSpc>
              <a:buNone/>
            </a:pPr>
            <a:r>
              <a:rPr lang="en-US" sz="2000" b="1" dirty="0">
                <a:solidFill>
                  <a:srgbClr val="12161C"/>
                </a:solidFill>
                <a:latin typeface="Arial" pitchFamily="34" charset="0"/>
                <a:ea typeface="Arial" pitchFamily="34" charset="-122"/>
                <a:cs typeface="Arial" pitchFamily="34" charset="-120"/>
              </a:rPr>
              <a:t>completely separate</a:t>
            </a:r>
            <a:endParaRPr lang="en-US" sz="2000" dirty="0"/>
          </a:p>
        </p:txBody>
      </p:sp>
      <p:sp>
        <p:nvSpPr>
          <p:cNvPr id="10" name="Text 8"/>
          <p:cNvSpPr txBox="1"/>
          <p:nvPr/>
        </p:nvSpPr>
        <p:spPr>
          <a:xfrm>
            <a:off x="7680960" y="3383280"/>
            <a:ext cx="3566160" cy="914400"/>
          </a:xfrm>
          <a:prstGeom prst="rect">
            <a:avLst/>
          </a:prstGeom>
          <a:noFill/>
          <a:ln/>
        </p:spPr>
        <p:txBody>
          <a:bodyPr wrap="square" lIns="0" tIns="0" rIns="0" bIns="0" rtlCol="0" anchor="ctr"/>
          <a:lstStyle/>
          <a:p>
            <a:pPr algn="l" indent="0" marL="0">
              <a:lnSpc>
                <a:spcPct val="115000"/>
              </a:lnSpc>
              <a:buNone/>
            </a:pPr>
            <a:r>
              <a:rPr lang="en-US" sz="1400" dirty="0">
                <a:solidFill>
                  <a:srgbClr val="5C6B7A"/>
                </a:solidFill>
                <a:latin typeface="Calibri" pitchFamily="34" charset="0"/>
                <a:ea typeface="Calibri" pitchFamily="34" charset="-122"/>
                <a:cs typeface="Calibri" pitchFamily="34" charset="-120"/>
              </a:rPr>
              <a:t>Thousands of cores can read this at once. Your CPU cannot touch it at all.</a:t>
            </a:r>
            <a:endParaRPr lang="en-US" sz="1400" dirty="0"/>
          </a:p>
        </p:txBody>
      </p:sp>
      <p:sp>
        <p:nvSpPr>
          <p:cNvPr id="11" name="Shape 9"/>
          <p:cNvSpPr/>
          <p:nvPr/>
        </p:nvSpPr>
        <p:spPr>
          <a:xfrm>
            <a:off x="4983480" y="2423160"/>
            <a:ext cx="2331720" cy="0"/>
          </a:xfrm>
          <a:prstGeom prst="line">
            <a:avLst/>
          </a:prstGeom>
          <a:noFill/>
          <a:ln w="25400">
            <a:solidFill>
              <a:srgbClr val="5C6B7A"/>
            </a:solidFill>
            <a:prstDash val="solid"/>
            <a:tailEnd type="triangle"/>
          </a:ln>
        </p:spPr>
      </p:sp>
      <p:sp>
        <p:nvSpPr>
          <p:cNvPr id="12" name="Text 10"/>
          <p:cNvSpPr txBox="1"/>
          <p:nvPr/>
        </p:nvSpPr>
        <p:spPr>
          <a:xfrm>
            <a:off x="4983480" y="2011680"/>
            <a:ext cx="2331720" cy="365760"/>
          </a:xfrm>
          <a:prstGeom prst="rect">
            <a:avLst/>
          </a:prstGeom>
          <a:noFill/>
          <a:ln/>
        </p:spPr>
        <p:txBody>
          <a:bodyPr wrap="square" lIns="0" tIns="0" rIns="0" bIns="0" rtlCol="0" anchor="ctr"/>
          <a:lstStyle/>
          <a:p>
            <a:pPr algn="ctr" indent="0" marL="0">
              <a:buNone/>
            </a:pPr>
            <a:r>
              <a:rPr lang="en-US" sz="1300" dirty="0">
                <a:solidFill>
                  <a:srgbClr val="5C6B7A"/>
                </a:solidFill>
                <a:latin typeface="Calibri" pitchFamily="34" charset="0"/>
                <a:ea typeface="Calibri" pitchFamily="34" charset="-122"/>
                <a:cs typeface="Calibri" pitchFamily="34" charset="-120"/>
              </a:rPr>
              <a:t>copy over</a:t>
            </a:r>
            <a:endParaRPr lang="en-US" sz="1300" dirty="0"/>
          </a:p>
        </p:txBody>
      </p:sp>
      <p:sp>
        <p:nvSpPr>
          <p:cNvPr id="13" name="Shape 11"/>
          <p:cNvSpPr/>
          <p:nvPr/>
        </p:nvSpPr>
        <p:spPr>
          <a:xfrm>
            <a:off x="4983480" y="3429000"/>
            <a:ext cx="2331720" cy="0"/>
          </a:xfrm>
          <a:prstGeom prst="line">
            <a:avLst/>
          </a:prstGeom>
          <a:noFill/>
          <a:ln w="25400">
            <a:solidFill>
              <a:srgbClr val="5C6B7A"/>
            </a:solidFill>
            <a:prstDash val="solid"/>
            <a:headEnd type="triangle"/>
          </a:ln>
        </p:spPr>
      </p:sp>
      <p:sp>
        <p:nvSpPr>
          <p:cNvPr id="14" name="Text 12"/>
          <p:cNvSpPr txBox="1"/>
          <p:nvPr/>
        </p:nvSpPr>
        <p:spPr>
          <a:xfrm>
            <a:off x="4983480" y="3566160"/>
            <a:ext cx="2331720" cy="365760"/>
          </a:xfrm>
          <a:prstGeom prst="rect">
            <a:avLst/>
          </a:prstGeom>
          <a:noFill/>
          <a:ln/>
        </p:spPr>
        <p:txBody>
          <a:bodyPr wrap="square" lIns="0" tIns="0" rIns="0" bIns="0" rtlCol="0" anchor="ctr"/>
          <a:lstStyle/>
          <a:p>
            <a:pPr algn="ctr" indent="0" marL="0">
              <a:buNone/>
            </a:pPr>
            <a:r>
              <a:rPr lang="en-US" sz="1300" dirty="0">
                <a:solidFill>
                  <a:srgbClr val="5C6B7A"/>
                </a:solidFill>
                <a:latin typeface="Calibri" pitchFamily="34" charset="0"/>
                <a:ea typeface="Calibri" pitchFamily="34" charset="-122"/>
                <a:cs typeface="Calibri" pitchFamily="34" charset="-120"/>
              </a:rPr>
              <a:t>copy back</a:t>
            </a:r>
            <a:endParaRPr lang="en-US" sz="1300" dirty="0"/>
          </a:p>
        </p:txBody>
      </p:sp>
      <p:sp>
        <p:nvSpPr>
          <p:cNvPr id="15" name="Text 13"/>
          <p:cNvSpPr txBox="1"/>
          <p:nvPr/>
        </p:nvSpPr>
        <p:spPr>
          <a:xfrm>
            <a:off x="640080" y="4892040"/>
            <a:ext cx="10515600" cy="914400"/>
          </a:xfrm>
          <a:prstGeom prst="rect">
            <a:avLst/>
          </a:prstGeom>
          <a:noFill/>
          <a:ln/>
        </p:spPr>
        <p:txBody>
          <a:bodyPr wrap="square" lIns="0" tIns="0" rIns="0" bIns="0" rtlCol="0" anchor="ctr"/>
          <a:lstStyle/>
          <a:p>
            <a:pPr algn="l" indent="0" marL="0">
              <a:lnSpc>
                <a:spcPct val="115000"/>
              </a:lnSpc>
              <a:buNone/>
            </a:pPr>
            <a:r>
              <a:rPr lang="en-US" sz="1600" dirty="0">
                <a:solidFill>
                  <a:srgbClr val="12161C"/>
                </a:solidFill>
                <a:latin typeface="Calibri" pitchFamily="34" charset="0"/>
                <a:ea typeface="Calibri" pitchFamily="34" charset="-122"/>
                <a:cs typeface="Calibri" pitchFamily="34" charset="-120"/>
              </a:rPr>
              <a:t>Two machines in one box, with a cable between them. Nothing the GPU does is visible to you until you ask for it back — and that copying is not free. We'll measure it later.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algn="l" indent="0" marL="0">
              <a:buNone/>
            </a:pPr>
            <a:r>
              <a:rPr lang="en-US" sz="3400" b="1" dirty="0">
                <a:solidFill>
                  <a:srgbClr val="F5F7FA"/>
                </a:solidFill>
                <a:latin typeface="Arial" pitchFamily="34" charset="0"/>
                <a:ea typeface="Arial" pitchFamily="34" charset="-122"/>
                <a:cs typeface="Arial" pitchFamily="34" charset="-120"/>
              </a:rPr>
              <a:t>So every CUDA program does these five things</a:t>
            </a:r>
            <a:endParaRPr lang="en-US" sz="3400" dirty="0"/>
          </a:p>
        </p:txBody>
      </p:sp>
      <p:sp>
        <p:nvSpPr>
          <p:cNvPr id="3" name="Text 1"/>
          <p:cNvSpPr txBox="1"/>
          <p:nvPr/>
        </p:nvSpPr>
        <p:spPr>
          <a:xfrm>
            <a:off x="640080" y="1280160"/>
            <a:ext cx="10911535" cy="914400"/>
          </a:xfrm>
          <a:prstGeom prst="rect">
            <a:avLst/>
          </a:prstGeom>
          <a:noFill/>
          <a:ln/>
        </p:spPr>
        <p:txBody>
          <a:bodyPr wrap="square" lIns="0" tIns="0" rIns="0" bIns="0" rtlCol="0" anchor="ctr"/>
          <a:lstStyle/>
          <a:p>
            <a:pPr algn="l" indent="0" marL="0">
              <a:lnSpc>
                <a:spcPct val="115000"/>
              </a:lnSpc>
              <a:buNone/>
            </a:pPr>
            <a:r>
              <a:rPr lang="en-US" sz="1500" dirty="0">
                <a:solidFill>
                  <a:srgbClr val="97A6B5"/>
                </a:solidFill>
                <a:latin typeface="Calibri" pitchFamily="34" charset="0"/>
                <a:ea typeface="Calibri" pitchFamily="34" charset="-122"/>
                <a:cs typeface="Calibri" pitchFamily="34" charset="-120"/>
              </a:rPr>
              <a:t>Leave this on the screen. Every program we write today has exactly this skeleton.</a:t>
            </a:r>
            <a:endParaRPr lang="en-US" sz="1500" dirty="0"/>
          </a:p>
        </p:txBody>
      </p:sp>
      <p:sp>
        <p:nvSpPr>
          <p:cNvPr id="4" name="Shape 2"/>
          <p:cNvSpPr/>
          <p:nvPr/>
        </p:nvSpPr>
        <p:spPr>
          <a:xfrm>
            <a:off x="640080" y="1920240"/>
            <a:ext cx="457200" cy="457200"/>
          </a:xfrm>
          <a:prstGeom prst="ellipse">
            <a:avLst/>
          </a:prstGeom>
          <a:solidFill>
            <a:srgbClr val="1C232D"/>
          </a:solidFill>
          <a:ln w="12700">
            <a:solidFill>
              <a:srgbClr val="1C232D"/>
            </a:solidFill>
            <a:prstDash val="solid"/>
          </a:ln>
        </p:spPr>
      </p:sp>
      <p:sp>
        <p:nvSpPr>
          <p:cNvPr id="5" name="Text 3"/>
          <p:cNvSpPr txBox="1"/>
          <p:nvPr/>
        </p:nvSpPr>
        <p:spPr>
          <a:xfrm>
            <a:off x="640080" y="1920240"/>
            <a:ext cx="457200" cy="457200"/>
          </a:xfrm>
          <a:prstGeom prst="rect">
            <a:avLst/>
          </a:prstGeom>
          <a:noFill/>
          <a:ln/>
        </p:spPr>
        <p:txBody>
          <a:bodyPr wrap="square" lIns="0" tIns="0" rIns="0" bIns="0" rtlCol="0" anchor="ctr"/>
          <a:lstStyle/>
          <a:p>
            <a:pPr algn="ctr" indent="0" marL="0">
              <a:buNone/>
            </a:pPr>
            <a:r>
              <a:rPr lang="en-US" sz="1400" b="1" dirty="0">
                <a:solidFill>
                  <a:srgbClr val="F5F7FA"/>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325880" y="1874520"/>
            <a:ext cx="3200400" cy="548640"/>
          </a:xfrm>
          <a:prstGeom prst="rect">
            <a:avLst/>
          </a:prstGeom>
          <a:noFill/>
          <a:ln/>
        </p:spPr>
        <p:txBody>
          <a:bodyPr wrap="square" lIns="0" tIns="0" rIns="0" bIns="0" rtlCol="0" anchor="ctr"/>
          <a:lstStyle/>
          <a:p>
            <a:pPr indent="0" marL="0">
              <a:buNone/>
            </a:pPr>
            <a:r>
              <a:rPr lang="en-US" sz="1600" b="1" dirty="0">
                <a:solidFill>
                  <a:srgbClr val="F5F7FA"/>
                </a:solidFill>
                <a:latin typeface="Arial" pitchFamily="34" charset="0"/>
                <a:ea typeface="Arial" pitchFamily="34" charset="-122"/>
                <a:cs typeface="Arial" pitchFamily="34" charset="-120"/>
              </a:rPr>
              <a:t>Ask the GPU for memory</a:t>
            </a:r>
            <a:endParaRPr lang="en-US" sz="1600" dirty="0"/>
          </a:p>
        </p:txBody>
      </p:sp>
      <p:sp>
        <p:nvSpPr>
          <p:cNvPr id="7" name="Text 5"/>
          <p:cNvSpPr txBox="1"/>
          <p:nvPr/>
        </p:nvSpPr>
        <p:spPr>
          <a:xfrm>
            <a:off x="4617720" y="1892808"/>
            <a:ext cx="6949440" cy="530352"/>
          </a:xfrm>
          <a:prstGeom prst="rect">
            <a:avLst/>
          </a:prstGeom>
          <a:solidFill>
            <a:srgbClr val="1C232D"/>
          </a:solidFill>
          <a:ln/>
        </p:spPr>
        <p:txBody>
          <a:bodyPr wrap="square" lIns="127000" tIns="127000" rIns="127000" bIns="127000" rtlCol="0" anchor="ctr"/>
          <a:lstStyle/>
          <a:p>
            <a:pPr algn="l" indent="0" marL="0">
              <a:lnSpc>
                <a:spcPct val="120000"/>
              </a:lnSpc>
              <a:buNone/>
            </a:pPr>
            <a:r>
              <a:rPr lang="en-US" sz="1200" dirty="0">
                <a:solidFill>
                  <a:srgbClr val="97A6B5"/>
                </a:solidFill>
                <a:latin typeface="Courier New" pitchFamily="34" charset="0"/>
                <a:ea typeface="Courier New" pitchFamily="34" charset="-122"/>
                <a:cs typeface="Courier New" pitchFamily="34" charset="-120"/>
              </a:rPr>
              <a:t>cudaMalloc(&amp;in_d, bytes);</a:t>
            </a:r>
            <a:endParaRPr lang="en-US" sz="1200" dirty="0"/>
          </a:p>
        </p:txBody>
      </p:sp>
      <p:sp>
        <p:nvSpPr>
          <p:cNvPr id="8" name="Shape 6"/>
          <p:cNvSpPr/>
          <p:nvPr/>
        </p:nvSpPr>
        <p:spPr>
          <a:xfrm>
            <a:off x="640080" y="2761488"/>
            <a:ext cx="457200" cy="457200"/>
          </a:xfrm>
          <a:prstGeom prst="ellipse">
            <a:avLst/>
          </a:prstGeom>
          <a:solidFill>
            <a:srgbClr val="1C232D"/>
          </a:solidFill>
          <a:ln w="12700">
            <a:solidFill>
              <a:srgbClr val="1C232D"/>
            </a:solidFill>
            <a:prstDash val="solid"/>
          </a:ln>
        </p:spPr>
      </p:sp>
      <p:sp>
        <p:nvSpPr>
          <p:cNvPr id="9" name="Text 7"/>
          <p:cNvSpPr txBox="1"/>
          <p:nvPr/>
        </p:nvSpPr>
        <p:spPr>
          <a:xfrm>
            <a:off x="640080" y="2761488"/>
            <a:ext cx="457200" cy="457200"/>
          </a:xfrm>
          <a:prstGeom prst="rect">
            <a:avLst/>
          </a:prstGeom>
          <a:noFill/>
          <a:ln/>
        </p:spPr>
        <p:txBody>
          <a:bodyPr wrap="square" lIns="0" tIns="0" rIns="0" bIns="0" rtlCol="0" anchor="ctr"/>
          <a:lstStyle/>
          <a:p>
            <a:pPr algn="ctr" indent="0" marL="0">
              <a:buNone/>
            </a:pPr>
            <a:r>
              <a:rPr lang="en-US" sz="1400" b="1" dirty="0">
                <a:solidFill>
                  <a:srgbClr val="F5F7FA"/>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325880" y="2715768"/>
            <a:ext cx="3200400" cy="548640"/>
          </a:xfrm>
          <a:prstGeom prst="rect">
            <a:avLst/>
          </a:prstGeom>
          <a:noFill/>
          <a:ln/>
        </p:spPr>
        <p:txBody>
          <a:bodyPr wrap="square" lIns="0" tIns="0" rIns="0" bIns="0" rtlCol="0" anchor="ctr"/>
          <a:lstStyle/>
          <a:p>
            <a:pPr indent="0" marL="0">
              <a:buNone/>
            </a:pPr>
            <a:r>
              <a:rPr lang="en-US" sz="1600" b="1" dirty="0">
                <a:solidFill>
                  <a:srgbClr val="F5F7FA"/>
                </a:solidFill>
                <a:latin typeface="Arial" pitchFamily="34" charset="0"/>
                <a:ea typeface="Arial" pitchFamily="34" charset="-122"/>
                <a:cs typeface="Arial" pitchFamily="34" charset="-120"/>
              </a:rPr>
              <a:t>Copy your data over</a:t>
            </a:r>
            <a:endParaRPr lang="en-US" sz="1600" dirty="0"/>
          </a:p>
        </p:txBody>
      </p:sp>
      <p:sp>
        <p:nvSpPr>
          <p:cNvPr id="11" name="Text 9"/>
          <p:cNvSpPr txBox="1"/>
          <p:nvPr/>
        </p:nvSpPr>
        <p:spPr>
          <a:xfrm>
            <a:off x="4617720" y="2734056"/>
            <a:ext cx="6949440" cy="530352"/>
          </a:xfrm>
          <a:prstGeom prst="rect">
            <a:avLst/>
          </a:prstGeom>
          <a:solidFill>
            <a:srgbClr val="1C232D"/>
          </a:solidFill>
          <a:ln/>
        </p:spPr>
        <p:txBody>
          <a:bodyPr wrap="square" lIns="127000" tIns="127000" rIns="127000" bIns="127000" rtlCol="0" anchor="ctr"/>
          <a:lstStyle/>
          <a:p>
            <a:pPr algn="l" indent="0" marL="0">
              <a:lnSpc>
                <a:spcPct val="120000"/>
              </a:lnSpc>
              <a:buNone/>
            </a:pPr>
            <a:r>
              <a:rPr lang="en-US" sz="1200" dirty="0">
                <a:solidFill>
                  <a:srgbClr val="97A6B5"/>
                </a:solidFill>
                <a:latin typeface="Courier New" pitchFamily="34" charset="0"/>
                <a:ea typeface="Courier New" pitchFamily="34" charset="-122"/>
                <a:cs typeface="Courier New" pitchFamily="34" charset="-120"/>
              </a:rPr>
              <a:t>cudaMemcpy(in_d, img, bytes, cudaMemcpyHostToDevice);</a:t>
            </a:r>
            <a:endParaRPr lang="en-US" sz="1200" dirty="0"/>
          </a:p>
        </p:txBody>
      </p:sp>
      <p:sp>
        <p:nvSpPr>
          <p:cNvPr id="12" name="Shape 10"/>
          <p:cNvSpPr/>
          <p:nvPr/>
        </p:nvSpPr>
        <p:spPr>
          <a:xfrm>
            <a:off x="640080" y="3602736"/>
            <a:ext cx="457200" cy="457200"/>
          </a:xfrm>
          <a:prstGeom prst="ellipse">
            <a:avLst/>
          </a:prstGeom>
          <a:solidFill>
            <a:srgbClr val="3DDC84"/>
          </a:solidFill>
          <a:ln w="12700">
            <a:solidFill>
              <a:srgbClr val="3DDC84"/>
            </a:solidFill>
            <a:prstDash val="solid"/>
          </a:ln>
        </p:spPr>
      </p:sp>
      <p:sp>
        <p:nvSpPr>
          <p:cNvPr id="13" name="Text 11"/>
          <p:cNvSpPr txBox="1"/>
          <p:nvPr/>
        </p:nvSpPr>
        <p:spPr>
          <a:xfrm>
            <a:off x="640080" y="3602736"/>
            <a:ext cx="457200" cy="457200"/>
          </a:xfrm>
          <a:prstGeom prst="rect">
            <a:avLst/>
          </a:prstGeom>
          <a:noFill/>
          <a:ln/>
        </p:spPr>
        <p:txBody>
          <a:bodyPr wrap="square" lIns="0" tIns="0" rIns="0" bIns="0" rtlCol="0" anchor="ctr"/>
          <a:lstStyle/>
          <a:p>
            <a:pPr algn="ctr" indent="0" marL="0">
              <a:buNone/>
            </a:pPr>
            <a:r>
              <a:rPr lang="en-US" sz="1400" b="1" dirty="0">
                <a:solidFill>
                  <a:srgbClr val="12161C"/>
                </a:solidFill>
                <a:latin typeface="Arial" pitchFamily="34" charset="0"/>
                <a:ea typeface="Arial" pitchFamily="34" charset="-122"/>
                <a:cs typeface="Arial" pitchFamily="34" charset="-120"/>
              </a:rPr>
              <a:t>3</a:t>
            </a:r>
            <a:endParaRPr lang="en-US" sz="1400" dirty="0"/>
          </a:p>
        </p:txBody>
      </p:sp>
      <p:sp>
        <p:nvSpPr>
          <p:cNvPr id="14" name="Text 12"/>
          <p:cNvSpPr txBox="1"/>
          <p:nvPr/>
        </p:nvSpPr>
        <p:spPr>
          <a:xfrm>
            <a:off x="1325880" y="3557016"/>
            <a:ext cx="3200400" cy="548640"/>
          </a:xfrm>
          <a:prstGeom prst="rect">
            <a:avLst/>
          </a:prstGeom>
          <a:noFill/>
          <a:ln/>
        </p:spPr>
        <p:txBody>
          <a:bodyPr wrap="square" lIns="0" tIns="0" rIns="0" bIns="0" rtlCol="0" anchor="ctr"/>
          <a:lstStyle/>
          <a:p>
            <a:pPr indent="0" marL="0">
              <a:buNone/>
            </a:pPr>
            <a:r>
              <a:rPr lang="en-US" sz="1600" b="1" dirty="0">
                <a:solidFill>
                  <a:srgbClr val="F5F7FA"/>
                </a:solidFill>
                <a:latin typeface="Arial" pitchFamily="34" charset="0"/>
                <a:ea typeface="Arial" pitchFamily="34" charset="-122"/>
                <a:cs typeface="Arial" pitchFamily="34" charset="-120"/>
              </a:rPr>
              <a:t>Run your code there</a:t>
            </a:r>
            <a:endParaRPr lang="en-US" sz="1600" dirty="0"/>
          </a:p>
        </p:txBody>
      </p:sp>
      <p:sp>
        <p:nvSpPr>
          <p:cNvPr id="15" name="Text 13"/>
          <p:cNvSpPr txBox="1"/>
          <p:nvPr/>
        </p:nvSpPr>
        <p:spPr>
          <a:xfrm>
            <a:off x="4617720" y="3575304"/>
            <a:ext cx="6949440" cy="530352"/>
          </a:xfrm>
          <a:prstGeom prst="rect">
            <a:avLst/>
          </a:prstGeom>
          <a:solidFill>
            <a:srgbClr val="1C232D"/>
          </a:solidFill>
          <a:ln/>
        </p:spPr>
        <p:txBody>
          <a:bodyPr wrap="square" lIns="127000" tIns="127000" rIns="127000" bIns="127000" rtlCol="0" anchor="ctr"/>
          <a:lstStyle/>
          <a:p>
            <a:pPr algn="l" indent="0" marL="0">
              <a:lnSpc>
                <a:spcPct val="120000"/>
              </a:lnSpc>
              <a:buNone/>
            </a:pPr>
            <a:r>
              <a:rPr lang="en-US" sz="1200" dirty="0">
                <a:solidFill>
                  <a:srgbClr val="3DDC84"/>
                </a:solidFill>
                <a:latin typeface="Courier New" pitchFamily="34" charset="0"/>
                <a:ea typeface="Courier New" pitchFamily="34" charset="-122"/>
                <a:cs typeface="Courier New" pitchFamily="34" charset="-120"/>
              </a:rPr>
              <a:t>myKernel&lt;&lt;&lt;grid, block&gt;&gt;&gt;(out_d, in_d, w, h);</a:t>
            </a:r>
            <a:endParaRPr lang="en-US" sz="1200" dirty="0"/>
          </a:p>
        </p:txBody>
      </p:sp>
      <p:sp>
        <p:nvSpPr>
          <p:cNvPr id="16" name="Shape 14"/>
          <p:cNvSpPr/>
          <p:nvPr/>
        </p:nvSpPr>
        <p:spPr>
          <a:xfrm>
            <a:off x="640080" y="4443984"/>
            <a:ext cx="457200" cy="457200"/>
          </a:xfrm>
          <a:prstGeom prst="ellipse">
            <a:avLst/>
          </a:prstGeom>
          <a:solidFill>
            <a:srgbClr val="1C232D"/>
          </a:solidFill>
          <a:ln w="12700">
            <a:solidFill>
              <a:srgbClr val="1C232D"/>
            </a:solidFill>
            <a:prstDash val="solid"/>
          </a:ln>
        </p:spPr>
      </p:sp>
      <p:sp>
        <p:nvSpPr>
          <p:cNvPr id="17" name="Text 15"/>
          <p:cNvSpPr txBox="1"/>
          <p:nvPr/>
        </p:nvSpPr>
        <p:spPr>
          <a:xfrm>
            <a:off x="640080" y="4443984"/>
            <a:ext cx="457200" cy="457200"/>
          </a:xfrm>
          <a:prstGeom prst="rect">
            <a:avLst/>
          </a:prstGeom>
          <a:noFill/>
          <a:ln/>
        </p:spPr>
        <p:txBody>
          <a:bodyPr wrap="square" lIns="0" tIns="0" rIns="0" bIns="0" rtlCol="0" anchor="ctr"/>
          <a:lstStyle/>
          <a:p>
            <a:pPr algn="ctr" indent="0" marL="0">
              <a:buNone/>
            </a:pPr>
            <a:r>
              <a:rPr lang="en-US" sz="1400" b="1" dirty="0">
                <a:solidFill>
                  <a:srgbClr val="F5F7FA"/>
                </a:solidFill>
                <a:latin typeface="Arial" pitchFamily="34" charset="0"/>
                <a:ea typeface="Arial" pitchFamily="34" charset="-122"/>
                <a:cs typeface="Arial" pitchFamily="34" charset="-120"/>
              </a:rPr>
              <a:t>4</a:t>
            </a:r>
            <a:endParaRPr lang="en-US" sz="1400" dirty="0"/>
          </a:p>
        </p:txBody>
      </p:sp>
      <p:sp>
        <p:nvSpPr>
          <p:cNvPr id="18" name="Text 16"/>
          <p:cNvSpPr txBox="1"/>
          <p:nvPr/>
        </p:nvSpPr>
        <p:spPr>
          <a:xfrm>
            <a:off x="1325880" y="4398264"/>
            <a:ext cx="3200400" cy="548640"/>
          </a:xfrm>
          <a:prstGeom prst="rect">
            <a:avLst/>
          </a:prstGeom>
          <a:noFill/>
          <a:ln/>
        </p:spPr>
        <p:txBody>
          <a:bodyPr wrap="square" lIns="0" tIns="0" rIns="0" bIns="0" rtlCol="0" anchor="ctr"/>
          <a:lstStyle/>
          <a:p>
            <a:pPr indent="0" marL="0">
              <a:buNone/>
            </a:pPr>
            <a:r>
              <a:rPr lang="en-US" sz="1600" b="1" dirty="0">
                <a:solidFill>
                  <a:srgbClr val="F5F7FA"/>
                </a:solidFill>
                <a:latin typeface="Arial" pitchFamily="34" charset="0"/>
                <a:ea typeface="Arial" pitchFamily="34" charset="-122"/>
                <a:cs typeface="Arial" pitchFamily="34" charset="-120"/>
              </a:rPr>
              <a:t>Copy the answer back</a:t>
            </a:r>
            <a:endParaRPr lang="en-US" sz="1600" dirty="0"/>
          </a:p>
        </p:txBody>
      </p:sp>
      <p:sp>
        <p:nvSpPr>
          <p:cNvPr id="19" name="Text 17"/>
          <p:cNvSpPr txBox="1"/>
          <p:nvPr/>
        </p:nvSpPr>
        <p:spPr>
          <a:xfrm>
            <a:off x="4617720" y="4416552"/>
            <a:ext cx="6949440" cy="530352"/>
          </a:xfrm>
          <a:prstGeom prst="rect">
            <a:avLst/>
          </a:prstGeom>
          <a:solidFill>
            <a:srgbClr val="1C232D"/>
          </a:solidFill>
          <a:ln/>
        </p:spPr>
        <p:txBody>
          <a:bodyPr wrap="square" lIns="127000" tIns="127000" rIns="127000" bIns="127000" rtlCol="0" anchor="ctr"/>
          <a:lstStyle/>
          <a:p>
            <a:pPr algn="l" indent="0" marL="0">
              <a:lnSpc>
                <a:spcPct val="120000"/>
              </a:lnSpc>
              <a:buNone/>
            </a:pPr>
            <a:r>
              <a:rPr lang="en-US" sz="1200" dirty="0">
                <a:solidFill>
                  <a:srgbClr val="97A6B5"/>
                </a:solidFill>
                <a:latin typeface="Courier New" pitchFamily="34" charset="0"/>
                <a:ea typeface="Courier New" pitchFamily="34" charset="-122"/>
                <a:cs typeface="Courier New" pitchFamily="34" charset="-120"/>
              </a:rPr>
              <a:t>cudaMemcpy(out, out_d, bytes, cudaMemcpyDeviceToHost);</a:t>
            </a:r>
            <a:endParaRPr lang="en-US" sz="1200" dirty="0"/>
          </a:p>
        </p:txBody>
      </p:sp>
      <p:sp>
        <p:nvSpPr>
          <p:cNvPr id="20" name="Shape 18"/>
          <p:cNvSpPr/>
          <p:nvPr/>
        </p:nvSpPr>
        <p:spPr>
          <a:xfrm>
            <a:off x="640080" y="5285232"/>
            <a:ext cx="457200" cy="457200"/>
          </a:xfrm>
          <a:prstGeom prst="ellipse">
            <a:avLst/>
          </a:prstGeom>
          <a:solidFill>
            <a:srgbClr val="1C232D"/>
          </a:solidFill>
          <a:ln w="12700">
            <a:solidFill>
              <a:srgbClr val="1C232D"/>
            </a:solidFill>
            <a:prstDash val="solid"/>
          </a:ln>
        </p:spPr>
      </p:sp>
      <p:sp>
        <p:nvSpPr>
          <p:cNvPr id="21" name="Text 19"/>
          <p:cNvSpPr txBox="1"/>
          <p:nvPr/>
        </p:nvSpPr>
        <p:spPr>
          <a:xfrm>
            <a:off x="640080" y="5285232"/>
            <a:ext cx="457200" cy="457200"/>
          </a:xfrm>
          <a:prstGeom prst="rect">
            <a:avLst/>
          </a:prstGeom>
          <a:noFill/>
          <a:ln/>
        </p:spPr>
        <p:txBody>
          <a:bodyPr wrap="square" lIns="0" tIns="0" rIns="0" bIns="0" rtlCol="0" anchor="ctr"/>
          <a:lstStyle/>
          <a:p>
            <a:pPr algn="ctr" indent="0" marL="0">
              <a:buNone/>
            </a:pPr>
            <a:r>
              <a:rPr lang="en-US" sz="1400" b="1" dirty="0">
                <a:solidFill>
                  <a:srgbClr val="F5F7FA"/>
                </a:solidFill>
                <a:latin typeface="Arial" pitchFamily="34" charset="0"/>
                <a:ea typeface="Arial" pitchFamily="34" charset="-122"/>
                <a:cs typeface="Arial" pitchFamily="34" charset="-120"/>
              </a:rPr>
              <a:t>5</a:t>
            </a:r>
            <a:endParaRPr lang="en-US" sz="1400" dirty="0"/>
          </a:p>
        </p:txBody>
      </p:sp>
      <p:sp>
        <p:nvSpPr>
          <p:cNvPr id="22" name="Text 20"/>
          <p:cNvSpPr txBox="1"/>
          <p:nvPr/>
        </p:nvSpPr>
        <p:spPr>
          <a:xfrm>
            <a:off x="1325880" y="5239512"/>
            <a:ext cx="3200400" cy="548640"/>
          </a:xfrm>
          <a:prstGeom prst="rect">
            <a:avLst/>
          </a:prstGeom>
          <a:noFill/>
          <a:ln/>
        </p:spPr>
        <p:txBody>
          <a:bodyPr wrap="square" lIns="0" tIns="0" rIns="0" bIns="0" rtlCol="0" anchor="ctr"/>
          <a:lstStyle/>
          <a:p>
            <a:pPr indent="0" marL="0">
              <a:buNone/>
            </a:pPr>
            <a:r>
              <a:rPr lang="en-US" sz="1600" b="1" dirty="0">
                <a:solidFill>
                  <a:srgbClr val="F5F7FA"/>
                </a:solidFill>
                <a:latin typeface="Arial" pitchFamily="34" charset="0"/>
                <a:ea typeface="Arial" pitchFamily="34" charset="-122"/>
                <a:cs typeface="Arial" pitchFamily="34" charset="-120"/>
              </a:rPr>
              <a:t>Give the memory back</a:t>
            </a:r>
            <a:endParaRPr lang="en-US" sz="1600" dirty="0"/>
          </a:p>
        </p:txBody>
      </p:sp>
      <p:sp>
        <p:nvSpPr>
          <p:cNvPr id="23" name="Text 21"/>
          <p:cNvSpPr txBox="1"/>
          <p:nvPr/>
        </p:nvSpPr>
        <p:spPr>
          <a:xfrm>
            <a:off x="4617720" y="5257800"/>
            <a:ext cx="6949440" cy="530352"/>
          </a:xfrm>
          <a:prstGeom prst="rect">
            <a:avLst/>
          </a:prstGeom>
          <a:solidFill>
            <a:srgbClr val="1C232D"/>
          </a:solidFill>
          <a:ln/>
        </p:spPr>
        <p:txBody>
          <a:bodyPr wrap="square" lIns="127000" tIns="127000" rIns="127000" bIns="127000" rtlCol="0" anchor="ctr"/>
          <a:lstStyle/>
          <a:p>
            <a:pPr algn="l" indent="0" marL="0">
              <a:lnSpc>
                <a:spcPct val="120000"/>
              </a:lnSpc>
              <a:buNone/>
            </a:pPr>
            <a:r>
              <a:rPr lang="en-US" sz="1200" dirty="0">
                <a:solidFill>
                  <a:srgbClr val="97A6B5"/>
                </a:solidFill>
                <a:latin typeface="Courier New" pitchFamily="34" charset="0"/>
                <a:ea typeface="Courier New" pitchFamily="34" charset="-122"/>
                <a:cs typeface="Courier New" pitchFamily="34" charset="-120"/>
              </a:rPr>
              <a:t>cudaFree(in_d);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algn="l" indent="0" marL="0">
              <a:buNone/>
            </a:pPr>
            <a:r>
              <a:rPr lang="en-US" sz="3400" b="1" dirty="0">
                <a:solidFill>
                  <a:srgbClr val="12161C"/>
                </a:solidFill>
                <a:latin typeface="Arial" pitchFamily="34" charset="0"/>
                <a:ea typeface="Arial" pitchFamily="34" charset="-122"/>
                <a:cs typeface="Arial" pitchFamily="34" charset="-120"/>
              </a:rPr>
              <a:t>You don't write a loop. You say how many.</a:t>
            </a:r>
            <a:endParaRPr lang="en-US" sz="3400" dirty="0"/>
          </a:p>
        </p:txBody>
      </p:sp>
      <p:sp>
        <p:nvSpPr>
          <p:cNvPr id="3" name="Text 1"/>
          <p:cNvSpPr txBox="1"/>
          <p:nvPr/>
        </p:nvSpPr>
        <p:spPr>
          <a:xfrm>
            <a:off x="640080" y="1234440"/>
            <a:ext cx="10911535" cy="731520"/>
          </a:xfrm>
          <a:prstGeom prst="rect">
            <a:avLst/>
          </a:prstGeom>
          <a:noFill/>
          <a:ln/>
        </p:spPr>
        <p:txBody>
          <a:bodyPr wrap="square" lIns="0" tIns="0" rIns="0" bIns="0" rtlCol="0" anchor="ctr"/>
          <a:lstStyle/>
          <a:p>
            <a:pPr algn="l" indent="0" marL="0">
              <a:lnSpc>
                <a:spcPct val="115000"/>
              </a:lnSpc>
              <a:buNone/>
            </a:pPr>
            <a:r>
              <a:rPr lang="en-US" sz="1600" dirty="0">
                <a:solidFill>
                  <a:srgbClr val="5C6B7A"/>
                </a:solidFill>
                <a:latin typeface="Calibri" pitchFamily="34" charset="0"/>
                <a:ea typeface="Calibri" pitchFamily="34" charset="-122"/>
                <a:cs typeface="Calibri" pitchFamily="34" charset="-120"/>
              </a:rPr>
              <a:t>You ask for a number of threads, and they all start at once. But they arrive in fixed-size groups called blocks — so a thread has to work out which piece of the job is actually its own.</a:t>
            </a:r>
            <a:endParaRPr lang="en-US" sz="1600" dirty="0"/>
          </a:p>
        </p:txBody>
      </p:sp>
      <p:sp>
        <p:nvSpPr>
          <p:cNvPr id="4" name="Shape 2"/>
          <p:cNvSpPr/>
          <p:nvPr/>
        </p:nvSpPr>
        <p:spPr>
          <a:xfrm>
            <a:off x="1051560" y="2331720"/>
            <a:ext cx="3017520" cy="1371600"/>
          </a:xfrm>
          <a:prstGeom prst="roundRect">
            <a:avLst>
              <a:gd name="adj" fmla="val 6000"/>
            </a:avLst>
          </a:prstGeom>
          <a:solidFill>
            <a:srgbClr val="ECF0F5"/>
          </a:solidFill>
          <a:ln w="12700">
            <a:solidFill>
              <a:srgbClr val="DCE3EB"/>
            </a:solidFill>
            <a:prstDash val="solid"/>
          </a:ln>
        </p:spPr>
      </p:sp>
      <p:sp>
        <p:nvSpPr>
          <p:cNvPr id="5" name="Text 3"/>
          <p:cNvSpPr txBox="1"/>
          <p:nvPr/>
        </p:nvSpPr>
        <p:spPr>
          <a:xfrm>
            <a:off x="1051560" y="2423160"/>
            <a:ext cx="3017520" cy="292608"/>
          </a:xfrm>
          <a:prstGeom prst="rect">
            <a:avLst/>
          </a:prstGeom>
          <a:noFill/>
          <a:ln/>
        </p:spPr>
        <p:txBody>
          <a:bodyPr wrap="square" lIns="0" tIns="0" rIns="0" bIns="0" rtlCol="0" anchor="ctr"/>
          <a:lstStyle/>
          <a:p>
            <a:pPr algn="ctr" indent="0" marL="0">
              <a:buNone/>
            </a:pPr>
            <a:r>
              <a:rPr lang="en-US" sz="1200" b="1" dirty="0">
                <a:solidFill>
                  <a:srgbClr val="5C6B7A"/>
                </a:solidFill>
                <a:latin typeface="Arial" pitchFamily="34" charset="0"/>
                <a:ea typeface="Arial" pitchFamily="34" charset="-122"/>
                <a:cs typeface="Arial" pitchFamily="34" charset="-120"/>
              </a:rPr>
              <a:t>block 0</a:t>
            </a:r>
            <a:endParaRPr lang="en-US" sz="1200" dirty="0"/>
          </a:p>
        </p:txBody>
      </p:sp>
      <p:sp>
        <p:nvSpPr>
          <p:cNvPr id="6" name="Shape 4"/>
          <p:cNvSpPr/>
          <p:nvPr/>
        </p:nvSpPr>
        <p:spPr>
          <a:xfrm>
            <a:off x="1252728" y="2834640"/>
            <a:ext cx="566928" cy="658368"/>
          </a:xfrm>
          <a:prstGeom prst="roundRect">
            <a:avLst>
              <a:gd name="adj" fmla="val 9677"/>
            </a:avLst>
          </a:prstGeom>
          <a:solidFill>
            <a:srgbClr val="3DDC84"/>
          </a:solidFill>
          <a:ln w="12700">
            <a:solidFill>
              <a:srgbClr val="2FBF6F"/>
            </a:solidFill>
            <a:prstDash val="solid"/>
          </a:ln>
        </p:spPr>
      </p:sp>
      <p:sp>
        <p:nvSpPr>
          <p:cNvPr id="7" name="Text 5"/>
          <p:cNvSpPr txBox="1"/>
          <p:nvPr/>
        </p:nvSpPr>
        <p:spPr>
          <a:xfrm>
            <a:off x="1252728" y="2834640"/>
            <a:ext cx="566928" cy="292608"/>
          </a:xfrm>
          <a:prstGeom prst="rect">
            <a:avLst/>
          </a:prstGeom>
          <a:noFill/>
          <a:ln/>
        </p:spPr>
        <p:txBody>
          <a:bodyPr wrap="square" lIns="0" tIns="0" rIns="0" bIns="0" rtlCol="0" anchor="ctr"/>
          <a:lstStyle/>
          <a:p>
            <a:pPr algn="ctr" indent="0" marL="0">
              <a:buNone/>
            </a:pPr>
            <a:r>
              <a:rPr lang="en-US" sz="1000" dirty="0">
                <a:solidFill>
                  <a:srgbClr val="0E5A33"/>
                </a:solidFill>
                <a:latin typeface="Calibri" pitchFamily="34" charset="0"/>
                <a:ea typeface="Calibri" pitchFamily="34" charset="-122"/>
                <a:cs typeface="Calibri" pitchFamily="34" charset="-120"/>
              </a:rPr>
              <a:t>0</a:t>
            </a:r>
            <a:endParaRPr lang="en-US" sz="1000" dirty="0"/>
          </a:p>
        </p:txBody>
      </p:sp>
      <p:sp>
        <p:nvSpPr>
          <p:cNvPr id="8" name="Text 6"/>
          <p:cNvSpPr txBox="1"/>
          <p:nvPr/>
        </p:nvSpPr>
        <p:spPr>
          <a:xfrm>
            <a:off x="1252728" y="3063240"/>
            <a:ext cx="566928" cy="384048"/>
          </a:xfrm>
          <a:prstGeom prst="rect">
            <a:avLst/>
          </a:prstGeom>
          <a:noFill/>
          <a:ln/>
        </p:spPr>
        <p:txBody>
          <a:bodyPr wrap="square" lIns="0" tIns="0" rIns="0" bIns="0" rtlCol="0" anchor="ctr"/>
          <a:lstStyle/>
          <a:p>
            <a:pPr algn="ctr" indent="0" marL="0">
              <a:buNone/>
            </a:pPr>
            <a:r>
              <a:rPr lang="en-US" sz="1600" b="1" dirty="0">
                <a:solidFill>
                  <a:srgbClr val="12161C"/>
                </a:solidFill>
                <a:latin typeface="Arial" pitchFamily="34" charset="0"/>
                <a:ea typeface="Arial" pitchFamily="34" charset="-122"/>
                <a:cs typeface="Arial" pitchFamily="34" charset="-120"/>
              </a:rPr>
              <a:t>0</a:t>
            </a:r>
            <a:endParaRPr lang="en-US" sz="1600" dirty="0"/>
          </a:p>
        </p:txBody>
      </p:sp>
      <p:sp>
        <p:nvSpPr>
          <p:cNvPr id="9" name="Shape 7"/>
          <p:cNvSpPr/>
          <p:nvPr/>
        </p:nvSpPr>
        <p:spPr>
          <a:xfrm>
            <a:off x="1920240" y="2834640"/>
            <a:ext cx="566928" cy="658368"/>
          </a:xfrm>
          <a:prstGeom prst="roundRect">
            <a:avLst>
              <a:gd name="adj" fmla="val 9677"/>
            </a:avLst>
          </a:prstGeom>
          <a:solidFill>
            <a:srgbClr val="3DDC84"/>
          </a:solidFill>
          <a:ln w="12700">
            <a:solidFill>
              <a:srgbClr val="2FBF6F"/>
            </a:solidFill>
            <a:prstDash val="solid"/>
          </a:ln>
        </p:spPr>
      </p:sp>
      <p:sp>
        <p:nvSpPr>
          <p:cNvPr id="10" name="Text 8"/>
          <p:cNvSpPr txBox="1"/>
          <p:nvPr/>
        </p:nvSpPr>
        <p:spPr>
          <a:xfrm>
            <a:off x="1920240" y="2834640"/>
            <a:ext cx="566928" cy="292608"/>
          </a:xfrm>
          <a:prstGeom prst="rect">
            <a:avLst/>
          </a:prstGeom>
          <a:noFill/>
          <a:ln/>
        </p:spPr>
        <p:txBody>
          <a:bodyPr wrap="square" lIns="0" tIns="0" rIns="0" bIns="0" rtlCol="0" anchor="ctr"/>
          <a:lstStyle/>
          <a:p>
            <a:pPr algn="ctr" indent="0" marL="0">
              <a:buNone/>
            </a:pPr>
            <a:r>
              <a:rPr lang="en-US" sz="1000" dirty="0">
                <a:solidFill>
                  <a:srgbClr val="0E5A33"/>
                </a:solidFill>
                <a:latin typeface="Calibri" pitchFamily="34" charset="0"/>
                <a:ea typeface="Calibri" pitchFamily="34" charset="-122"/>
                <a:cs typeface="Calibri" pitchFamily="34" charset="-120"/>
              </a:rPr>
              <a:t>1</a:t>
            </a:r>
            <a:endParaRPr lang="en-US" sz="1000" dirty="0"/>
          </a:p>
        </p:txBody>
      </p:sp>
      <p:sp>
        <p:nvSpPr>
          <p:cNvPr id="11" name="Text 9"/>
          <p:cNvSpPr txBox="1"/>
          <p:nvPr/>
        </p:nvSpPr>
        <p:spPr>
          <a:xfrm>
            <a:off x="1920240" y="3063240"/>
            <a:ext cx="566928" cy="384048"/>
          </a:xfrm>
          <a:prstGeom prst="rect">
            <a:avLst/>
          </a:prstGeom>
          <a:noFill/>
          <a:ln/>
        </p:spPr>
        <p:txBody>
          <a:bodyPr wrap="square" lIns="0" tIns="0" rIns="0" bIns="0" rtlCol="0" anchor="ctr"/>
          <a:lstStyle/>
          <a:p>
            <a:pPr algn="ctr" indent="0" marL="0">
              <a:buNone/>
            </a:pPr>
            <a:r>
              <a:rPr lang="en-US" sz="1600" b="1" dirty="0">
                <a:solidFill>
                  <a:srgbClr val="12161C"/>
                </a:solidFill>
                <a:latin typeface="Arial" pitchFamily="34" charset="0"/>
                <a:ea typeface="Arial" pitchFamily="34" charset="-122"/>
                <a:cs typeface="Arial" pitchFamily="34" charset="-120"/>
              </a:rPr>
              <a:t>1</a:t>
            </a:r>
            <a:endParaRPr lang="en-US" sz="1600" dirty="0"/>
          </a:p>
        </p:txBody>
      </p:sp>
      <p:sp>
        <p:nvSpPr>
          <p:cNvPr id="12" name="Shape 10"/>
          <p:cNvSpPr/>
          <p:nvPr/>
        </p:nvSpPr>
        <p:spPr>
          <a:xfrm>
            <a:off x="2587752" y="2834640"/>
            <a:ext cx="566928" cy="658368"/>
          </a:xfrm>
          <a:prstGeom prst="roundRect">
            <a:avLst>
              <a:gd name="adj" fmla="val 9677"/>
            </a:avLst>
          </a:prstGeom>
          <a:solidFill>
            <a:srgbClr val="3DDC84"/>
          </a:solidFill>
          <a:ln w="12700">
            <a:solidFill>
              <a:srgbClr val="2FBF6F"/>
            </a:solidFill>
            <a:prstDash val="solid"/>
          </a:ln>
        </p:spPr>
      </p:sp>
      <p:sp>
        <p:nvSpPr>
          <p:cNvPr id="13" name="Text 11"/>
          <p:cNvSpPr txBox="1"/>
          <p:nvPr/>
        </p:nvSpPr>
        <p:spPr>
          <a:xfrm>
            <a:off x="2587752" y="2834640"/>
            <a:ext cx="566928" cy="292608"/>
          </a:xfrm>
          <a:prstGeom prst="rect">
            <a:avLst/>
          </a:prstGeom>
          <a:noFill/>
          <a:ln/>
        </p:spPr>
        <p:txBody>
          <a:bodyPr wrap="square" lIns="0" tIns="0" rIns="0" bIns="0" rtlCol="0" anchor="ctr"/>
          <a:lstStyle/>
          <a:p>
            <a:pPr algn="ctr" indent="0" marL="0">
              <a:buNone/>
            </a:pPr>
            <a:r>
              <a:rPr lang="en-US" sz="1000" dirty="0">
                <a:solidFill>
                  <a:srgbClr val="0E5A33"/>
                </a:solidFill>
                <a:latin typeface="Calibri" pitchFamily="34" charset="0"/>
                <a:ea typeface="Calibri" pitchFamily="34" charset="-122"/>
                <a:cs typeface="Calibri" pitchFamily="34" charset="-120"/>
              </a:rPr>
              <a:t>2</a:t>
            </a:r>
            <a:endParaRPr lang="en-US" sz="1000" dirty="0"/>
          </a:p>
        </p:txBody>
      </p:sp>
      <p:sp>
        <p:nvSpPr>
          <p:cNvPr id="14" name="Text 12"/>
          <p:cNvSpPr txBox="1"/>
          <p:nvPr/>
        </p:nvSpPr>
        <p:spPr>
          <a:xfrm>
            <a:off x="2587752" y="3063240"/>
            <a:ext cx="566928" cy="384048"/>
          </a:xfrm>
          <a:prstGeom prst="rect">
            <a:avLst/>
          </a:prstGeom>
          <a:noFill/>
          <a:ln/>
        </p:spPr>
        <p:txBody>
          <a:bodyPr wrap="square" lIns="0" tIns="0" rIns="0" bIns="0" rtlCol="0" anchor="ctr"/>
          <a:lstStyle/>
          <a:p>
            <a:pPr algn="ctr" indent="0" marL="0">
              <a:buNone/>
            </a:pPr>
            <a:r>
              <a:rPr lang="en-US" sz="1600" b="1" dirty="0">
                <a:solidFill>
                  <a:srgbClr val="12161C"/>
                </a:solidFill>
                <a:latin typeface="Arial" pitchFamily="34" charset="0"/>
                <a:ea typeface="Arial" pitchFamily="34" charset="-122"/>
                <a:cs typeface="Arial" pitchFamily="34" charset="-120"/>
              </a:rPr>
              <a:t>2</a:t>
            </a:r>
            <a:endParaRPr lang="en-US" sz="1600" dirty="0"/>
          </a:p>
        </p:txBody>
      </p:sp>
      <p:sp>
        <p:nvSpPr>
          <p:cNvPr id="15" name="Shape 13"/>
          <p:cNvSpPr/>
          <p:nvPr/>
        </p:nvSpPr>
        <p:spPr>
          <a:xfrm>
            <a:off x="3255264" y="2834640"/>
            <a:ext cx="566928" cy="658368"/>
          </a:xfrm>
          <a:prstGeom prst="roundRect">
            <a:avLst>
              <a:gd name="adj" fmla="val 9677"/>
            </a:avLst>
          </a:prstGeom>
          <a:solidFill>
            <a:srgbClr val="3DDC84"/>
          </a:solidFill>
          <a:ln w="12700">
            <a:solidFill>
              <a:srgbClr val="2FBF6F"/>
            </a:solidFill>
            <a:prstDash val="solid"/>
          </a:ln>
        </p:spPr>
      </p:sp>
      <p:sp>
        <p:nvSpPr>
          <p:cNvPr id="16" name="Text 14"/>
          <p:cNvSpPr txBox="1"/>
          <p:nvPr/>
        </p:nvSpPr>
        <p:spPr>
          <a:xfrm>
            <a:off x="3255264" y="2834640"/>
            <a:ext cx="566928" cy="292608"/>
          </a:xfrm>
          <a:prstGeom prst="rect">
            <a:avLst/>
          </a:prstGeom>
          <a:noFill/>
          <a:ln/>
        </p:spPr>
        <p:txBody>
          <a:bodyPr wrap="square" lIns="0" tIns="0" rIns="0" bIns="0" rtlCol="0" anchor="ctr"/>
          <a:lstStyle/>
          <a:p>
            <a:pPr algn="ctr" indent="0" marL="0">
              <a:buNone/>
            </a:pPr>
            <a:r>
              <a:rPr lang="en-US" sz="1000" dirty="0">
                <a:solidFill>
                  <a:srgbClr val="0E5A33"/>
                </a:solidFill>
                <a:latin typeface="Calibri" pitchFamily="34" charset="0"/>
                <a:ea typeface="Calibri" pitchFamily="34" charset="-122"/>
                <a:cs typeface="Calibri" pitchFamily="34" charset="-120"/>
              </a:rPr>
              <a:t>3</a:t>
            </a:r>
            <a:endParaRPr lang="en-US" sz="1000" dirty="0"/>
          </a:p>
        </p:txBody>
      </p:sp>
      <p:sp>
        <p:nvSpPr>
          <p:cNvPr id="17" name="Text 15"/>
          <p:cNvSpPr txBox="1"/>
          <p:nvPr/>
        </p:nvSpPr>
        <p:spPr>
          <a:xfrm>
            <a:off x="3255264" y="3063240"/>
            <a:ext cx="566928" cy="384048"/>
          </a:xfrm>
          <a:prstGeom prst="rect">
            <a:avLst/>
          </a:prstGeom>
          <a:noFill/>
          <a:ln/>
        </p:spPr>
        <p:txBody>
          <a:bodyPr wrap="square" lIns="0" tIns="0" rIns="0" bIns="0" rtlCol="0" anchor="ctr"/>
          <a:lstStyle/>
          <a:p>
            <a:pPr algn="ctr" indent="0" marL="0">
              <a:buNone/>
            </a:pPr>
            <a:r>
              <a:rPr lang="en-US" sz="1600" b="1" dirty="0">
                <a:solidFill>
                  <a:srgbClr val="12161C"/>
                </a:solidFill>
                <a:latin typeface="Arial" pitchFamily="34" charset="0"/>
                <a:ea typeface="Arial" pitchFamily="34" charset="-122"/>
                <a:cs typeface="Arial" pitchFamily="34" charset="-120"/>
              </a:rPr>
              <a:t>3</a:t>
            </a:r>
            <a:endParaRPr lang="en-US" sz="1600" dirty="0"/>
          </a:p>
        </p:txBody>
      </p:sp>
      <p:sp>
        <p:nvSpPr>
          <p:cNvPr id="18" name="Shape 16"/>
          <p:cNvSpPr/>
          <p:nvPr/>
        </p:nvSpPr>
        <p:spPr>
          <a:xfrm>
            <a:off x="4572000" y="2331720"/>
            <a:ext cx="3017520" cy="1371600"/>
          </a:xfrm>
          <a:prstGeom prst="roundRect">
            <a:avLst>
              <a:gd name="adj" fmla="val 6000"/>
            </a:avLst>
          </a:prstGeom>
          <a:solidFill>
            <a:srgbClr val="ECF0F5"/>
          </a:solidFill>
          <a:ln w="12700">
            <a:solidFill>
              <a:srgbClr val="DCE3EB"/>
            </a:solidFill>
            <a:prstDash val="solid"/>
          </a:ln>
        </p:spPr>
      </p:sp>
      <p:sp>
        <p:nvSpPr>
          <p:cNvPr id="19" name="Text 17"/>
          <p:cNvSpPr txBox="1"/>
          <p:nvPr/>
        </p:nvSpPr>
        <p:spPr>
          <a:xfrm>
            <a:off x="4572000" y="2423160"/>
            <a:ext cx="3017520" cy="292608"/>
          </a:xfrm>
          <a:prstGeom prst="rect">
            <a:avLst/>
          </a:prstGeom>
          <a:noFill/>
          <a:ln/>
        </p:spPr>
        <p:txBody>
          <a:bodyPr wrap="square" lIns="0" tIns="0" rIns="0" bIns="0" rtlCol="0" anchor="ctr"/>
          <a:lstStyle/>
          <a:p>
            <a:pPr algn="ctr" indent="0" marL="0">
              <a:buNone/>
            </a:pPr>
            <a:r>
              <a:rPr lang="en-US" sz="1200" b="1" dirty="0">
                <a:solidFill>
                  <a:srgbClr val="5C6B7A"/>
                </a:solidFill>
                <a:latin typeface="Arial" pitchFamily="34" charset="0"/>
                <a:ea typeface="Arial" pitchFamily="34" charset="-122"/>
                <a:cs typeface="Arial" pitchFamily="34" charset="-120"/>
              </a:rPr>
              <a:t>block 1</a:t>
            </a:r>
            <a:endParaRPr lang="en-US" sz="1200" dirty="0"/>
          </a:p>
        </p:txBody>
      </p:sp>
      <p:sp>
        <p:nvSpPr>
          <p:cNvPr id="20" name="Shape 18"/>
          <p:cNvSpPr/>
          <p:nvPr/>
        </p:nvSpPr>
        <p:spPr>
          <a:xfrm>
            <a:off x="4773168" y="2834640"/>
            <a:ext cx="566928" cy="658368"/>
          </a:xfrm>
          <a:prstGeom prst="roundRect">
            <a:avLst>
              <a:gd name="adj" fmla="val 9677"/>
            </a:avLst>
          </a:prstGeom>
          <a:solidFill>
            <a:srgbClr val="3DDC84"/>
          </a:solidFill>
          <a:ln w="12700">
            <a:solidFill>
              <a:srgbClr val="2FBF6F"/>
            </a:solidFill>
            <a:prstDash val="solid"/>
          </a:ln>
        </p:spPr>
      </p:sp>
      <p:sp>
        <p:nvSpPr>
          <p:cNvPr id="21" name="Text 19"/>
          <p:cNvSpPr txBox="1"/>
          <p:nvPr/>
        </p:nvSpPr>
        <p:spPr>
          <a:xfrm>
            <a:off x="4773168" y="2834640"/>
            <a:ext cx="566928" cy="292608"/>
          </a:xfrm>
          <a:prstGeom prst="rect">
            <a:avLst/>
          </a:prstGeom>
          <a:noFill/>
          <a:ln/>
        </p:spPr>
        <p:txBody>
          <a:bodyPr wrap="square" lIns="0" tIns="0" rIns="0" bIns="0" rtlCol="0" anchor="ctr"/>
          <a:lstStyle/>
          <a:p>
            <a:pPr algn="ctr" indent="0" marL="0">
              <a:buNone/>
            </a:pPr>
            <a:r>
              <a:rPr lang="en-US" sz="1000" dirty="0">
                <a:solidFill>
                  <a:srgbClr val="0E5A33"/>
                </a:solidFill>
                <a:latin typeface="Calibri" pitchFamily="34" charset="0"/>
                <a:ea typeface="Calibri" pitchFamily="34" charset="-122"/>
                <a:cs typeface="Calibri" pitchFamily="34" charset="-120"/>
              </a:rPr>
              <a:t>0</a:t>
            </a:r>
            <a:endParaRPr lang="en-US" sz="1000" dirty="0"/>
          </a:p>
        </p:txBody>
      </p:sp>
      <p:sp>
        <p:nvSpPr>
          <p:cNvPr id="22" name="Text 20"/>
          <p:cNvSpPr txBox="1"/>
          <p:nvPr/>
        </p:nvSpPr>
        <p:spPr>
          <a:xfrm>
            <a:off x="4773168" y="3063240"/>
            <a:ext cx="566928" cy="384048"/>
          </a:xfrm>
          <a:prstGeom prst="rect">
            <a:avLst/>
          </a:prstGeom>
          <a:noFill/>
          <a:ln/>
        </p:spPr>
        <p:txBody>
          <a:bodyPr wrap="square" lIns="0" tIns="0" rIns="0" bIns="0" rtlCol="0" anchor="ctr"/>
          <a:lstStyle/>
          <a:p>
            <a:pPr algn="ctr" indent="0" marL="0">
              <a:buNone/>
            </a:pPr>
            <a:r>
              <a:rPr lang="en-US" sz="1600" b="1" dirty="0">
                <a:solidFill>
                  <a:srgbClr val="12161C"/>
                </a:solidFill>
                <a:latin typeface="Arial" pitchFamily="34" charset="0"/>
                <a:ea typeface="Arial" pitchFamily="34" charset="-122"/>
                <a:cs typeface="Arial" pitchFamily="34" charset="-120"/>
              </a:rPr>
              <a:t>4</a:t>
            </a:r>
            <a:endParaRPr lang="en-US" sz="1600" dirty="0"/>
          </a:p>
        </p:txBody>
      </p:sp>
      <p:sp>
        <p:nvSpPr>
          <p:cNvPr id="23" name="Shape 21"/>
          <p:cNvSpPr/>
          <p:nvPr/>
        </p:nvSpPr>
        <p:spPr>
          <a:xfrm>
            <a:off x="5440680" y="2834640"/>
            <a:ext cx="566928" cy="658368"/>
          </a:xfrm>
          <a:prstGeom prst="roundRect">
            <a:avLst>
              <a:gd name="adj" fmla="val 9677"/>
            </a:avLst>
          </a:prstGeom>
          <a:solidFill>
            <a:srgbClr val="3DDC84"/>
          </a:solidFill>
          <a:ln w="12700">
            <a:solidFill>
              <a:srgbClr val="2FBF6F"/>
            </a:solidFill>
            <a:prstDash val="solid"/>
          </a:ln>
        </p:spPr>
      </p:sp>
      <p:sp>
        <p:nvSpPr>
          <p:cNvPr id="24" name="Text 22"/>
          <p:cNvSpPr txBox="1"/>
          <p:nvPr/>
        </p:nvSpPr>
        <p:spPr>
          <a:xfrm>
            <a:off x="5440680" y="2834640"/>
            <a:ext cx="566928" cy="292608"/>
          </a:xfrm>
          <a:prstGeom prst="rect">
            <a:avLst/>
          </a:prstGeom>
          <a:noFill/>
          <a:ln/>
        </p:spPr>
        <p:txBody>
          <a:bodyPr wrap="square" lIns="0" tIns="0" rIns="0" bIns="0" rtlCol="0" anchor="ctr"/>
          <a:lstStyle/>
          <a:p>
            <a:pPr algn="ctr" indent="0" marL="0">
              <a:buNone/>
            </a:pPr>
            <a:r>
              <a:rPr lang="en-US" sz="1000" dirty="0">
                <a:solidFill>
                  <a:srgbClr val="0E5A33"/>
                </a:solidFill>
                <a:latin typeface="Calibri" pitchFamily="34" charset="0"/>
                <a:ea typeface="Calibri" pitchFamily="34" charset="-122"/>
                <a:cs typeface="Calibri" pitchFamily="34" charset="-120"/>
              </a:rPr>
              <a:t>1</a:t>
            </a:r>
            <a:endParaRPr lang="en-US" sz="1000" dirty="0"/>
          </a:p>
        </p:txBody>
      </p:sp>
      <p:sp>
        <p:nvSpPr>
          <p:cNvPr id="25" name="Text 23"/>
          <p:cNvSpPr txBox="1"/>
          <p:nvPr/>
        </p:nvSpPr>
        <p:spPr>
          <a:xfrm>
            <a:off x="5440680" y="3063240"/>
            <a:ext cx="566928" cy="384048"/>
          </a:xfrm>
          <a:prstGeom prst="rect">
            <a:avLst/>
          </a:prstGeom>
          <a:noFill/>
          <a:ln/>
        </p:spPr>
        <p:txBody>
          <a:bodyPr wrap="square" lIns="0" tIns="0" rIns="0" bIns="0" rtlCol="0" anchor="ctr"/>
          <a:lstStyle/>
          <a:p>
            <a:pPr algn="ctr" indent="0" marL="0">
              <a:buNone/>
            </a:pPr>
            <a:r>
              <a:rPr lang="en-US" sz="1600" b="1" dirty="0">
                <a:solidFill>
                  <a:srgbClr val="12161C"/>
                </a:solidFill>
                <a:latin typeface="Arial" pitchFamily="34" charset="0"/>
                <a:ea typeface="Arial" pitchFamily="34" charset="-122"/>
                <a:cs typeface="Arial" pitchFamily="34" charset="-120"/>
              </a:rPr>
              <a:t>5</a:t>
            </a:r>
            <a:endParaRPr lang="en-US" sz="1600" dirty="0"/>
          </a:p>
        </p:txBody>
      </p:sp>
      <p:sp>
        <p:nvSpPr>
          <p:cNvPr id="26" name="Shape 24"/>
          <p:cNvSpPr/>
          <p:nvPr/>
        </p:nvSpPr>
        <p:spPr>
          <a:xfrm>
            <a:off x="6108192" y="2834640"/>
            <a:ext cx="566928" cy="658368"/>
          </a:xfrm>
          <a:prstGeom prst="roundRect">
            <a:avLst>
              <a:gd name="adj" fmla="val 9677"/>
            </a:avLst>
          </a:prstGeom>
          <a:solidFill>
            <a:srgbClr val="3DDC84"/>
          </a:solidFill>
          <a:ln w="12700">
            <a:solidFill>
              <a:srgbClr val="2FBF6F"/>
            </a:solidFill>
            <a:prstDash val="solid"/>
          </a:ln>
        </p:spPr>
      </p:sp>
      <p:sp>
        <p:nvSpPr>
          <p:cNvPr id="27" name="Text 25"/>
          <p:cNvSpPr txBox="1"/>
          <p:nvPr/>
        </p:nvSpPr>
        <p:spPr>
          <a:xfrm>
            <a:off x="6108192" y="2834640"/>
            <a:ext cx="566928" cy="292608"/>
          </a:xfrm>
          <a:prstGeom prst="rect">
            <a:avLst/>
          </a:prstGeom>
          <a:noFill/>
          <a:ln/>
        </p:spPr>
        <p:txBody>
          <a:bodyPr wrap="square" lIns="0" tIns="0" rIns="0" bIns="0" rtlCol="0" anchor="ctr"/>
          <a:lstStyle/>
          <a:p>
            <a:pPr algn="ctr" indent="0" marL="0">
              <a:buNone/>
            </a:pPr>
            <a:r>
              <a:rPr lang="en-US" sz="1000" dirty="0">
                <a:solidFill>
                  <a:srgbClr val="0E5A33"/>
                </a:solidFill>
                <a:latin typeface="Calibri" pitchFamily="34" charset="0"/>
                <a:ea typeface="Calibri" pitchFamily="34" charset="-122"/>
                <a:cs typeface="Calibri" pitchFamily="34" charset="-120"/>
              </a:rPr>
              <a:t>2</a:t>
            </a:r>
            <a:endParaRPr lang="en-US" sz="1000" dirty="0"/>
          </a:p>
        </p:txBody>
      </p:sp>
      <p:sp>
        <p:nvSpPr>
          <p:cNvPr id="28" name="Text 26"/>
          <p:cNvSpPr txBox="1"/>
          <p:nvPr/>
        </p:nvSpPr>
        <p:spPr>
          <a:xfrm>
            <a:off x="6108192" y="3063240"/>
            <a:ext cx="566928" cy="384048"/>
          </a:xfrm>
          <a:prstGeom prst="rect">
            <a:avLst/>
          </a:prstGeom>
          <a:noFill/>
          <a:ln/>
        </p:spPr>
        <p:txBody>
          <a:bodyPr wrap="square" lIns="0" tIns="0" rIns="0" bIns="0" rtlCol="0" anchor="ctr"/>
          <a:lstStyle/>
          <a:p>
            <a:pPr algn="ctr" indent="0" marL="0">
              <a:buNone/>
            </a:pPr>
            <a:r>
              <a:rPr lang="en-US" sz="1600" b="1" dirty="0">
                <a:solidFill>
                  <a:srgbClr val="12161C"/>
                </a:solidFill>
                <a:latin typeface="Arial" pitchFamily="34" charset="0"/>
                <a:ea typeface="Arial" pitchFamily="34" charset="-122"/>
                <a:cs typeface="Arial" pitchFamily="34" charset="-120"/>
              </a:rPr>
              <a:t>6</a:t>
            </a:r>
            <a:endParaRPr lang="en-US" sz="1600" dirty="0"/>
          </a:p>
        </p:txBody>
      </p:sp>
      <p:sp>
        <p:nvSpPr>
          <p:cNvPr id="29" name="Shape 27"/>
          <p:cNvSpPr/>
          <p:nvPr/>
        </p:nvSpPr>
        <p:spPr>
          <a:xfrm>
            <a:off x="6775704" y="2834640"/>
            <a:ext cx="566928" cy="658368"/>
          </a:xfrm>
          <a:prstGeom prst="roundRect">
            <a:avLst>
              <a:gd name="adj" fmla="val 9677"/>
            </a:avLst>
          </a:prstGeom>
          <a:solidFill>
            <a:srgbClr val="3DDC84"/>
          </a:solidFill>
          <a:ln w="12700">
            <a:solidFill>
              <a:srgbClr val="2FBF6F"/>
            </a:solidFill>
            <a:prstDash val="solid"/>
          </a:ln>
        </p:spPr>
      </p:sp>
      <p:sp>
        <p:nvSpPr>
          <p:cNvPr id="30" name="Text 28"/>
          <p:cNvSpPr txBox="1"/>
          <p:nvPr/>
        </p:nvSpPr>
        <p:spPr>
          <a:xfrm>
            <a:off x="6775704" y="2834640"/>
            <a:ext cx="566928" cy="292608"/>
          </a:xfrm>
          <a:prstGeom prst="rect">
            <a:avLst/>
          </a:prstGeom>
          <a:noFill/>
          <a:ln/>
        </p:spPr>
        <p:txBody>
          <a:bodyPr wrap="square" lIns="0" tIns="0" rIns="0" bIns="0" rtlCol="0" anchor="ctr"/>
          <a:lstStyle/>
          <a:p>
            <a:pPr algn="ctr" indent="0" marL="0">
              <a:buNone/>
            </a:pPr>
            <a:r>
              <a:rPr lang="en-US" sz="1000" dirty="0">
                <a:solidFill>
                  <a:srgbClr val="0E5A33"/>
                </a:solidFill>
                <a:latin typeface="Calibri" pitchFamily="34" charset="0"/>
                <a:ea typeface="Calibri" pitchFamily="34" charset="-122"/>
                <a:cs typeface="Calibri" pitchFamily="34" charset="-120"/>
              </a:rPr>
              <a:t>3</a:t>
            </a:r>
            <a:endParaRPr lang="en-US" sz="1000" dirty="0"/>
          </a:p>
        </p:txBody>
      </p:sp>
      <p:sp>
        <p:nvSpPr>
          <p:cNvPr id="31" name="Text 29"/>
          <p:cNvSpPr txBox="1"/>
          <p:nvPr/>
        </p:nvSpPr>
        <p:spPr>
          <a:xfrm>
            <a:off x="6775704" y="3063240"/>
            <a:ext cx="566928" cy="384048"/>
          </a:xfrm>
          <a:prstGeom prst="rect">
            <a:avLst/>
          </a:prstGeom>
          <a:noFill/>
          <a:ln/>
        </p:spPr>
        <p:txBody>
          <a:bodyPr wrap="square" lIns="0" tIns="0" rIns="0" bIns="0" rtlCol="0" anchor="ctr"/>
          <a:lstStyle/>
          <a:p>
            <a:pPr algn="ctr" indent="0" marL="0">
              <a:buNone/>
            </a:pPr>
            <a:r>
              <a:rPr lang="en-US" sz="1600" b="1" dirty="0">
                <a:solidFill>
                  <a:srgbClr val="12161C"/>
                </a:solidFill>
                <a:latin typeface="Arial" pitchFamily="34" charset="0"/>
                <a:ea typeface="Arial" pitchFamily="34" charset="-122"/>
                <a:cs typeface="Arial" pitchFamily="34" charset="-120"/>
              </a:rPr>
              <a:t>7</a:t>
            </a:r>
            <a:endParaRPr lang="en-US" sz="1600" dirty="0"/>
          </a:p>
        </p:txBody>
      </p:sp>
      <p:sp>
        <p:nvSpPr>
          <p:cNvPr id="32" name="Shape 30"/>
          <p:cNvSpPr/>
          <p:nvPr/>
        </p:nvSpPr>
        <p:spPr>
          <a:xfrm>
            <a:off x="8092440" y="2331720"/>
            <a:ext cx="3017520" cy="1371600"/>
          </a:xfrm>
          <a:prstGeom prst="roundRect">
            <a:avLst>
              <a:gd name="adj" fmla="val 6000"/>
            </a:avLst>
          </a:prstGeom>
          <a:solidFill>
            <a:srgbClr val="ECF0F5"/>
          </a:solidFill>
          <a:ln w="12700">
            <a:solidFill>
              <a:srgbClr val="DCE3EB"/>
            </a:solidFill>
            <a:prstDash val="solid"/>
          </a:ln>
        </p:spPr>
      </p:sp>
      <p:sp>
        <p:nvSpPr>
          <p:cNvPr id="33" name="Text 31"/>
          <p:cNvSpPr txBox="1"/>
          <p:nvPr/>
        </p:nvSpPr>
        <p:spPr>
          <a:xfrm>
            <a:off x="8092440" y="2423160"/>
            <a:ext cx="3017520" cy="292608"/>
          </a:xfrm>
          <a:prstGeom prst="rect">
            <a:avLst/>
          </a:prstGeom>
          <a:noFill/>
          <a:ln/>
        </p:spPr>
        <p:txBody>
          <a:bodyPr wrap="square" lIns="0" tIns="0" rIns="0" bIns="0" rtlCol="0" anchor="ctr"/>
          <a:lstStyle/>
          <a:p>
            <a:pPr algn="ctr" indent="0" marL="0">
              <a:buNone/>
            </a:pPr>
            <a:r>
              <a:rPr lang="en-US" sz="1200" b="1" dirty="0">
                <a:solidFill>
                  <a:srgbClr val="5C6B7A"/>
                </a:solidFill>
                <a:latin typeface="Arial" pitchFamily="34" charset="0"/>
                <a:ea typeface="Arial" pitchFamily="34" charset="-122"/>
                <a:cs typeface="Arial" pitchFamily="34" charset="-120"/>
              </a:rPr>
              <a:t>block 2</a:t>
            </a:r>
            <a:endParaRPr lang="en-US" sz="1200" dirty="0"/>
          </a:p>
        </p:txBody>
      </p:sp>
      <p:sp>
        <p:nvSpPr>
          <p:cNvPr id="34" name="Shape 32"/>
          <p:cNvSpPr/>
          <p:nvPr/>
        </p:nvSpPr>
        <p:spPr>
          <a:xfrm>
            <a:off x="8293608" y="2834640"/>
            <a:ext cx="566928" cy="658368"/>
          </a:xfrm>
          <a:prstGeom prst="roundRect">
            <a:avLst>
              <a:gd name="adj" fmla="val 9677"/>
            </a:avLst>
          </a:prstGeom>
          <a:solidFill>
            <a:srgbClr val="3DDC84"/>
          </a:solidFill>
          <a:ln w="12700">
            <a:solidFill>
              <a:srgbClr val="2FBF6F"/>
            </a:solidFill>
            <a:prstDash val="solid"/>
          </a:ln>
        </p:spPr>
      </p:sp>
      <p:sp>
        <p:nvSpPr>
          <p:cNvPr id="35" name="Text 33"/>
          <p:cNvSpPr txBox="1"/>
          <p:nvPr/>
        </p:nvSpPr>
        <p:spPr>
          <a:xfrm>
            <a:off x="8293608" y="2834640"/>
            <a:ext cx="566928" cy="292608"/>
          </a:xfrm>
          <a:prstGeom prst="rect">
            <a:avLst/>
          </a:prstGeom>
          <a:noFill/>
          <a:ln/>
        </p:spPr>
        <p:txBody>
          <a:bodyPr wrap="square" lIns="0" tIns="0" rIns="0" bIns="0" rtlCol="0" anchor="ctr"/>
          <a:lstStyle/>
          <a:p>
            <a:pPr algn="ctr" indent="0" marL="0">
              <a:buNone/>
            </a:pPr>
            <a:r>
              <a:rPr lang="en-US" sz="1000" dirty="0">
                <a:solidFill>
                  <a:srgbClr val="0E5A33"/>
                </a:solidFill>
                <a:latin typeface="Calibri" pitchFamily="34" charset="0"/>
                <a:ea typeface="Calibri" pitchFamily="34" charset="-122"/>
                <a:cs typeface="Calibri" pitchFamily="34" charset="-120"/>
              </a:rPr>
              <a:t>0</a:t>
            </a:r>
            <a:endParaRPr lang="en-US" sz="1000" dirty="0"/>
          </a:p>
        </p:txBody>
      </p:sp>
      <p:sp>
        <p:nvSpPr>
          <p:cNvPr id="36" name="Text 34"/>
          <p:cNvSpPr txBox="1"/>
          <p:nvPr/>
        </p:nvSpPr>
        <p:spPr>
          <a:xfrm>
            <a:off x="8293608" y="3063240"/>
            <a:ext cx="566928" cy="384048"/>
          </a:xfrm>
          <a:prstGeom prst="rect">
            <a:avLst/>
          </a:prstGeom>
          <a:noFill/>
          <a:ln/>
        </p:spPr>
        <p:txBody>
          <a:bodyPr wrap="square" lIns="0" tIns="0" rIns="0" bIns="0" rtlCol="0" anchor="ctr"/>
          <a:lstStyle/>
          <a:p>
            <a:pPr algn="ctr" indent="0" marL="0">
              <a:buNone/>
            </a:pPr>
            <a:r>
              <a:rPr lang="en-US" sz="1600" b="1" dirty="0">
                <a:solidFill>
                  <a:srgbClr val="12161C"/>
                </a:solidFill>
                <a:latin typeface="Arial" pitchFamily="34" charset="0"/>
                <a:ea typeface="Arial" pitchFamily="34" charset="-122"/>
                <a:cs typeface="Arial" pitchFamily="34" charset="-120"/>
              </a:rPr>
              <a:t>8</a:t>
            </a:r>
            <a:endParaRPr lang="en-US" sz="1600" dirty="0"/>
          </a:p>
        </p:txBody>
      </p:sp>
      <p:sp>
        <p:nvSpPr>
          <p:cNvPr id="37" name="Shape 35"/>
          <p:cNvSpPr/>
          <p:nvPr/>
        </p:nvSpPr>
        <p:spPr>
          <a:xfrm>
            <a:off x="8961120" y="2834640"/>
            <a:ext cx="566928" cy="658368"/>
          </a:xfrm>
          <a:prstGeom prst="roundRect">
            <a:avLst>
              <a:gd name="adj" fmla="val 9677"/>
            </a:avLst>
          </a:prstGeom>
          <a:solidFill>
            <a:srgbClr val="3DDC84"/>
          </a:solidFill>
          <a:ln w="12700">
            <a:solidFill>
              <a:srgbClr val="2FBF6F"/>
            </a:solidFill>
            <a:prstDash val="solid"/>
          </a:ln>
        </p:spPr>
      </p:sp>
      <p:sp>
        <p:nvSpPr>
          <p:cNvPr id="38" name="Text 36"/>
          <p:cNvSpPr txBox="1"/>
          <p:nvPr/>
        </p:nvSpPr>
        <p:spPr>
          <a:xfrm>
            <a:off x="8961120" y="2834640"/>
            <a:ext cx="566928" cy="292608"/>
          </a:xfrm>
          <a:prstGeom prst="rect">
            <a:avLst/>
          </a:prstGeom>
          <a:noFill/>
          <a:ln/>
        </p:spPr>
        <p:txBody>
          <a:bodyPr wrap="square" lIns="0" tIns="0" rIns="0" bIns="0" rtlCol="0" anchor="ctr"/>
          <a:lstStyle/>
          <a:p>
            <a:pPr algn="ctr" indent="0" marL="0">
              <a:buNone/>
            </a:pPr>
            <a:r>
              <a:rPr lang="en-US" sz="1000" dirty="0">
                <a:solidFill>
                  <a:srgbClr val="0E5A33"/>
                </a:solidFill>
                <a:latin typeface="Calibri" pitchFamily="34" charset="0"/>
                <a:ea typeface="Calibri" pitchFamily="34" charset="-122"/>
                <a:cs typeface="Calibri" pitchFamily="34" charset="-120"/>
              </a:rPr>
              <a:t>1</a:t>
            </a:r>
            <a:endParaRPr lang="en-US" sz="1000" dirty="0"/>
          </a:p>
        </p:txBody>
      </p:sp>
      <p:sp>
        <p:nvSpPr>
          <p:cNvPr id="39" name="Text 37"/>
          <p:cNvSpPr txBox="1"/>
          <p:nvPr/>
        </p:nvSpPr>
        <p:spPr>
          <a:xfrm>
            <a:off x="8961120" y="3063240"/>
            <a:ext cx="566928" cy="384048"/>
          </a:xfrm>
          <a:prstGeom prst="rect">
            <a:avLst/>
          </a:prstGeom>
          <a:noFill/>
          <a:ln/>
        </p:spPr>
        <p:txBody>
          <a:bodyPr wrap="square" lIns="0" tIns="0" rIns="0" bIns="0" rtlCol="0" anchor="ctr"/>
          <a:lstStyle/>
          <a:p>
            <a:pPr algn="ctr" indent="0" marL="0">
              <a:buNone/>
            </a:pPr>
            <a:r>
              <a:rPr lang="en-US" sz="1600" b="1" dirty="0">
                <a:solidFill>
                  <a:srgbClr val="12161C"/>
                </a:solidFill>
                <a:latin typeface="Arial" pitchFamily="34" charset="0"/>
                <a:ea typeface="Arial" pitchFamily="34" charset="-122"/>
                <a:cs typeface="Arial" pitchFamily="34" charset="-120"/>
              </a:rPr>
              <a:t>9</a:t>
            </a:r>
            <a:endParaRPr lang="en-US" sz="1600" dirty="0"/>
          </a:p>
        </p:txBody>
      </p:sp>
      <p:sp>
        <p:nvSpPr>
          <p:cNvPr id="40" name="Shape 38"/>
          <p:cNvSpPr/>
          <p:nvPr/>
        </p:nvSpPr>
        <p:spPr>
          <a:xfrm>
            <a:off x="9628632" y="2834640"/>
            <a:ext cx="566928" cy="658368"/>
          </a:xfrm>
          <a:prstGeom prst="roundRect">
            <a:avLst>
              <a:gd name="adj" fmla="val 9677"/>
            </a:avLst>
          </a:prstGeom>
          <a:solidFill>
            <a:srgbClr val="3DDC84"/>
          </a:solidFill>
          <a:ln w="12700">
            <a:solidFill>
              <a:srgbClr val="2FBF6F"/>
            </a:solidFill>
            <a:prstDash val="solid"/>
          </a:ln>
        </p:spPr>
      </p:sp>
      <p:sp>
        <p:nvSpPr>
          <p:cNvPr id="41" name="Text 39"/>
          <p:cNvSpPr txBox="1"/>
          <p:nvPr/>
        </p:nvSpPr>
        <p:spPr>
          <a:xfrm>
            <a:off x="9628632" y="2834640"/>
            <a:ext cx="566928" cy="292608"/>
          </a:xfrm>
          <a:prstGeom prst="rect">
            <a:avLst/>
          </a:prstGeom>
          <a:noFill/>
          <a:ln/>
        </p:spPr>
        <p:txBody>
          <a:bodyPr wrap="square" lIns="0" tIns="0" rIns="0" bIns="0" rtlCol="0" anchor="ctr"/>
          <a:lstStyle/>
          <a:p>
            <a:pPr algn="ctr" indent="0" marL="0">
              <a:buNone/>
            </a:pPr>
            <a:r>
              <a:rPr lang="en-US" sz="1000" dirty="0">
                <a:solidFill>
                  <a:srgbClr val="0E5A33"/>
                </a:solidFill>
                <a:latin typeface="Calibri" pitchFamily="34" charset="0"/>
                <a:ea typeface="Calibri" pitchFamily="34" charset="-122"/>
                <a:cs typeface="Calibri" pitchFamily="34" charset="-120"/>
              </a:rPr>
              <a:t>2</a:t>
            </a:r>
            <a:endParaRPr lang="en-US" sz="1000" dirty="0"/>
          </a:p>
        </p:txBody>
      </p:sp>
      <p:sp>
        <p:nvSpPr>
          <p:cNvPr id="42" name="Text 40"/>
          <p:cNvSpPr txBox="1"/>
          <p:nvPr/>
        </p:nvSpPr>
        <p:spPr>
          <a:xfrm>
            <a:off x="9628632" y="3063240"/>
            <a:ext cx="566928" cy="384048"/>
          </a:xfrm>
          <a:prstGeom prst="rect">
            <a:avLst/>
          </a:prstGeom>
          <a:noFill/>
          <a:ln/>
        </p:spPr>
        <p:txBody>
          <a:bodyPr wrap="square" lIns="0" tIns="0" rIns="0" bIns="0" rtlCol="0" anchor="ctr"/>
          <a:lstStyle/>
          <a:p>
            <a:pPr algn="ctr" indent="0" marL="0">
              <a:buNone/>
            </a:pPr>
            <a:r>
              <a:rPr lang="en-US" sz="1600" b="1" dirty="0">
                <a:solidFill>
                  <a:srgbClr val="12161C"/>
                </a:solidFill>
                <a:latin typeface="Arial" pitchFamily="34" charset="0"/>
                <a:ea typeface="Arial" pitchFamily="34" charset="-122"/>
                <a:cs typeface="Arial" pitchFamily="34" charset="-120"/>
              </a:rPr>
              <a:t>10</a:t>
            </a:r>
            <a:endParaRPr lang="en-US" sz="1600" dirty="0"/>
          </a:p>
        </p:txBody>
      </p:sp>
      <p:sp>
        <p:nvSpPr>
          <p:cNvPr id="43" name="Shape 41"/>
          <p:cNvSpPr/>
          <p:nvPr/>
        </p:nvSpPr>
        <p:spPr>
          <a:xfrm>
            <a:off x="10296144" y="2834640"/>
            <a:ext cx="566928" cy="658368"/>
          </a:xfrm>
          <a:prstGeom prst="roundRect">
            <a:avLst>
              <a:gd name="adj" fmla="val 9677"/>
            </a:avLst>
          </a:prstGeom>
          <a:solidFill>
            <a:srgbClr val="3DDC84"/>
          </a:solidFill>
          <a:ln w="12700">
            <a:solidFill>
              <a:srgbClr val="2FBF6F"/>
            </a:solidFill>
            <a:prstDash val="solid"/>
          </a:ln>
        </p:spPr>
      </p:sp>
      <p:sp>
        <p:nvSpPr>
          <p:cNvPr id="44" name="Text 42"/>
          <p:cNvSpPr txBox="1"/>
          <p:nvPr/>
        </p:nvSpPr>
        <p:spPr>
          <a:xfrm>
            <a:off x="10296144" y="2834640"/>
            <a:ext cx="566928" cy="292608"/>
          </a:xfrm>
          <a:prstGeom prst="rect">
            <a:avLst/>
          </a:prstGeom>
          <a:noFill/>
          <a:ln/>
        </p:spPr>
        <p:txBody>
          <a:bodyPr wrap="square" lIns="0" tIns="0" rIns="0" bIns="0" rtlCol="0" anchor="ctr"/>
          <a:lstStyle/>
          <a:p>
            <a:pPr algn="ctr" indent="0" marL="0">
              <a:buNone/>
            </a:pPr>
            <a:r>
              <a:rPr lang="en-US" sz="1000" dirty="0">
                <a:solidFill>
                  <a:srgbClr val="0E5A33"/>
                </a:solidFill>
                <a:latin typeface="Calibri" pitchFamily="34" charset="0"/>
                <a:ea typeface="Calibri" pitchFamily="34" charset="-122"/>
                <a:cs typeface="Calibri" pitchFamily="34" charset="-120"/>
              </a:rPr>
              <a:t>3</a:t>
            </a:r>
            <a:endParaRPr lang="en-US" sz="1000" dirty="0"/>
          </a:p>
        </p:txBody>
      </p:sp>
      <p:sp>
        <p:nvSpPr>
          <p:cNvPr id="45" name="Text 43"/>
          <p:cNvSpPr txBox="1"/>
          <p:nvPr/>
        </p:nvSpPr>
        <p:spPr>
          <a:xfrm>
            <a:off x="10296144" y="3063240"/>
            <a:ext cx="566928" cy="384048"/>
          </a:xfrm>
          <a:prstGeom prst="rect">
            <a:avLst/>
          </a:prstGeom>
          <a:noFill/>
          <a:ln/>
        </p:spPr>
        <p:txBody>
          <a:bodyPr wrap="square" lIns="0" tIns="0" rIns="0" bIns="0" rtlCol="0" anchor="ctr"/>
          <a:lstStyle/>
          <a:p>
            <a:pPr algn="ctr" indent="0" marL="0">
              <a:buNone/>
            </a:pPr>
            <a:r>
              <a:rPr lang="en-US" sz="1600" b="1" dirty="0">
                <a:solidFill>
                  <a:srgbClr val="12161C"/>
                </a:solidFill>
                <a:latin typeface="Arial" pitchFamily="34" charset="0"/>
                <a:ea typeface="Arial" pitchFamily="34" charset="-122"/>
                <a:cs typeface="Arial" pitchFamily="34" charset="-120"/>
              </a:rPr>
              <a:t>11</a:t>
            </a:r>
            <a:endParaRPr lang="en-US" sz="1600" dirty="0"/>
          </a:p>
        </p:txBody>
      </p:sp>
      <p:sp>
        <p:nvSpPr>
          <p:cNvPr id="46" name="Text 44"/>
          <p:cNvSpPr txBox="1"/>
          <p:nvPr/>
        </p:nvSpPr>
        <p:spPr>
          <a:xfrm>
            <a:off x="640080" y="3840480"/>
            <a:ext cx="10881360" cy="320040"/>
          </a:xfrm>
          <a:prstGeom prst="rect">
            <a:avLst/>
          </a:prstGeom>
          <a:noFill/>
          <a:ln/>
        </p:spPr>
        <p:txBody>
          <a:bodyPr wrap="square" lIns="0" tIns="0" rIns="0" bIns="0" rtlCol="0" anchor="ctr"/>
          <a:lstStyle/>
          <a:p>
            <a:pPr algn="ctr" indent="0" marL="0">
              <a:buNone/>
            </a:pPr>
            <a:r>
              <a:rPr lang="en-US" sz="1300" b="1" dirty="0">
                <a:solidFill>
                  <a:srgbClr val="12161C"/>
                </a:solidFill>
                <a:latin typeface="Calibri" pitchFamily="34" charset="0"/>
                <a:ea typeface="Calibri" pitchFamily="34" charset="-122"/>
                <a:cs typeface="Calibri" pitchFamily="34" charset="-120"/>
              </a:rPr>
              <a:t>small number</a:t>
            </a:r>
            <a:pPr algn="ctr" indent="0" marL="0">
              <a:buNone/>
            </a:pPr>
            <a:r>
              <a:rPr lang="en-US" sz="1300" dirty="0">
                <a:solidFill>
                  <a:srgbClr val="5C6B7A"/>
                </a:solidFill>
                <a:latin typeface="Calibri" pitchFamily="34" charset="0"/>
                <a:ea typeface="Calibri" pitchFamily="34" charset="-122"/>
                <a:cs typeface="Calibri" pitchFamily="34" charset="-120"/>
              </a:rPr>
              <a:t> = threadIdx.x, my seat inside my block          </a:t>
            </a:r>
            <a:pPr algn="ctr" indent="0" marL="0">
              <a:buNone/>
            </a:pPr>
            <a:r>
              <a:rPr lang="en-US" sz="1300" b="1" dirty="0">
                <a:solidFill>
                  <a:srgbClr val="12161C"/>
                </a:solidFill>
                <a:latin typeface="Calibri" pitchFamily="34" charset="0"/>
                <a:ea typeface="Calibri" pitchFamily="34" charset="-122"/>
                <a:cs typeface="Calibri" pitchFamily="34" charset="-120"/>
              </a:rPr>
              <a:t>large number</a:t>
            </a:r>
            <a:pPr algn="ctr" indent="0" marL="0">
              <a:buNone/>
            </a:pPr>
            <a:r>
              <a:rPr lang="en-US" sz="1300" dirty="0">
                <a:solidFill>
                  <a:srgbClr val="5C6B7A"/>
                </a:solidFill>
                <a:latin typeface="Calibri" pitchFamily="34" charset="0"/>
                <a:ea typeface="Calibri" pitchFamily="34" charset="-122"/>
                <a:cs typeface="Calibri" pitchFamily="34" charset="-120"/>
              </a:rPr>
              <a:t> = the one we actually want: 0 to 11, once each</a:t>
            </a:r>
            <a:endParaRPr lang="en-US" sz="1300" dirty="0"/>
          </a:p>
        </p:txBody>
      </p:sp>
      <p:sp>
        <p:nvSpPr>
          <p:cNvPr id="47" name="Text 45"/>
          <p:cNvSpPr txBox="1"/>
          <p:nvPr/>
        </p:nvSpPr>
        <p:spPr>
          <a:xfrm>
            <a:off x="640080" y="4343400"/>
            <a:ext cx="10881360" cy="566928"/>
          </a:xfrm>
          <a:prstGeom prst="rect">
            <a:avLst/>
          </a:prstGeom>
          <a:solidFill>
            <a:srgbClr val="12161C"/>
          </a:solidFill>
          <a:ln/>
        </p:spPr>
        <p:txBody>
          <a:bodyPr wrap="square" lIns="152400" tIns="152400" rIns="152400" bIns="152400" rtlCol="0" anchor="ctr"/>
          <a:lstStyle/>
          <a:p>
            <a:pPr algn="l" indent="0" marL="0">
              <a:lnSpc>
                <a:spcPct val="120000"/>
              </a:lnSpc>
              <a:buNone/>
            </a:pPr>
            <a:r>
              <a:rPr lang="en-US" sz="1800" dirty="0">
                <a:solidFill>
                  <a:srgbClr val="F5F7FA"/>
                </a:solidFill>
                <a:latin typeface="Courier New" pitchFamily="34" charset="0"/>
                <a:ea typeface="Courier New" pitchFamily="34" charset="-122"/>
                <a:cs typeface="Courier New" pitchFamily="34" charset="-120"/>
              </a:rPr>
              <a:t>int col = blockIdx.x * blockDim.x + threadIdx.x;</a:t>
            </a:r>
            <a:endParaRPr lang="en-US" sz="1800" dirty="0"/>
          </a:p>
        </p:txBody>
      </p:sp>
      <p:sp>
        <p:nvSpPr>
          <p:cNvPr id="48" name="Text 46"/>
          <p:cNvSpPr txBox="1"/>
          <p:nvPr/>
        </p:nvSpPr>
        <p:spPr>
          <a:xfrm>
            <a:off x="640080" y="5120640"/>
            <a:ext cx="10911535" cy="731520"/>
          </a:xfrm>
          <a:prstGeom prst="rect">
            <a:avLst/>
          </a:prstGeom>
          <a:noFill/>
          <a:ln/>
        </p:spPr>
        <p:txBody>
          <a:bodyPr wrap="square" lIns="0" tIns="0" rIns="0" bIns="0" rtlCol="0" anchor="ctr"/>
          <a:lstStyle/>
          <a:p>
            <a:pPr algn="l" indent="0" marL="0">
              <a:lnSpc>
                <a:spcPct val="115000"/>
              </a:lnSpc>
              <a:buNone/>
            </a:pPr>
            <a:r>
              <a:rPr lang="en-US" sz="1600" dirty="0">
                <a:solidFill>
                  <a:srgbClr val="12161C"/>
                </a:solidFill>
                <a:latin typeface="Calibri" pitchFamily="34" charset="0"/>
                <a:ea typeface="Calibri" pitchFamily="34" charset="-122"/>
                <a:cs typeface="Calibri" pitchFamily="34" charset="-120"/>
              </a:rPr>
              <a:t>“Skip past all the blocks in front of me, then add my own seat.”  Do it once for across (x) and once for down (y), and a thread knows its pixel.</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algn="l" indent="0" marL="0">
              <a:buNone/>
            </a:pPr>
            <a:r>
              <a:rPr lang="en-US" sz="3400" b="1" dirty="0">
                <a:solidFill>
                  <a:srgbClr val="12161C"/>
                </a:solidFill>
                <a:latin typeface="Arial" pitchFamily="34" charset="0"/>
                <a:ea typeface="Arial" pitchFamily="34" charset="-122"/>
                <a:cs typeface="Arial" pitchFamily="34" charset="-120"/>
              </a:rPr>
              <a:t>And a photo is just one long line of numbers</a:t>
            </a:r>
            <a:endParaRPr lang="en-US" sz="3400" dirty="0"/>
          </a:p>
        </p:txBody>
      </p:sp>
      <p:sp>
        <p:nvSpPr>
          <p:cNvPr id="3" name="Text 1"/>
          <p:cNvSpPr txBox="1"/>
          <p:nvPr/>
        </p:nvSpPr>
        <p:spPr>
          <a:xfrm>
            <a:off x="640080" y="1234440"/>
            <a:ext cx="10911535" cy="548640"/>
          </a:xfrm>
          <a:prstGeom prst="rect">
            <a:avLst/>
          </a:prstGeom>
          <a:noFill/>
          <a:ln/>
        </p:spPr>
        <p:txBody>
          <a:bodyPr wrap="square" lIns="0" tIns="0" rIns="0" bIns="0" rtlCol="0" anchor="ctr"/>
          <a:lstStyle/>
          <a:p>
            <a:pPr algn="l" indent="0" marL="0">
              <a:lnSpc>
                <a:spcPct val="115000"/>
              </a:lnSpc>
              <a:buNone/>
            </a:pPr>
            <a:r>
              <a:rPr lang="en-US" sz="1600" dirty="0">
                <a:solidFill>
                  <a:srgbClr val="5C6B7A"/>
                </a:solidFill>
                <a:latin typeface="Calibri" pitchFamily="34" charset="0"/>
                <a:ea typeface="Calibri" pitchFamily="34" charset="-122"/>
                <a:cs typeface="Calibri" pitchFamily="34" charset="-120"/>
              </a:rPr>
              <a:t>There is no grid in memory. Every row is laid end to end, and every pixel is three bytes: red, green, blue.</a:t>
            </a:r>
            <a:endParaRPr lang="en-US" sz="1600" dirty="0"/>
          </a:p>
        </p:txBody>
      </p:sp>
      <p:sp>
        <p:nvSpPr>
          <p:cNvPr id="4" name="Text 2"/>
          <p:cNvSpPr txBox="1"/>
          <p:nvPr/>
        </p:nvSpPr>
        <p:spPr>
          <a:xfrm>
            <a:off x="640080" y="1920240"/>
            <a:ext cx="2414016" cy="292608"/>
          </a:xfrm>
          <a:prstGeom prst="rect">
            <a:avLst/>
          </a:prstGeom>
          <a:noFill/>
          <a:ln/>
        </p:spPr>
        <p:txBody>
          <a:bodyPr wrap="square" lIns="0" tIns="0" rIns="0" bIns="0" rtlCol="0" anchor="ctr"/>
          <a:lstStyle/>
          <a:p>
            <a:pPr algn="ctr" indent="0" marL="0">
              <a:buNone/>
            </a:pPr>
            <a:r>
              <a:rPr lang="en-US" sz="1200" b="1" dirty="0">
                <a:solidFill>
                  <a:srgbClr val="5C6B7A"/>
                </a:solidFill>
                <a:latin typeface="Arial" pitchFamily="34" charset="0"/>
                <a:ea typeface="Arial" pitchFamily="34" charset="-122"/>
                <a:cs typeface="Arial" pitchFamily="34" charset="-120"/>
              </a:rPr>
              <a:t>row 0</a:t>
            </a:r>
            <a:endParaRPr lang="en-US" sz="1200" dirty="0"/>
          </a:p>
        </p:txBody>
      </p:sp>
      <p:sp>
        <p:nvSpPr>
          <p:cNvPr id="5" name="Shape 3"/>
          <p:cNvSpPr/>
          <p:nvPr/>
        </p:nvSpPr>
        <p:spPr>
          <a:xfrm>
            <a:off x="640080" y="2240280"/>
            <a:ext cx="2414016" cy="0"/>
          </a:xfrm>
          <a:prstGeom prst="line">
            <a:avLst/>
          </a:prstGeom>
          <a:noFill/>
          <a:ln w="25400">
            <a:solidFill>
              <a:srgbClr val="DCE3EB"/>
            </a:solidFill>
            <a:prstDash val="solid"/>
          </a:ln>
        </p:spPr>
      </p:sp>
      <p:sp>
        <p:nvSpPr>
          <p:cNvPr id="6" name="Shape 4"/>
          <p:cNvSpPr/>
          <p:nvPr/>
        </p:nvSpPr>
        <p:spPr>
          <a:xfrm>
            <a:off x="640080" y="2331720"/>
            <a:ext cx="402336" cy="658368"/>
          </a:xfrm>
          <a:prstGeom prst="rect">
            <a:avLst/>
          </a:prstGeom>
          <a:solidFill>
            <a:srgbClr val="E98C82"/>
          </a:solidFill>
          <a:ln w="25400">
            <a:solidFill>
              <a:srgbClr val="FFFFFF"/>
            </a:solidFill>
            <a:prstDash val="solid"/>
          </a:ln>
        </p:spPr>
      </p:sp>
      <p:sp>
        <p:nvSpPr>
          <p:cNvPr id="7" name="Text 5"/>
          <p:cNvSpPr txBox="1"/>
          <p:nvPr/>
        </p:nvSpPr>
        <p:spPr>
          <a:xfrm>
            <a:off x="640080" y="2331720"/>
            <a:ext cx="402336" cy="658368"/>
          </a:xfrm>
          <a:prstGeom prst="rect">
            <a:avLst/>
          </a:prstGeom>
          <a:noFill/>
          <a:ln/>
        </p:spPr>
        <p:txBody>
          <a:bodyPr wrap="square" lIns="0" tIns="0" rIns="0" bIns="0" rtlCol="0" anchor="ctr"/>
          <a:lstStyle/>
          <a:p>
            <a:pPr algn="ctr" indent="0" marL="0">
              <a:buNone/>
            </a:pPr>
            <a:r>
              <a:rPr lang="en-US" sz="1200" dirty="0">
                <a:solidFill>
                  <a:srgbClr val="12161C"/>
                </a:solidFill>
                <a:latin typeface="Calibri" pitchFamily="34" charset="0"/>
                <a:ea typeface="Calibri" pitchFamily="34" charset="-122"/>
                <a:cs typeface="Calibri" pitchFamily="34" charset="-120"/>
              </a:rPr>
              <a:t>R</a:t>
            </a:r>
            <a:endParaRPr lang="en-US" sz="1200" dirty="0"/>
          </a:p>
        </p:txBody>
      </p:sp>
      <p:sp>
        <p:nvSpPr>
          <p:cNvPr id="8" name="Shape 6"/>
          <p:cNvSpPr/>
          <p:nvPr/>
        </p:nvSpPr>
        <p:spPr>
          <a:xfrm>
            <a:off x="1042416" y="2331720"/>
            <a:ext cx="402336" cy="658368"/>
          </a:xfrm>
          <a:prstGeom prst="rect">
            <a:avLst/>
          </a:prstGeom>
          <a:solidFill>
            <a:srgbClr val="8AC79B"/>
          </a:solidFill>
          <a:ln w="25400">
            <a:solidFill>
              <a:srgbClr val="FFFFFF"/>
            </a:solidFill>
            <a:prstDash val="solid"/>
          </a:ln>
        </p:spPr>
      </p:sp>
      <p:sp>
        <p:nvSpPr>
          <p:cNvPr id="9" name="Text 7"/>
          <p:cNvSpPr txBox="1"/>
          <p:nvPr/>
        </p:nvSpPr>
        <p:spPr>
          <a:xfrm>
            <a:off x="1042416" y="2331720"/>
            <a:ext cx="402336" cy="658368"/>
          </a:xfrm>
          <a:prstGeom prst="rect">
            <a:avLst/>
          </a:prstGeom>
          <a:noFill/>
          <a:ln/>
        </p:spPr>
        <p:txBody>
          <a:bodyPr wrap="square" lIns="0" tIns="0" rIns="0" bIns="0" rtlCol="0" anchor="ctr"/>
          <a:lstStyle/>
          <a:p>
            <a:pPr algn="ctr" indent="0" marL="0">
              <a:buNone/>
            </a:pPr>
            <a:r>
              <a:rPr lang="en-US" sz="1200" dirty="0">
                <a:solidFill>
                  <a:srgbClr val="12161C"/>
                </a:solidFill>
                <a:latin typeface="Calibri" pitchFamily="34" charset="0"/>
                <a:ea typeface="Calibri" pitchFamily="34" charset="-122"/>
                <a:cs typeface="Calibri" pitchFamily="34" charset="-120"/>
              </a:rPr>
              <a:t>G</a:t>
            </a:r>
            <a:endParaRPr lang="en-US" sz="1200" dirty="0"/>
          </a:p>
        </p:txBody>
      </p:sp>
      <p:sp>
        <p:nvSpPr>
          <p:cNvPr id="10" name="Shape 8"/>
          <p:cNvSpPr/>
          <p:nvPr/>
        </p:nvSpPr>
        <p:spPr>
          <a:xfrm>
            <a:off x="1444752" y="2331720"/>
            <a:ext cx="402336" cy="658368"/>
          </a:xfrm>
          <a:prstGeom prst="rect">
            <a:avLst/>
          </a:prstGeom>
          <a:solidFill>
            <a:srgbClr val="8FAAD9"/>
          </a:solidFill>
          <a:ln w="25400">
            <a:solidFill>
              <a:srgbClr val="FFFFFF"/>
            </a:solidFill>
            <a:prstDash val="solid"/>
          </a:ln>
        </p:spPr>
      </p:sp>
      <p:sp>
        <p:nvSpPr>
          <p:cNvPr id="11" name="Text 9"/>
          <p:cNvSpPr txBox="1"/>
          <p:nvPr/>
        </p:nvSpPr>
        <p:spPr>
          <a:xfrm>
            <a:off x="1444752" y="2331720"/>
            <a:ext cx="402336" cy="658368"/>
          </a:xfrm>
          <a:prstGeom prst="rect">
            <a:avLst/>
          </a:prstGeom>
          <a:noFill/>
          <a:ln/>
        </p:spPr>
        <p:txBody>
          <a:bodyPr wrap="square" lIns="0" tIns="0" rIns="0" bIns="0" rtlCol="0" anchor="ctr"/>
          <a:lstStyle/>
          <a:p>
            <a:pPr algn="ctr" indent="0" marL="0">
              <a:buNone/>
            </a:pPr>
            <a:r>
              <a:rPr lang="en-US" sz="1200" dirty="0">
                <a:solidFill>
                  <a:srgbClr val="12161C"/>
                </a:solidFill>
                <a:latin typeface="Calibri" pitchFamily="34" charset="0"/>
                <a:ea typeface="Calibri" pitchFamily="34" charset="-122"/>
                <a:cs typeface="Calibri" pitchFamily="34" charset="-120"/>
              </a:rPr>
              <a:t>B</a:t>
            </a:r>
            <a:endParaRPr lang="en-US" sz="1200" dirty="0"/>
          </a:p>
        </p:txBody>
      </p:sp>
      <p:sp>
        <p:nvSpPr>
          <p:cNvPr id="12" name="Text 10"/>
          <p:cNvSpPr txBox="1"/>
          <p:nvPr/>
        </p:nvSpPr>
        <p:spPr>
          <a:xfrm>
            <a:off x="640080" y="3044952"/>
            <a:ext cx="1207008" cy="256032"/>
          </a:xfrm>
          <a:prstGeom prst="rect">
            <a:avLst/>
          </a:prstGeom>
          <a:noFill/>
          <a:ln/>
        </p:spPr>
        <p:txBody>
          <a:bodyPr wrap="square" lIns="0" tIns="0" rIns="0" bIns="0" rtlCol="0" anchor="ctr"/>
          <a:lstStyle/>
          <a:p>
            <a:pPr algn="ctr" indent="0" marL="0">
              <a:buNone/>
            </a:pPr>
            <a:r>
              <a:rPr lang="en-US" sz="1100" dirty="0">
                <a:solidFill>
                  <a:srgbClr val="5C6B7A"/>
                </a:solidFill>
                <a:latin typeface="Calibri" pitchFamily="34" charset="0"/>
                <a:ea typeface="Calibri" pitchFamily="34" charset="-122"/>
                <a:cs typeface="Calibri" pitchFamily="34" charset="-120"/>
              </a:rPr>
              <a:t>pixel (0,0)</a:t>
            </a:r>
            <a:endParaRPr lang="en-US" sz="1100" dirty="0"/>
          </a:p>
        </p:txBody>
      </p:sp>
      <p:sp>
        <p:nvSpPr>
          <p:cNvPr id="13" name="Shape 11"/>
          <p:cNvSpPr/>
          <p:nvPr/>
        </p:nvSpPr>
        <p:spPr>
          <a:xfrm>
            <a:off x="1847088" y="2331720"/>
            <a:ext cx="402336" cy="658368"/>
          </a:xfrm>
          <a:prstGeom prst="rect">
            <a:avLst/>
          </a:prstGeom>
          <a:solidFill>
            <a:srgbClr val="E98C82"/>
          </a:solidFill>
          <a:ln w="25400">
            <a:solidFill>
              <a:srgbClr val="FFFFFF"/>
            </a:solidFill>
            <a:prstDash val="solid"/>
          </a:ln>
        </p:spPr>
      </p:sp>
      <p:sp>
        <p:nvSpPr>
          <p:cNvPr id="14" name="Text 12"/>
          <p:cNvSpPr txBox="1"/>
          <p:nvPr/>
        </p:nvSpPr>
        <p:spPr>
          <a:xfrm>
            <a:off x="1847088" y="2331720"/>
            <a:ext cx="402336" cy="658368"/>
          </a:xfrm>
          <a:prstGeom prst="rect">
            <a:avLst/>
          </a:prstGeom>
          <a:noFill/>
          <a:ln/>
        </p:spPr>
        <p:txBody>
          <a:bodyPr wrap="square" lIns="0" tIns="0" rIns="0" bIns="0" rtlCol="0" anchor="ctr"/>
          <a:lstStyle/>
          <a:p>
            <a:pPr algn="ctr" indent="0" marL="0">
              <a:buNone/>
            </a:pPr>
            <a:r>
              <a:rPr lang="en-US" sz="1200" dirty="0">
                <a:solidFill>
                  <a:srgbClr val="12161C"/>
                </a:solidFill>
                <a:latin typeface="Calibri" pitchFamily="34" charset="0"/>
                <a:ea typeface="Calibri" pitchFamily="34" charset="-122"/>
                <a:cs typeface="Calibri" pitchFamily="34" charset="-120"/>
              </a:rPr>
              <a:t>R</a:t>
            </a:r>
            <a:endParaRPr lang="en-US" sz="1200" dirty="0"/>
          </a:p>
        </p:txBody>
      </p:sp>
      <p:sp>
        <p:nvSpPr>
          <p:cNvPr id="15" name="Shape 13"/>
          <p:cNvSpPr/>
          <p:nvPr/>
        </p:nvSpPr>
        <p:spPr>
          <a:xfrm>
            <a:off x="2249424" y="2331720"/>
            <a:ext cx="402336" cy="658368"/>
          </a:xfrm>
          <a:prstGeom prst="rect">
            <a:avLst/>
          </a:prstGeom>
          <a:solidFill>
            <a:srgbClr val="8AC79B"/>
          </a:solidFill>
          <a:ln w="25400">
            <a:solidFill>
              <a:srgbClr val="FFFFFF"/>
            </a:solidFill>
            <a:prstDash val="solid"/>
          </a:ln>
        </p:spPr>
      </p:sp>
      <p:sp>
        <p:nvSpPr>
          <p:cNvPr id="16" name="Text 14"/>
          <p:cNvSpPr txBox="1"/>
          <p:nvPr/>
        </p:nvSpPr>
        <p:spPr>
          <a:xfrm>
            <a:off x="2249424" y="2331720"/>
            <a:ext cx="402336" cy="658368"/>
          </a:xfrm>
          <a:prstGeom prst="rect">
            <a:avLst/>
          </a:prstGeom>
          <a:noFill/>
          <a:ln/>
        </p:spPr>
        <p:txBody>
          <a:bodyPr wrap="square" lIns="0" tIns="0" rIns="0" bIns="0" rtlCol="0" anchor="ctr"/>
          <a:lstStyle/>
          <a:p>
            <a:pPr algn="ctr" indent="0" marL="0">
              <a:buNone/>
            </a:pPr>
            <a:r>
              <a:rPr lang="en-US" sz="1200" dirty="0">
                <a:solidFill>
                  <a:srgbClr val="12161C"/>
                </a:solidFill>
                <a:latin typeface="Calibri" pitchFamily="34" charset="0"/>
                <a:ea typeface="Calibri" pitchFamily="34" charset="-122"/>
                <a:cs typeface="Calibri" pitchFamily="34" charset="-120"/>
              </a:rPr>
              <a:t>G</a:t>
            </a:r>
            <a:endParaRPr lang="en-US" sz="1200" dirty="0"/>
          </a:p>
        </p:txBody>
      </p:sp>
      <p:sp>
        <p:nvSpPr>
          <p:cNvPr id="17" name="Shape 15"/>
          <p:cNvSpPr/>
          <p:nvPr/>
        </p:nvSpPr>
        <p:spPr>
          <a:xfrm>
            <a:off x="2651760" y="2331720"/>
            <a:ext cx="402336" cy="658368"/>
          </a:xfrm>
          <a:prstGeom prst="rect">
            <a:avLst/>
          </a:prstGeom>
          <a:solidFill>
            <a:srgbClr val="8FAAD9"/>
          </a:solidFill>
          <a:ln w="25400">
            <a:solidFill>
              <a:srgbClr val="FFFFFF"/>
            </a:solidFill>
            <a:prstDash val="solid"/>
          </a:ln>
        </p:spPr>
      </p:sp>
      <p:sp>
        <p:nvSpPr>
          <p:cNvPr id="18" name="Text 16"/>
          <p:cNvSpPr txBox="1"/>
          <p:nvPr/>
        </p:nvSpPr>
        <p:spPr>
          <a:xfrm>
            <a:off x="2651760" y="2331720"/>
            <a:ext cx="402336" cy="658368"/>
          </a:xfrm>
          <a:prstGeom prst="rect">
            <a:avLst/>
          </a:prstGeom>
          <a:noFill/>
          <a:ln/>
        </p:spPr>
        <p:txBody>
          <a:bodyPr wrap="square" lIns="0" tIns="0" rIns="0" bIns="0" rtlCol="0" anchor="ctr"/>
          <a:lstStyle/>
          <a:p>
            <a:pPr algn="ctr" indent="0" marL="0">
              <a:buNone/>
            </a:pPr>
            <a:r>
              <a:rPr lang="en-US" sz="1200" dirty="0">
                <a:solidFill>
                  <a:srgbClr val="12161C"/>
                </a:solidFill>
                <a:latin typeface="Calibri" pitchFamily="34" charset="0"/>
                <a:ea typeface="Calibri" pitchFamily="34" charset="-122"/>
                <a:cs typeface="Calibri" pitchFamily="34" charset="-120"/>
              </a:rPr>
              <a:t>B</a:t>
            </a:r>
            <a:endParaRPr lang="en-US" sz="1200" dirty="0"/>
          </a:p>
        </p:txBody>
      </p:sp>
      <p:sp>
        <p:nvSpPr>
          <p:cNvPr id="19" name="Text 17"/>
          <p:cNvSpPr txBox="1"/>
          <p:nvPr/>
        </p:nvSpPr>
        <p:spPr>
          <a:xfrm>
            <a:off x="1847088" y="3044952"/>
            <a:ext cx="1207008" cy="256032"/>
          </a:xfrm>
          <a:prstGeom prst="rect">
            <a:avLst/>
          </a:prstGeom>
          <a:noFill/>
          <a:ln/>
        </p:spPr>
        <p:txBody>
          <a:bodyPr wrap="square" lIns="0" tIns="0" rIns="0" bIns="0" rtlCol="0" anchor="ctr"/>
          <a:lstStyle/>
          <a:p>
            <a:pPr algn="ctr" indent="0" marL="0">
              <a:buNone/>
            </a:pPr>
            <a:r>
              <a:rPr lang="en-US" sz="1100" dirty="0">
                <a:solidFill>
                  <a:srgbClr val="5C6B7A"/>
                </a:solidFill>
                <a:latin typeface="Calibri" pitchFamily="34" charset="0"/>
                <a:ea typeface="Calibri" pitchFamily="34" charset="-122"/>
                <a:cs typeface="Calibri" pitchFamily="34" charset="-120"/>
              </a:rPr>
              <a:t>pixel (0,1)</a:t>
            </a:r>
            <a:endParaRPr lang="en-US" sz="1100" dirty="0"/>
          </a:p>
        </p:txBody>
      </p:sp>
      <p:sp>
        <p:nvSpPr>
          <p:cNvPr id="20" name="Text 18"/>
          <p:cNvSpPr txBox="1"/>
          <p:nvPr/>
        </p:nvSpPr>
        <p:spPr>
          <a:xfrm>
            <a:off x="3557016" y="1920240"/>
            <a:ext cx="2414016" cy="292608"/>
          </a:xfrm>
          <a:prstGeom prst="rect">
            <a:avLst/>
          </a:prstGeom>
          <a:noFill/>
          <a:ln/>
        </p:spPr>
        <p:txBody>
          <a:bodyPr wrap="square" lIns="0" tIns="0" rIns="0" bIns="0" rtlCol="0" anchor="ctr"/>
          <a:lstStyle/>
          <a:p>
            <a:pPr algn="ctr" indent="0" marL="0">
              <a:buNone/>
            </a:pPr>
            <a:r>
              <a:rPr lang="en-US" sz="1200" b="1" dirty="0">
                <a:solidFill>
                  <a:srgbClr val="5C6B7A"/>
                </a:solidFill>
                <a:latin typeface="Arial" pitchFamily="34" charset="0"/>
                <a:ea typeface="Arial" pitchFamily="34" charset="-122"/>
                <a:cs typeface="Arial" pitchFamily="34" charset="-120"/>
              </a:rPr>
              <a:t>row 1</a:t>
            </a:r>
            <a:endParaRPr lang="en-US" sz="1200" dirty="0"/>
          </a:p>
        </p:txBody>
      </p:sp>
      <p:sp>
        <p:nvSpPr>
          <p:cNvPr id="21" name="Shape 19"/>
          <p:cNvSpPr/>
          <p:nvPr/>
        </p:nvSpPr>
        <p:spPr>
          <a:xfrm>
            <a:off x="3557016" y="2240280"/>
            <a:ext cx="2414016" cy="0"/>
          </a:xfrm>
          <a:prstGeom prst="line">
            <a:avLst/>
          </a:prstGeom>
          <a:noFill/>
          <a:ln w="25400">
            <a:solidFill>
              <a:srgbClr val="DCE3EB"/>
            </a:solidFill>
            <a:prstDash val="solid"/>
          </a:ln>
        </p:spPr>
      </p:sp>
      <p:sp>
        <p:nvSpPr>
          <p:cNvPr id="22" name="Shape 20"/>
          <p:cNvSpPr/>
          <p:nvPr/>
        </p:nvSpPr>
        <p:spPr>
          <a:xfrm>
            <a:off x="3557016" y="2331720"/>
            <a:ext cx="402336" cy="658368"/>
          </a:xfrm>
          <a:prstGeom prst="rect">
            <a:avLst/>
          </a:prstGeom>
          <a:solidFill>
            <a:srgbClr val="E98C82"/>
          </a:solidFill>
          <a:ln w="25400">
            <a:solidFill>
              <a:srgbClr val="FFFFFF"/>
            </a:solidFill>
            <a:prstDash val="solid"/>
          </a:ln>
        </p:spPr>
      </p:sp>
      <p:sp>
        <p:nvSpPr>
          <p:cNvPr id="23" name="Text 21"/>
          <p:cNvSpPr txBox="1"/>
          <p:nvPr/>
        </p:nvSpPr>
        <p:spPr>
          <a:xfrm>
            <a:off x="3557016" y="2331720"/>
            <a:ext cx="402336" cy="658368"/>
          </a:xfrm>
          <a:prstGeom prst="rect">
            <a:avLst/>
          </a:prstGeom>
          <a:noFill/>
          <a:ln/>
        </p:spPr>
        <p:txBody>
          <a:bodyPr wrap="square" lIns="0" tIns="0" rIns="0" bIns="0" rtlCol="0" anchor="ctr"/>
          <a:lstStyle/>
          <a:p>
            <a:pPr algn="ctr" indent="0" marL="0">
              <a:buNone/>
            </a:pPr>
            <a:r>
              <a:rPr lang="en-US" sz="1200" dirty="0">
                <a:solidFill>
                  <a:srgbClr val="12161C"/>
                </a:solidFill>
                <a:latin typeface="Calibri" pitchFamily="34" charset="0"/>
                <a:ea typeface="Calibri" pitchFamily="34" charset="-122"/>
                <a:cs typeface="Calibri" pitchFamily="34" charset="-120"/>
              </a:rPr>
              <a:t>R</a:t>
            </a:r>
            <a:endParaRPr lang="en-US" sz="1200" dirty="0"/>
          </a:p>
        </p:txBody>
      </p:sp>
      <p:sp>
        <p:nvSpPr>
          <p:cNvPr id="24" name="Shape 22"/>
          <p:cNvSpPr/>
          <p:nvPr/>
        </p:nvSpPr>
        <p:spPr>
          <a:xfrm>
            <a:off x="3959352" y="2331720"/>
            <a:ext cx="402336" cy="658368"/>
          </a:xfrm>
          <a:prstGeom prst="rect">
            <a:avLst/>
          </a:prstGeom>
          <a:solidFill>
            <a:srgbClr val="8AC79B"/>
          </a:solidFill>
          <a:ln w="25400">
            <a:solidFill>
              <a:srgbClr val="FFFFFF"/>
            </a:solidFill>
            <a:prstDash val="solid"/>
          </a:ln>
        </p:spPr>
      </p:sp>
      <p:sp>
        <p:nvSpPr>
          <p:cNvPr id="25" name="Text 23"/>
          <p:cNvSpPr txBox="1"/>
          <p:nvPr/>
        </p:nvSpPr>
        <p:spPr>
          <a:xfrm>
            <a:off x="3959352" y="2331720"/>
            <a:ext cx="402336" cy="658368"/>
          </a:xfrm>
          <a:prstGeom prst="rect">
            <a:avLst/>
          </a:prstGeom>
          <a:noFill/>
          <a:ln/>
        </p:spPr>
        <p:txBody>
          <a:bodyPr wrap="square" lIns="0" tIns="0" rIns="0" bIns="0" rtlCol="0" anchor="ctr"/>
          <a:lstStyle/>
          <a:p>
            <a:pPr algn="ctr" indent="0" marL="0">
              <a:buNone/>
            </a:pPr>
            <a:r>
              <a:rPr lang="en-US" sz="1200" dirty="0">
                <a:solidFill>
                  <a:srgbClr val="12161C"/>
                </a:solidFill>
                <a:latin typeface="Calibri" pitchFamily="34" charset="0"/>
                <a:ea typeface="Calibri" pitchFamily="34" charset="-122"/>
                <a:cs typeface="Calibri" pitchFamily="34" charset="-120"/>
              </a:rPr>
              <a:t>G</a:t>
            </a:r>
            <a:endParaRPr lang="en-US" sz="1200" dirty="0"/>
          </a:p>
        </p:txBody>
      </p:sp>
      <p:sp>
        <p:nvSpPr>
          <p:cNvPr id="26" name="Shape 24"/>
          <p:cNvSpPr/>
          <p:nvPr/>
        </p:nvSpPr>
        <p:spPr>
          <a:xfrm>
            <a:off x="4361688" y="2331720"/>
            <a:ext cx="402336" cy="658368"/>
          </a:xfrm>
          <a:prstGeom prst="rect">
            <a:avLst/>
          </a:prstGeom>
          <a:solidFill>
            <a:srgbClr val="8FAAD9"/>
          </a:solidFill>
          <a:ln w="25400">
            <a:solidFill>
              <a:srgbClr val="FFFFFF"/>
            </a:solidFill>
            <a:prstDash val="solid"/>
          </a:ln>
        </p:spPr>
      </p:sp>
      <p:sp>
        <p:nvSpPr>
          <p:cNvPr id="27" name="Text 25"/>
          <p:cNvSpPr txBox="1"/>
          <p:nvPr/>
        </p:nvSpPr>
        <p:spPr>
          <a:xfrm>
            <a:off x="4361688" y="2331720"/>
            <a:ext cx="402336" cy="658368"/>
          </a:xfrm>
          <a:prstGeom prst="rect">
            <a:avLst/>
          </a:prstGeom>
          <a:noFill/>
          <a:ln/>
        </p:spPr>
        <p:txBody>
          <a:bodyPr wrap="square" lIns="0" tIns="0" rIns="0" bIns="0" rtlCol="0" anchor="ctr"/>
          <a:lstStyle/>
          <a:p>
            <a:pPr algn="ctr" indent="0" marL="0">
              <a:buNone/>
            </a:pPr>
            <a:r>
              <a:rPr lang="en-US" sz="1200" dirty="0">
                <a:solidFill>
                  <a:srgbClr val="12161C"/>
                </a:solidFill>
                <a:latin typeface="Calibri" pitchFamily="34" charset="0"/>
                <a:ea typeface="Calibri" pitchFamily="34" charset="-122"/>
                <a:cs typeface="Calibri" pitchFamily="34" charset="-120"/>
              </a:rPr>
              <a:t>B</a:t>
            </a:r>
            <a:endParaRPr lang="en-US" sz="1200" dirty="0"/>
          </a:p>
        </p:txBody>
      </p:sp>
      <p:sp>
        <p:nvSpPr>
          <p:cNvPr id="28" name="Text 26"/>
          <p:cNvSpPr txBox="1"/>
          <p:nvPr/>
        </p:nvSpPr>
        <p:spPr>
          <a:xfrm>
            <a:off x="3557016" y="3044952"/>
            <a:ext cx="1207008" cy="256032"/>
          </a:xfrm>
          <a:prstGeom prst="rect">
            <a:avLst/>
          </a:prstGeom>
          <a:noFill/>
          <a:ln/>
        </p:spPr>
        <p:txBody>
          <a:bodyPr wrap="square" lIns="0" tIns="0" rIns="0" bIns="0" rtlCol="0" anchor="ctr"/>
          <a:lstStyle/>
          <a:p>
            <a:pPr algn="ctr" indent="0" marL="0">
              <a:buNone/>
            </a:pPr>
            <a:r>
              <a:rPr lang="en-US" sz="1100" dirty="0">
                <a:solidFill>
                  <a:srgbClr val="5C6B7A"/>
                </a:solidFill>
                <a:latin typeface="Calibri" pitchFamily="34" charset="0"/>
                <a:ea typeface="Calibri" pitchFamily="34" charset="-122"/>
                <a:cs typeface="Calibri" pitchFamily="34" charset="-120"/>
              </a:rPr>
              <a:t>pixel (1,0)</a:t>
            </a:r>
            <a:endParaRPr lang="en-US" sz="1100" dirty="0"/>
          </a:p>
        </p:txBody>
      </p:sp>
      <p:sp>
        <p:nvSpPr>
          <p:cNvPr id="29" name="Shape 27"/>
          <p:cNvSpPr/>
          <p:nvPr/>
        </p:nvSpPr>
        <p:spPr>
          <a:xfrm>
            <a:off x="4764024" y="2331720"/>
            <a:ext cx="402336" cy="658368"/>
          </a:xfrm>
          <a:prstGeom prst="rect">
            <a:avLst/>
          </a:prstGeom>
          <a:solidFill>
            <a:srgbClr val="E98C82"/>
          </a:solidFill>
          <a:ln w="25400">
            <a:solidFill>
              <a:srgbClr val="FFFFFF"/>
            </a:solidFill>
            <a:prstDash val="solid"/>
          </a:ln>
        </p:spPr>
      </p:sp>
      <p:sp>
        <p:nvSpPr>
          <p:cNvPr id="30" name="Text 28"/>
          <p:cNvSpPr txBox="1"/>
          <p:nvPr/>
        </p:nvSpPr>
        <p:spPr>
          <a:xfrm>
            <a:off x="4764024" y="2331720"/>
            <a:ext cx="402336" cy="658368"/>
          </a:xfrm>
          <a:prstGeom prst="rect">
            <a:avLst/>
          </a:prstGeom>
          <a:noFill/>
          <a:ln/>
        </p:spPr>
        <p:txBody>
          <a:bodyPr wrap="square" lIns="0" tIns="0" rIns="0" bIns="0" rtlCol="0" anchor="ctr"/>
          <a:lstStyle/>
          <a:p>
            <a:pPr algn="ctr" indent="0" marL="0">
              <a:buNone/>
            </a:pPr>
            <a:r>
              <a:rPr lang="en-US" sz="1200" dirty="0">
                <a:solidFill>
                  <a:srgbClr val="12161C"/>
                </a:solidFill>
                <a:latin typeface="Calibri" pitchFamily="34" charset="0"/>
                <a:ea typeface="Calibri" pitchFamily="34" charset="-122"/>
                <a:cs typeface="Calibri" pitchFamily="34" charset="-120"/>
              </a:rPr>
              <a:t>R</a:t>
            </a:r>
            <a:endParaRPr lang="en-US" sz="1200" dirty="0"/>
          </a:p>
        </p:txBody>
      </p:sp>
      <p:sp>
        <p:nvSpPr>
          <p:cNvPr id="31" name="Shape 29"/>
          <p:cNvSpPr/>
          <p:nvPr/>
        </p:nvSpPr>
        <p:spPr>
          <a:xfrm>
            <a:off x="5166360" y="2331720"/>
            <a:ext cx="402336" cy="658368"/>
          </a:xfrm>
          <a:prstGeom prst="rect">
            <a:avLst/>
          </a:prstGeom>
          <a:solidFill>
            <a:srgbClr val="8AC79B"/>
          </a:solidFill>
          <a:ln w="25400">
            <a:solidFill>
              <a:srgbClr val="FFFFFF"/>
            </a:solidFill>
            <a:prstDash val="solid"/>
          </a:ln>
        </p:spPr>
      </p:sp>
      <p:sp>
        <p:nvSpPr>
          <p:cNvPr id="32" name="Text 30"/>
          <p:cNvSpPr txBox="1"/>
          <p:nvPr/>
        </p:nvSpPr>
        <p:spPr>
          <a:xfrm>
            <a:off x="5166360" y="2331720"/>
            <a:ext cx="402336" cy="658368"/>
          </a:xfrm>
          <a:prstGeom prst="rect">
            <a:avLst/>
          </a:prstGeom>
          <a:noFill/>
          <a:ln/>
        </p:spPr>
        <p:txBody>
          <a:bodyPr wrap="square" lIns="0" tIns="0" rIns="0" bIns="0" rtlCol="0" anchor="ctr"/>
          <a:lstStyle/>
          <a:p>
            <a:pPr algn="ctr" indent="0" marL="0">
              <a:buNone/>
            </a:pPr>
            <a:r>
              <a:rPr lang="en-US" sz="1200" dirty="0">
                <a:solidFill>
                  <a:srgbClr val="12161C"/>
                </a:solidFill>
                <a:latin typeface="Calibri" pitchFamily="34" charset="0"/>
                <a:ea typeface="Calibri" pitchFamily="34" charset="-122"/>
                <a:cs typeface="Calibri" pitchFamily="34" charset="-120"/>
              </a:rPr>
              <a:t>G</a:t>
            </a:r>
            <a:endParaRPr lang="en-US" sz="1200" dirty="0"/>
          </a:p>
        </p:txBody>
      </p:sp>
      <p:sp>
        <p:nvSpPr>
          <p:cNvPr id="33" name="Shape 31"/>
          <p:cNvSpPr/>
          <p:nvPr/>
        </p:nvSpPr>
        <p:spPr>
          <a:xfrm>
            <a:off x="5568696" y="2331720"/>
            <a:ext cx="402336" cy="658368"/>
          </a:xfrm>
          <a:prstGeom prst="rect">
            <a:avLst/>
          </a:prstGeom>
          <a:solidFill>
            <a:srgbClr val="8FAAD9"/>
          </a:solidFill>
          <a:ln w="25400">
            <a:solidFill>
              <a:srgbClr val="FFFFFF"/>
            </a:solidFill>
            <a:prstDash val="solid"/>
          </a:ln>
        </p:spPr>
      </p:sp>
      <p:sp>
        <p:nvSpPr>
          <p:cNvPr id="34" name="Text 32"/>
          <p:cNvSpPr txBox="1"/>
          <p:nvPr/>
        </p:nvSpPr>
        <p:spPr>
          <a:xfrm>
            <a:off x="5568696" y="2331720"/>
            <a:ext cx="402336" cy="658368"/>
          </a:xfrm>
          <a:prstGeom prst="rect">
            <a:avLst/>
          </a:prstGeom>
          <a:noFill/>
          <a:ln/>
        </p:spPr>
        <p:txBody>
          <a:bodyPr wrap="square" lIns="0" tIns="0" rIns="0" bIns="0" rtlCol="0" anchor="ctr"/>
          <a:lstStyle/>
          <a:p>
            <a:pPr algn="ctr" indent="0" marL="0">
              <a:buNone/>
            </a:pPr>
            <a:r>
              <a:rPr lang="en-US" sz="1200" dirty="0">
                <a:solidFill>
                  <a:srgbClr val="12161C"/>
                </a:solidFill>
                <a:latin typeface="Calibri" pitchFamily="34" charset="0"/>
                <a:ea typeface="Calibri" pitchFamily="34" charset="-122"/>
                <a:cs typeface="Calibri" pitchFamily="34" charset="-120"/>
              </a:rPr>
              <a:t>B</a:t>
            </a:r>
            <a:endParaRPr lang="en-US" sz="1200" dirty="0"/>
          </a:p>
        </p:txBody>
      </p:sp>
      <p:sp>
        <p:nvSpPr>
          <p:cNvPr id="35" name="Text 33"/>
          <p:cNvSpPr txBox="1"/>
          <p:nvPr/>
        </p:nvSpPr>
        <p:spPr>
          <a:xfrm>
            <a:off x="4764024" y="3044952"/>
            <a:ext cx="1207008" cy="256032"/>
          </a:xfrm>
          <a:prstGeom prst="rect">
            <a:avLst/>
          </a:prstGeom>
          <a:noFill/>
          <a:ln/>
        </p:spPr>
        <p:txBody>
          <a:bodyPr wrap="square" lIns="0" tIns="0" rIns="0" bIns="0" rtlCol="0" anchor="ctr"/>
          <a:lstStyle/>
          <a:p>
            <a:pPr algn="ctr" indent="0" marL="0">
              <a:buNone/>
            </a:pPr>
            <a:r>
              <a:rPr lang="en-US" sz="1100" dirty="0">
                <a:solidFill>
                  <a:srgbClr val="5C6B7A"/>
                </a:solidFill>
                <a:latin typeface="Calibri" pitchFamily="34" charset="0"/>
                <a:ea typeface="Calibri" pitchFamily="34" charset="-122"/>
                <a:cs typeface="Calibri" pitchFamily="34" charset="-120"/>
              </a:rPr>
              <a:t>pixel (1,1)</a:t>
            </a:r>
            <a:endParaRPr lang="en-US" sz="1100" dirty="0"/>
          </a:p>
        </p:txBody>
      </p:sp>
      <p:sp>
        <p:nvSpPr>
          <p:cNvPr id="36" name="Text 34"/>
          <p:cNvSpPr txBox="1"/>
          <p:nvPr/>
        </p:nvSpPr>
        <p:spPr>
          <a:xfrm>
            <a:off x="6108192" y="2331720"/>
            <a:ext cx="548640" cy="658368"/>
          </a:xfrm>
          <a:prstGeom prst="rect">
            <a:avLst/>
          </a:prstGeom>
          <a:noFill/>
          <a:ln/>
        </p:spPr>
        <p:txBody>
          <a:bodyPr wrap="square" lIns="0" tIns="0" rIns="0" bIns="0" rtlCol="0" anchor="ctr"/>
          <a:lstStyle/>
          <a:p>
            <a:pPr indent="0" marL="0">
              <a:buNone/>
            </a:pPr>
            <a:r>
              <a:rPr lang="en-US" sz="2200" dirty="0">
                <a:solidFill>
                  <a:srgbClr val="5C6B7A"/>
                </a:solidFill>
                <a:latin typeface="Arial" pitchFamily="34" charset="0"/>
                <a:ea typeface="Arial" pitchFamily="34" charset="-122"/>
                <a:cs typeface="Arial" pitchFamily="34" charset="-120"/>
              </a:rPr>
              <a:t>…</a:t>
            </a:r>
            <a:endParaRPr lang="en-US" sz="2200" dirty="0"/>
          </a:p>
        </p:txBody>
      </p:sp>
      <p:sp>
        <p:nvSpPr>
          <p:cNvPr id="37" name="Text 35"/>
          <p:cNvSpPr txBox="1"/>
          <p:nvPr/>
        </p:nvSpPr>
        <p:spPr>
          <a:xfrm>
            <a:off x="6611112" y="2496312"/>
            <a:ext cx="3840480" cy="365760"/>
          </a:xfrm>
          <a:prstGeom prst="rect">
            <a:avLst/>
          </a:prstGeom>
          <a:noFill/>
          <a:ln/>
        </p:spPr>
        <p:txBody>
          <a:bodyPr wrap="square" lIns="0" tIns="0" rIns="0" bIns="0" rtlCol="0" anchor="ctr"/>
          <a:lstStyle/>
          <a:p>
            <a:pPr indent="0" marL="0">
              <a:buNone/>
            </a:pPr>
            <a:r>
              <a:rPr lang="en-US" sz="1200" dirty="0">
                <a:solidFill>
                  <a:srgbClr val="5C6B7A"/>
                </a:solidFill>
                <a:latin typeface="Calibri" pitchFamily="34" charset="0"/>
                <a:ea typeface="Calibri" pitchFamily="34" charset="-122"/>
                <a:cs typeface="Calibri" pitchFamily="34" charset="-120"/>
              </a:rPr>
              <a:t>rows just keep going, end to end</a:t>
            </a:r>
            <a:endParaRPr lang="en-US" sz="1200" dirty="0"/>
          </a:p>
        </p:txBody>
      </p:sp>
      <p:sp>
        <p:nvSpPr>
          <p:cNvPr id="38" name="Text 36"/>
          <p:cNvSpPr txBox="1"/>
          <p:nvPr/>
        </p:nvSpPr>
        <p:spPr>
          <a:xfrm>
            <a:off x="640080" y="3520440"/>
            <a:ext cx="10881360" cy="566928"/>
          </a:xfrm>
          <a:prstGeom prst="rect">
            <a:avLst/>
          </a:prstGeom>
          <a:solidFill>
            <a:srgbClr val="12161C"/>
          </a:solidFill>
          <a:ln/>
        </p:spPr>
        <p:txBody>
          <a:bodyPr wrap="square" lIns="152400" tIns="152400" rIns="152400" bIns="152400" rtlCol="0" anchor="ctr"/>
          <a:lstStyle/>
          <a:p>
            <a:pPr algn="l" indent="0" marL="0">
              <a:lnSpc>
                <a:spcPct val="120000"/>
              </a:lnSpc>
              <a:buNone/>
            </a:pPr>
            <a:r>
              <a:rPr lang="en-US" sz="1800" dirty="0">
                <a:solidFill>
                  <a:srgbClr val="F5F7FA"/>
                </a:solidFill>
                <a:latin typeface="Courier New" pitchFamily="34" charset="0"/>
                <a:ea typeface="Courier New" pitchFamily="34" charset="-122"/>
                <a:cs typeface="Courier New" pitchFamily="34" charset="-120"/>
              </a:rPr>
              <a:t>int i = (row * width + col) * 3;</a:t>
            </a:r>
            <a:endParaRPr lang="en-US" sz="1800" dirty="0"/>
          </a:p>
        </p:txBody>
      </p:sp>
      <p:sp>
        <p:nvSpPr>
          <p:cNvPr id="39" name="Shape 37"/>
          <p:cNvSpPr/>
          <p:nvPr/>
        </p:nvSpPr>
        <p:spPr>
          <a:xfrm>
            <a:off x="640080" y="4315968"/>
            <a:ext cx="10881360" cy="1417320"/>
          </a:xfrm>
          <a:prstGeom prst="roundRect">
            <a:avLst>
              <a:gd name="adj" fmla="val 5806"/>
            </a:avLst>
          </a:prstGeom>
          <a:solidFill>
            <a:srgbClr val="FFFFFF"/>
          </a:solidFill>
          <a:ln w="12700">
            <a:solidFill>
              <a:srgbClr val="DCE3EB"/>
            </a:solidFill>
            <a:prstDash val="solid"/>
          </a:ln>
        </p:spPr>
      </p:sp>
      <p:sp>
        <p:nvSpPr>
          <p:cNvPr id="40" name="Text 38"/>
          <p:cNvSpPr txBox="1"/>
          <p:nvPr/>
        </p:nvSpPr>
        <p:spPr>
          <a:xfrm>
            <a:off x="914400" y="4544568"/>
            <a:ext cx="10332720" cy="1097280"/>
          </a:xfrm>
          <a:prstGeom prst="rect">
            <a:avLst/>
          </a:prstGeom>
          <a:noFill/>
          <a:ln/>
        </p:spPr>
        <p:txBody>
          <a:bodyPr wrap="square" lIns="0" tIns="0" rIns="0" bIns="0" rtlCol="0" anchor="ctr"/>
          <a:lstStyle/>
          <a:p>
            <a:pPr algn="l" indent="0" marL="0">
              <a:lnSpc>
                <a:spcPct val="115000"/>
              </a:lnSpc>
              <a:buNone/>
            </a:pPr>
            <a:r>
              <a:rPr lang="en-US" sz="1500" dirty="0">
                <a:solidFill>
                  <a:srgbClr val="12161C"/>
                </a:solidFill>
                <a:latin typeface="Calibri" pitchFamily="34" charset="0"/>
                <a:ea typeface="Calibri" pitchFamily="34" charset="-122"/>
                <a:cs typeface="Calibri" pitchFamily="34" charset="-120"/>
              </a:rPr>
              <a:t>“Skip whole rows to get to my row, walk along to my column, then times three because each pixel is three bytes.”</a:t>
            </a:r>
            <a:endParaRPr lang="en-US" sz="1500" dirty="0"/>
          </a:p>
          <a:p>
            <a:pPr algn="l" indent="0" marL="0">
              <a:lnSpc>
                <a:spcPct val="115000"/>
              </a:lnSpc>
              <a:buNone/>
            </a:pPr>
            <a:endParaRPr lang="en-US" sz="1500" dirty="0"/>
          </a:p>
          <a:p>
            <a:pPr algn="l" indent="0" marL="0">
              <a:lnSpc>
                <a:spcPct val="115000"/>
              </a:lnSpc>
              <a:buNone/>
            </a:pPr>
            <a:r>
              <a:rPr lang="en-US" sz="1500" dirty="0">
                <a:solidFill>
                  <a:srgbClr val="12161C"/>
                </a:solidFill>
                <a:latin typeface="Calibri" pitchFamily="34" charset="0"/>
                <a:ea typeface="Calibri" pitchFamily="34" charset="-122"/>
                <a:cs typeface="Calibri" pitchFamily="34" charset="-120"/>
              </a:rPr>
              <a:t>Then i + 0 is red, i + 1 is green, i + 2 is blue. Get row and col the wrong way round here and threads read each other's pixels — it's the classic mistake, and you'll see it if it happens.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1828800"/>
            <a:ext cx="10058400" cy="457200"/>
          </a:xfrm>
          <a:prstGeom prst="rect">
            <a:avLst/>
          </a:prstGeom>
          <a:noFill/>
          <a:ln/>
        </p:spPr>
        <p:txBody>
          <a:bodyPr wrap="square" lIns="0" tIns="0" rIns="0" bIns="0" rtlCol="0" anchor="ctr"/>
          <a:lstStyle/>
          <a:p>
            <a:pPr indent="0" marL="0">
              <a:buNone/>
            </a:pPr>
            <a:r>
              <a:rPr lang="en-US" sz="1500" b="1" spc="200" kern="0" dirty="0">
                <a:solidFill>
                  <a:srgbClr val="3DDC84"/>
                </a:solidFill>
                <a:latin typeface="Arial" pitchFamily="34" charset="0"/>
                <a:ea typeface="Arial" pitchFamily="34" charset="-122"/>
                <a:cs typeface="Arial" pitchFamily="34" charset="-120"/>
              </a:rPr>
              <a:t>The whole idea, in five words</a:t>
            </a:r>
            <a:endParaRPr lang="en-US" sz="1500" dirty="0"/>
          </a:p>
        </p:txBody>
      </p:sp>
      <p:sp>
        <p:nvSpPr>
          <p:cNvPr id="3" name="Text 1"/>
          <p:cNvSpPr txBox="1"/>
          <p:nvPr/>
        </p:nvSpPr>
        <p:spPr>
          <a:xfrm>
            <a:off x="640080" y="2377440"/>
            <a:ext cx="10058400" cy="1828800"/>
          </a:xfrm>
          <a:prstGeom prst="rect">
            <a:avLst/>
          </a:prstGeom>
          <a:noFill/>
          <a:ln/>
        </p:spPr>
        <p:txBody>
          <a:bodyPr wrap="square" lIns="0" tIns="0" rIns="0" bIns="0" rtlCol="0" anchor="ctr"/>
          <a:lstStyle/>
          <a:p>
            <a:pPr indent="0" marL="0">
              <a:lnSpc>
                <a:spcPct val="110000"/>
              </a:lnSpc>
              <a:buNone/>
            </a:pPr>
            <a:r>
              <a:rPr lang="en-US" sz="5200" b="1" dirty="0">
                <a:solidFill>
                  <a:srgbClr val="F5F7FA"/>
                </a:solidFill>
                <a:latin typeface="Arial" pitchFamily="34" charset="0"/>
                <a:ea typeface="Arial" pitchFamily="34" charset="-122"/>
                <a:cs typeface="Arial" pitchFamily="34" charset="-120"/>
              </a:rPr>
              <a:t>One thread per</a:t>
            </a:r>
            <a:endParaRPr lang="en-US" sz="5200" dirty="0"/>
          </a:p>
          <a:p>
            <a:pPr indent="0" marL="0">
              <a:lnSpc>
                <a:spcPct val="110000"/>
              </a:lnSpc>
              <a:buNone/>
            </a:pPr>
            <a:r>
              <a:rPr lang="en-US" sz="5200" b="1" dirty="0">
                <a:solidFill>
                  <a:srgbClr val="F5F7FA"/>
                </a:solidFill>
                <a:latin typeface="Arial" pitchFamily="34" charset="0"/>
                <a:ea typeface="Arial" pitchFamily="34" charset="-122"/>
                <a:cs typeface="Arial" pitchFamily="34" charset="-120"/>
              </a:rPr>
              <a:t>output element.</a:t>
            </a:r>
            <a:endParaRPr lang="en-US" sz="5200" dirty="0"/>
          </a:p>
        </p:txBody>
      </p:sp>
      <p:sp>
        <p:nvSpPr>
          <p:cNvPr id="4" name="Text 2"/>
          <p:cNvSpPr txBox="1"/>
          <p:nvPr/>
        </p:nvSpPr>
        <p:spPr>
          <a:xfrm>
            <a:off x="640080" y="4480560"/>
            <a:ext cx="10058400" cy="914400"/>
          </a:xfrm>
          <a:prstGeom prst="rect">
            <a:avLst/>
          </a:prstGeom>
          <a:noFill/>
          <a:ln/>
        </p:spPr>
        <p:txBody>
          <a:bodyPr wrap="square" lIns="0" tIns="0" rIns="0" bIns="0" rtlCol="0" anchor="ctr"/>
          <a:lstStyle/>
          <a:p>
            <a:pPr indent="0" marL="0">
              <a:lnSpc>
                <a:spcPct val="130000"/>
              </a:lnSpc>
              <a:buNone/>
            </a:pPr>
            <a:r>
              <a:rPr lang="en-US" sz="1800" dirty="0">
                <a:solidFill>
                  <a:srgbClr val="97A6B5"/>
                </a:solidFill>
                <a:latin typeface="Calibri" pitchFamily="34" charset="0"/>
                <a:ea typeface="Calibri" pitchFamily="34" charset="-122"/>
                <a:cs typeface="Calibri" pitchFamily="34" charset="-120"/>
              </a:rPr>
              <a:t>One pixel, one thread. Two and a half million of them, all at the same moment.</a:t>
            </a:r>
            <a:endParaRPr lang="en-US" sz="1800" dirty="0"/>
          </a:p>
          <a:p>
            <a:pPr indent="0" marL="0">
              <a:lnSpc>
                <a:spcPct val="130000"/>
              </a:lnSpc>
              <a:buNone/>
            </a:pPr>
            <a:r>
              <a:rPr lang="en-US" sz="1800" dirty="0">
                <a:solidFill>
                  <a:srgbClr val="97A6B5"/>
                </a:solidFill>
                <a:latin typeface="Calibri" pitchFamily="34" charset="0"/>
                <a:ea typeface="Calibri" pitchFamily="34" charset="-122"/>
                <a:cs typeface="Calibri" pitchFamily="34" charset="-120"/>
              </a:rPr>
              <a:t>Hold onto this sentence — we're going to use it three times today.</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algn="l" indent="0" marL="0">
              <a:buNone/>
            </a:pPr>
            <a:r>
              <a:rPr lang="en-US" sz="3400" b="1" dirty="0">
                <a:solidFill>
                  <a:srgbClr val="12161C"/>
                </a:solidFill>
                <a:latin typeface="Arial" pitchFamily="34" charset="0"/>
                <a:ea typeface="Arial" pitchFamily="34" charset="-122"/>
                <a:cs typeface="Arial" pitchFamily="34" charset="-120"/>
              </a:rPr>
              <a:t>What we're about to build</a:t>
            </a:r>
            <a:endParaRPr lang="en-US" sz="3400" dirty="0"/>
          </a:p>
        </p:txBody>
      </p:sp>
      <p:pic>
        <p:nvPicPr>
          <p:cNvPr id="3" name="Image 0" descr="C:\w2\slides\assets\before.jpg">    </p:cNvPr>
          <p:cNvPicPr>
            <a:picLocks noChangeAspect="1"/>
          </p:cNvPicPr>
          <p:nvPr/>
        </p:nvPicPr>
        <p:blipFill>
          <a:blip r:embed="rId1"/>
          <a:stretch>
            <a:fillRect/>
          </a:stretch>
        </p:blipFill>
        <p:spPr>
          <a:xfrm>
            <a:off x="640080" y="1371600"/>
            <a:ext cx="3520440" cy="2350008"/>
          </a:xfrm>
          <a:prstGeom prst="rect">
            <a:avLst/>
          </a:prstGeom>
        </p:spPr>
      </p:pic>
      <p:pic>
        <p:nvPicPr>
          <p:cNvPr id="4" name="Image 1" descr="C:\w2\slides\assets\gray.jpg">    </p:cNvPr>
          <p:cNvPicPr>
            <a:picLocks noChangeAspect="1"/>
          </p:cNvPicPr>
          <p:nvPr/>
        </p:nvPicPr>
        <p:blipFill>
          <a:blip r:embed="rId2"/>
          <a:stretch>
            <a:fillRect/>
          </a:stretch>
        </p:blipFill>
        <p:spPr>
          <a:xfrm>
            <a:off x="4334256" y="1371600"/>
            <a:ext cx="3520440" cy="2350008"/>
          </a:xfrm>
          <a:prstGeom prst="rect">
            <a:avLst/>
          </a:prstGeom>
        </p:spPr>
      </p:pic>
      <p:pic>
        <p:nvPicPr>
          <p:cNvPr id="5" name="Image 2" descr="C:\w2\slides\assets\crop_blur.jpg">    </p:cNvPr>
          <p:cNvPicPr>
            <a:picLocks noChangeAspect="1"/>
          </p:cNvPicPr>
          <p:nvPr/>
        </p:nvPicPr>
        <p:blipFill>
          <a:blip r:embed="rId3"/>
          <a:stretch>
            <a:fillRect/>
          </a:stretch>
        </p:blipFill>
        <p:spPr>
          <a:xfrm>
            <a:off x="8668512" y="1371600"/>
            <a:ext cx="2350008" cy="2350008"/>
          </a:xfrm>
          <a:prstGeom prst="rect">
            <a:avLst/>
          </a:prstGeom>
        </p:spPr>
      </p:pic>
      <p:sp>
        <p:nvSpPr>
          <p:cNvPr id="6" name="Text 1"/>
          <p:cNvSpPr txBox="1"/>
          <p:nvPr/>
        </p:nvSpPr>
        <p:spPr>
          <a:xfrm>
            <a:off x="640080" y="3840480"/>
            <a:ext cx="3520440" cy="320040"/>
          </a:xfrm>
          <a:prstGeom prst="rect">
            <a:avLst/>
          </a:prstGeom>
          <a:noFill/>
          <a:ln/>
        </p:spPr>
        <p:txBody>
          <a:bodyPr wrap="square" lIns="0" tIns="0" rIns="0" bIns="0" rtlCol="0" anchor="ctr"/>
          <a:lstStyle/>
          <a:p>
            <a:pPr indent="0" marL="0">
              <a:buNone/>
            </a:pPr>
            <a:r>
              <a:rPr lang="en-US" sz="1500" b="1" dirty="0">
                <a:solidFill>
                  <a:srgbClr val="12161C"/>
                </a:solidFill>
                <a:latin typeface="Arial" pitchFamily="34" charset="0"/>
                <a:ea typeface="Arial" pitchFamily="34" charset="-122"/>
                <a:cs typeface="Arial" pitchFamily="34" charset="-120"/>
              </a:rPr>
              <a:t>the photo</a:t>
            </a:r>
            <a:endParaRPr lang="en-US" sz="1500" dirty="0"/>
          </a:p>
        </p:txBody>
      </p:sp>
      <p:sp>
        <p:nvSpPr>
          <p:cNvPr id="7" name="Text 2"/>
          <p:cNvSpPr txBox="1"/>
          <p:nvPr/>
        </p:nvSpPr>
        <p:spPr>
          <a:xfrm>
            <a:off x="640080" y="4160520"/>
            <a:ext cx="3520440" cy="548640"/>
          </a:xfrm>
          <a:prstGeom prst="rect">
            <a:avLst/>
          </a:prstGeom>
          <a:noFill/>
          <a:ln/>
        </p:spPr>
        <p:txBody>
          <a:bodyPr wrap="square" lIns="0" tIns="0" rIns="0" bIns="0" rtlCol="0" anchor="ctr"/>
          <a:lstStyle/>
          <a:p>
            <a:pPr indent="0" marL="0">
              <a:lnSpc>
                <a:spcPct val="120000"/>
              </a:lnSpc>
              <a:buNone/>
            </a:pPr>
            <a:r>
              <a:rPr lang="en-US" sz="1300" dirty="0">
                <a:solidFill>
                  <a:srgbClr val="5C6B7A"/>
                </a:solidFill>
                <a:latin typeface="Calibri" pitchFamily="34" charset="0"/>
                <a:ea typeface="Calibri" pitchFamily="34" charset="-122"/>
                <a:cs typeface="Calibri" pitchFamily="34" charset="-120"/>
              </a:rPr>
              <a:t>1920 x 1280 = 2,457,600 pixels</a:t>
            </a:r>
            <a:endParaRPr lang="en-US" sz="1300" dirty="0"/>
          </a:p>
        </p:txBody>
      </p:sp>
      <p:sp>
        <p:nvSpPr>
          <p:cNvPr id="8" name="Text 3"/>
          <p:cNvSpPr txBox="1"/>
          <p:nvPr/>
        </p:nvSpPr>
        <p:spPr>
          <a:xfrm>
            <a:off x="4334256" y="3840480"/>
            <a:ext cx="3520440" cy="320040"/>
          </a:xfrm>
          <a:prstGeom prst="rect">
            <a:avLst/>
          </a:prstGeom>
          <a:noFill/>
          <a:ln/>
        </p:spPr>
        <p:txBody>
          <a:bodyPr wrap="square" lIns="0" tIns="0" rIns="0" bIns="0" rtlCol="0" anchor="ctr"/>
          <a:lstStyle/>
          <a:p>
            <a:pPr indent="0" marL="0">
              <a:buNone/>
            </a:pPr>
            <a:r>
              <a:rPr lang="en-US" sz="1500" b="1" dirty="0">
                <a:solidFill>
                  <a:srgbClr val="12161C"/>
                </a:solidFill>
                <a:latin typeface="Arial" pitchFamily="34" charset="0"/>
                <a:ea typeface="Arial" pitchFamily="34" charset="-122"/>
                <a:cs typeface="Arial" pitchFamily="34" charset="-120"/>
              </a:rPr>
              <a:t>program 1 — greyscale</a:t>
            </a:r>
            <a:endParaRPr lang="en-US" sz="1500" dirty="0"/>
          </a:p>
        </p:txBody>
      </p:sp>
      <p:sp>
        <p:nvSpPr>
          <p:cNvPr id="9" name="Text 4"/>
          <p:cNvSpPr txBox="1"/>
          <p:nvPr/>
        </p:nvSpPr>
        <p:spPr>
          <a:xfrm>
            <a:off x="4334256" y="4160520"/>
            <a:ext cx="3520440" cy="548640"/>
          </a:xfrm>
          <a:prstGeom prst="rect">
            <a:avLst/>
          </a:prstGeom>
          <a:noFill/>
          <a:ln/>
        </p:spPr>
        <p:txBody>
          <a:bodyPr wrap="square" lIns="0" tIns="0" rIns="0" bIns="0" rtlCol="0" anchor="ctr"/>
          <a:lstStyle/>
          <a:p>
            <a:pPr indent="0" marL="0">
              <a:lnSpc>
                <a:spcPct val="120000"/>
              </a:lnSpc>
              <a:buNone/>
            </a:pPr>
            <a:r>
              <a:rPr lang="en-US" sz="1300" dirty="0">
                <a:solidFill>
                  <a:srgbClr val="5C6B7A"/>
                </a:solidFill>
                <a:latin typeface="Calibri" pitchFamily="34" charset="0"/>
                <a:ea typeface="Calibri" pitchFamily="34" charset="-122"/>
                <a:cs typeface="Calibri" pitchFamily="34" charset="-120"/>
              </a:rPr>
              <a:t>each pixel mixes its own colours</a:t>
            </a:r>
            <a:endParaRPr lang="en-US" sz="1300" dirty="0"/>
          </a:p>
        </p:txBody>
      </p:sp>
      <p:sp>
        <p:nvSpPr>
          <p:cNvPr id="10" name="Text 5"/>
          <p:cNvSpPr txBox="1"/>
          <p:nvPr/>
        </p:nvSpPr>
        <p:spPr>
          <a:xfrm>
            <a:off x="8668512" y="3840480"/>
            <a:ext cx="3520440" cy="320040"/>
          </a:xfrm>
          <a:prstGeom prst="rect">
            <a:avLst/>
          </a:prstGeom>
          <a:noFill/>
          <a:ln/>
        </p:spPr>
        <p:txBody>
          <a:bodyPr wrap="square" lIns="0" tIns="0" rIns="0" bIns="0" rtlCol="0" anchor="ctr"/>
          <a:lstStyle/>
          <a:p>
            <a:pPr indent="0" marL="0">
              <a:buNone/>
            </a:pPr>
            <a:r>
              <a:rPr lang="en-US" sz="1500" b="1" dirty="0">
                <a:solidFill>
                  <a:srgbClr val="12161C"/>
                </a:solidFill>
                <a:latin typeface="Arial" pitchFamily="34" charset="0"/>
                <a:ea typeface="Arial" pitchFamily="34" charset="-122"/>
                <a:cs typeface="Arial" pitchFamily="34" charset="-120"/>
              </a:rPr>
              <a:t>program 2 — blur</a:t>
            </a:r>
            <a:endParaRPr lang="en-US" sz="1500" dirty="0"/>
          </a:p>
        </p:txBody>
      </p:sp>
      <p:sp>
        <p:nvSpPr>
          <p:cNvPr id="11" name="Text 6"/>
          <p:cNvSpPr txBox="1"/>
          <p:nvPr/>
        </p:nvSpPr>
        <p:spPr>
          <a:xfrm>
            <a:off x="8668512" y="4160520"/>
            <a:ext cx="3520440" cy="548640"/>
          </a:xfrm>
          <a:prstGeom prst="rect">
            <a:avLst/>
          </a:prstGeom>
          <a:noFill/>
          <a:ln/>
        </p:spPr>
        <p:txBody>
          <a:bodyPr wrap="square" lIns="0" tIns="0" rIns="0" bIns="0" rtlCol="0" anchor="ctr"/>
          <a:lstStyle/>
          <a:p>
            <a:pPr indent="0" marL="0">
              <a:lnSpc>
                <a:spcPct val="120000"/>
              </a:lnSpc>
              <a:buNone/>
            </a:pPr>
            <a:r>
              <a:rPr lang="en-US" sz="1300" dirty="0">
                <a:solidFill>
                  <a:srgbClr val="5C6B7A"/>
                </a:solidFill>
                <a:latin typeface="Calibri" pitchFamily="34" charset="0"/>
                <a:ea typeface="Calibri" pitchFamily="34" charset="-122"/>
                <a:cs typeface="Calibri" pitchFamily="34" charset="-120"/>
              </a:rPr>
              <a:t>each pixel averages its neighbours</a:t>
            </a:r>
            <a:endParaRPr lang="en-US" sz="1300" dirty="0"/>
          </a:p>
          <a:p>
            <a:pPr indent="0" marL="0">
              <a:lnSpc>
                <a:spcPct val="120000"/>
              </a:lnSpc>
              <a:buNone/>
            </a:pPr>
            <a:r>
              <a:rPr lang="en-US" sz="1300" dirty="0">
                <a:solidFill>
                  <a:srgbClr val="5C6B7A"/>
                </a:solidFill>
                <a:latin typeface="Calibri" pitchFamily="34" charset="0"/>
                <a:ea typeface="Calibri" pitchFamily="34" charset="-122"/>
                <a:cs typeface="Calibri" pitchFamily="34" charset="-120"/>
              </a:rPr>
              <a:t>(zoomed in, or you'd never see it)</a:t>
            </a:r>
            <a:endParaRPr lang="en-US" sz="1300" dirty="0"/>
          </a:p>
        </p:txBody>
      </p:sp>
      <p:sp>
        <p:nvSpPr>
          <p:cNvPr id="12" name="Shape 7"/>
          <p:cNvSpPr/>
          <p:nvPr/>
        </p:nvSpPr>
        <p:spPr>
          <a:xfrm>
            <a:off x="640080" y="4800600"/>
            <a:ext cx="10881360" cy="1051560"/>
          </a:xfrm>
          <a:prstGeom prst="roundRect">
            <a:avLst>
              <a:gd name="adj" fmla="val 7826"/>
            </a:avLst>
          </a:prstGeom>
          <a:solidFill>
            <a:srgbClr val="FFFFFF"/>
          </a:solidFill>
          <a:ln w="12700">
            <a:solidFill>
              <a:srgbClr val="DCE3EB"/>
            </a:solidFill>
            <a:prstDash val="solid"/>
          </a:ln>
        </p:spPr>
      </p:sp>
      <p:sp>
        <p:nvSpPr>
          <p:cNvPr id="13" name="Text 8"/>
          <p:cNvSpPr txBox="1"/>
          <p:nvPr/>
        </p:nvSpPr>
        <p:spPr>
          <a:xfrm>
            <a:off x="914400" y="5029200"/>
            <a:ext cx="10332720" cy="640080"/>
          </a:xfrm>
          <a:prstGeom prst="rect">
            <a:avLst/>
          </a:prstGeom>
          <a:noFill/>
          <a:ln/>
        </p:spPr>
        <p:txBody>
          <a:bodyPr wrap="square" lIns="0" tIns="0" rIns="0" bIns="0" rtlCol="0" anchor="ctr"/>
          <a:lstStyle/>
          <a:p>
            <a:pPr algn="l" indent="0" marL="0">
              <a:lnSpc>
                <a:spcPct val="115000"/>
              </a:lnSpc>
              <a:buNone/>
            </a:pPr>
            <a:r>
              <a:rPr lang="en-US" sz="1600" dirty="0">
                <a:solidFill>
                  <a:srgbClr val="12161C"/>
                </a:solidFill>
                <a:latin typeface="Calibri" pitchFamily="34" charset="0"/>
                <a:ea typeface="Calibri" pitchFamily="34" charset="-122"/>
                <a:cs typeface="Calibri" pitchFamily="34" charset="-120"/>
              </a:rPr>
              <a:t>Two programs — but the five steps never change between them. The only thing we rewrite is what a single thread does once it knows which pixel it owns.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1737360"/>
            <a:ext cx="10911535" cy="365760"/>
          </a:xfrm>
          <a:prstGeom prst="rect">
            <a:avLst/>
          </a:prstGeom>
          <a:noFill/>
          <a:ln/>
        </p:spPr>
        <p:txBody>
          <a:bodyPr wrap="square" lIns="0" tIns="0" rIns="0" bIns="0" rtlCol="0" anchor="ctr"/>
          <a:lstStyle/>
          <a:p>
            <a:pPr indent="0" marL="0">
              <a:buNone/>
            </a:pPr>
            <a:r>
              <a:rPr lang="en-US" sz="1500" b="1" spc="200" kern="0" dirty="0">
                <a:solidFill>
                  <a:srgbClr val="9B8CFA"/>
                </a:solidFill>
                <a:latin typeface="Arial" pitchFamily="34" charset="0"/>
                <a:ea typeface="Arial" pitchFamily="34" charset="-122"/>
                <a:cs typeface="Arial" pitchFamily="34" charset="-120"/>
              </a:rPr>
              <a:t>LAPTOPS OPEN</a:t>
            </a:r>
            <a:endParaRPr lang="en-US" sz="1500" dirty="0"/>
          </a:p>
        </p:txBody>
      </p:sp>
      <p:sp>
        <p:nvSpPr>
          <p:cNvPr id="3" name="Text 1"/>
          <p:cNvSpPr txBox="1"/>
          <p:nvPr/>
        </p:nvSpPr>
        <p:spPr>
          <a:xfrm>
            <a:off x="640080" y="2148840"/>
            <a:ext cx="10911535" cy="1005840"/>
          </a:xfrm>
          <a:prstGeom prst="rect">
            <a:avLst/>
          </a:prstGeom>
          <a:noFill/>
          <a:ln/>
        </p:spPr>
        <p:txBody>
          <a:bodyPr wrap="square" lIns="0" tIns="0" rIns="0" bIns="0" rtlCol="0" anchor="ctr"/>
          <a:lstStyle/>
          <a:p>
            <a:pPr indent="0" marL="0">
              <a:buNone/>
            </a:pPr>
            <a:r>
              <a:rPr lang="en-US" sz="4400" b="1" dirty="0">
                <a:solidFill>
                  <a:srgbClr val="F5F7FA"/>
                </a:solidFill>
                <a:latin typeface="Arial" pitchFamily="34" charset="0"/>
                <a:ea typeface="Arial" pitchFamily="34" charset="-122"/>
                <a:cs typeface="Arial" pitchFamily="34" charset="-120"/>
              </a:rPr>
              <a:t>Build 1 — greyscale</a:t>
            </a:r>
            <a:endParaRPr lang="en-US" sz="4400" dirty="0"/>
          </a:p>
        </p:txBody>
      </p:sp>
      <p:sp>
        <p:nvSpPr>
          <p:cNvPr id="4" name="Text 2"/>
          <p:cNvSpPr txBox="1"/>
          <p:nvPr/>
        </p:nvSpPr>
        <p:spPr>
          <a:xfrm>
            <a:off x="640080" y="3291840"/>
            <a:ext cx="7863840" cy="1645920"/>
          </a:xfrm>
          <a:prstGeom prst="rect">
            <a:avLst/>
          </a:prstGeom>
          <a:noFill/>
          <a:ln/>
        </p:spPr>
        <p:txBody>
          <a:bodyPr wrap="square" lIns="0" tIns="0" rIns="0" bIns="0" rtlCol="0" anchor="ctr"/>
          <a:lstStyle/>
          <a:p>
            <a:pPr indent="0" marL="0">
              <a:lnSpc>
                <a:spcPct val="130000"/>
              </a:lnSpc>
              <a:buNone/>
            </a:pPr>
            <a:r>
              <a:rPr lang="en-US" sz="1700" dirty="0">
                <a:solidFill>
                  <a:srgbClr val="97A6B5"/>
                </a:solidFill>
                <a:latin typeface="Calibri" pitchFamily="34" charset="0"/>
                <a:ea typeface="Calibri" pitchFamily="34" charset="-122"/>
                <a:cs typeface="Calibri" pitchFamily="34" charset="-120"/>
              </a:rPr>
              <a:t>Notebook section 2. The bottom of the cell is already written — that's the five steps.</a:t>
            </a:r>
            <a:endParaRPr lang="en-US" sz="1700" dirty="0"/>
          </a:p>
          <a:p>
            <a:pPr indent="0" marL="0">
              <a:lnSpc>
                <a:spcPct val="130000"/>
              </a:lnSpc>
              <a:buNone/>
            </a:pPr>
            <a:endParaRPr lang="en-US" sz="1700" dirty="0"/>
          </a:p>
          <a:p>
            <a:pPr indent="0" marL="0">
              <a:lnSpc>
                <a:spcPct val="130000"/>
              </a:lnSpc>
              <a:buNone/>
            </a:pPr>
            <a:r>
              <a:rPr lang="en-US" sz="1700" dirty="0">
                <a:solidFill>
                  <a:srgbClr val="97A6B5"/>
                </a:solidFill>
                <a:latin typeface="Calibri" pitchFamily="34" charset="0"/>
                <a:ea typeface="Calibri" pitchFamily="34" charset="-122"/>
                <a:cs typeface="Calibri" pitchFamily="34" charset="-120"/>
              </a:rPr>
              <a:t>We write the kernel at the top together. About eight lines.</a:t>
            </a:r>
            <a:endParaRPr lang="en-US" sz="1700" dirty="0"/>
          </a:p>
          <a:p>
            <a:pPr indent="0" marL="0">
              <a:lnSpc>
                <a:spcPct val="130000"/>
              </a:lnSpc>
              <a:buNone/>
            </a:pPr>
            <a:endParaRPr lang="en-US" sz="1700" dirty="0"/>
          </a:p>
          <a:p>
            <a:pPr indent="0" marL="0">
              <a:lnSpc>
                <a:spcPct val="130000"/>
              </a:lnSpc>
              <a:buNone/>
            </a:pPr>
            <a:r>
              <a:rPr lang="en-US" sz="1700" dirty="0">
                <a:solidFill>
                  <a:srgbClr val="97A6B5"/>
                </a:solidFill>
                <a:latin typeface="Calibri" pitchFamily="34" charset="0"/>
                <a:ea typeface="Calibri" pitchFamily="34" charset="-122"/>
                <a:cs typeface="Calibri" pitchFamily="34" charset="-120"/>
              </a:rPr>
              <a:t>If you lose the thread: open the 🛟 cell underneath, copy it, and you're back with us.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1737360"/>
            <a:ext cx="10911535" cy="365760"/>
          </a:xfrm>
          <a:prstGeom prst="rect">
            <a:avLst/>
          </a:prstGeom>
          <a:noFill/>
          <a:ln/>
        </p:spPr>
        <p:txBody>
          <a:bodyPr wrap="square" lIns="0" tIns="0" rIns="0" bIns="0" rtlCol="0" anchor="ctr"/>
          <a:lstStyle/>
          <a:p>
            <a:pPr indent="0" marL="0">
              <a:buNone/>
            </a:pPr>
            <a:r>
              <a:rPr lang="en-US" sz="1500" b="1" spc="200" kern="0" dirty="0">
                <a:solidFill>
                  <a:srgbClr val="9B8CFA"/>
                </a:solidFill>
                <a:latin typeface="Arial" pitchFamily="34" charset="0"/>
                <a:ea typeface="Arial" pitchFamily="34" charset="-122"/>
                <a:cs typeface="Arial" pitchFamily="34" charset="-120"/>
              </a:rPr>
              <a:t>KEEP THEM OPEN</a:t>
            </a:r>
            <a:endParaRPr lang="en-US" sz="1500" dirty="0"/>
          </a:p>
        </p:txBody>
      </p:sp>
      <p:sp>
        <p:nvSpPr>
          <p:cNvPr id="3" name="Text 1"/>
          <p:cNvSpPr txBox="1"/>
          <p:nvPr/>
        </p:nvSpPr>
        <p:spPr>
          <a:xfrm>
            <a:off x="640080" y="2148840"/>
            <a:ext cx="10911535" cy="1005840"/>
          </a:xfrm>
          <a:prstGeom prst="rect">
            <a:avLst/>
          </a:prstGeom>
          <a:noFill/>
          <a:ln/>
        </p:spPr>
        <p:txBody>
          <a:bodyPr wrap="square" lIns="0" tIns="0" rIns="0" bIns="0" rtlCol="0" anchor="ctr"/>
          <a:lstStyle/>
          <a:p>
            <a:pPr indent="0" marL="0">
              <a:buNone/>
            </a:pPr>
            <a:r>
              <a:rPr lang="en-US" sz="4400" b="1" dirty="0">
                <a:solidFill>
                  <a:srgbClr val="F5F7FA"/>
                </a:solidFill>
                <a:latin typeface="Arial" pitchFamily="34" charset="0"/>
                <a:ea typeface="Arial" pitchFamily="34" charset="-122"/>
                <a:cs typeface="Arial" pitchFamily="34" charset="-120"/>
              </a:rPr>
              <a:t>Build 2 — blur</a:t>
            </a:r>
            <a:endParaRPr lang="en-US" sz="4400" dirty="0"/>
          </a:p>
        </p:txBody>
      </p:sp>
      <p:sp>
        <p:nvSpPr>
          <p:cNvPr id="4" name="Text 2"/>
          <p:cNvSpPr txBox="1"/>
          <p:nvPr/>
        </p:nvSpPr>
        <p:spPr>
          <a:xfrm>
            <a:off x="640080" y="3291840"/>
            <a:ext cx="7863840" cy="1645920"/>
          </a:xfrm>
          <a:prstGeom prst="rect">
            <a:avLst/>
          </a:prstGeom>
          <a:noFill/>
          <a:ln/>
        </p:spPr>
        <p:txBody>
          <a:bodyPr wrap="square" lIns="0" tIns="0" rIns="0" bIns="0" rtlCol="0" anchor="ctr"/>
          <a:lstStyle/>
          <a:p>
            <a:pPr indent="0" marL="0">
              <a:lnSpc>
                <a:spcPct val="130000"/>
              </a:lnSpc>
              <a:buNone/>
            </a:pPr>
            <a:r>
              <a:rPr lang="en-US" sz="1700" dirty="0">
                <a:solidFill>
                  <a:srgbClr val="97A6B5"/>
                </a:solidFill>
                <a:latin typeface="Calibri" pitchFamily="34" charset="0"/>
                <a:ea typeface="Calibri" pitchFamily="34" charset="-122"/>
                <a:cs typeface="Calibri" pitchFamily="34" charset="-120"/>
              </a:rPr>
              <a:t>Notebook section 3. Scroll to the bottom of the cell first: it is identical to last time.</a:t>
            </a:r>
            <a:endParaRPr lang="en-US" sz="1700" dirty="0"/>
          </a:p>
          <a:p>
            <a:pPr indent="0" marL="0">
              <a:lnSpc>
                <a:spcPct val="130000"/>
              </a:lnSpc>
              <a:buNone/>
            </a:pPr>
            <a:endParaRPr lang="en-US" sz="1700" dirty="0"/>
          </a:p>
          <a:p>
            <a:pPr indent="0" marL="0">
              <a:lnSpc>
                <a:spcPct val="130000"/>
              </a:lnSpc>
              <a:buNone/>
            </a:pPr>
            <a:r>
              <a:rPr lang="en-US" sz="1700" dirty="0">
                <a:solidFill>
                  <a:srgbClr val="97A6B5"/>
                </a:solidFill>
                <a:latin typeface="Calibri" pitchFamily="34" charset="0"/>
                <a:ea typeface="Calibri" pitchFamily="34" charset="-122"/>
                <a:cs typeface="Calibri" pitchFamily="34" charset="-120"/>
              </a:rPr>
              <a:t>Only the kernel changes — walk the square around me, add up the neighbours, divide.</a:t>
            </a:r>
            <a:endParaRPr lang="en-US" sz="1700" dirty="0"/>
          </a:p>
          <a:p>
            <a:pPr indent="0" marL="0">
              <a:lnSpc>
                <a:spcPct val="130000"/>
              </a:lnSpc>
              <a:buNone/>
            </a:pPr>
            <a:endParaRPr lang="en-US" sz="1700" dirty="0"/>
          </a:p>
          <a:p>
            <a:pPr indent="0" marL="0">
              <a:lnSpc>
                <a:spcPct val="130000"/>
              </a:lnSpc>
              <a:buNone/>
            </a:pPr>
            <a:r>
              <a:rPr lang="en-US" sz="1700" dirty="0">
                <a:solidFill>
                  <a:srgbClr val="97A6B5"/>
                </a:solidFill>
                <a:latin typeface="Calibri" pitchFamily="34" charset="0"/>
                <a:ea typeface="Calibri" pitchFamily="34" charset="-122"/>
                <a:cs typeface="Calibri" pitchFamily="34" charset="-120"/>
              </a:rPr>
              <a:t>Watch for the edges: a corner pixel has fewer neighbours than a middle one.</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1737360"/>
            <a:ext cx="10911535" cy="365760"/>
          </a:xfrm>
          <a:prstGeom prst="rect">
            <a:avLst/>
          </a:prstGeom>
          <a:noFill/>
          <a:ln/>
        </p:spPr>
        <p:txBody>
          <a:bodyPr wrap="square" lIns="0" tIns="0" rIns="0" bIns="0" rtlCol="0" anchor="ctr"/>
          <a:lstStyle/>
          <a:p>
            <a:pPr indent="0" marL="0">
              <a:buNone/>
            </a:pPr>
            <a:r>
              <a:rPr lang="en-US" sz="1500" b="1" spc="200" kern="0" dirty="0">
                <a:solidFill>
                  <a:srgbClr val="9B8CFA"/>
                </a:solidFill>
                <a:latin typeface="Arial" pitchFamily="34" charset="0"/>
                <a:ea typeface="Arial" pitchFamily="34" charset="-122"/>
                <a:cs typeface="Arial" pitchFamily="34" charset="-120"/>
              </a:rPr>
              <a:t>NOTHING TO TYPE</a:t>
            </a:r>
            <a:endParaRPr lang="en-US" sz="1500" dirty="0"/>
          </a:p>
        </p:txBody>
      </p:sp>
      <p:sp>
        <p:nvSpPr>
          <p:cNvPr id="3" name="Text 1"/>
          <p:cNvSpPr txBox="1"/>
          <p:nvPr/>
        </p:nvSpPr>
        <p:spPr>
          <a:xfrm>
            <a:off x="640080" y="2148840"/>
            <a:ext cx="10911535" cy="1005840"/>
          </a:xfrm>
          <a:prstGeom prst="rect">
            <a:avLst/>
          </a:prstGeom>
          <a:noFill/>
          <a:ln/>
        </p:spPr>
        <p:txBody>
          <a:bodyPr wrap="square" lIns="0" tIns="0" rIns="0" bIns="0" rtlCol="0" anchor="ctr"/>
          <a:lstStyle/>
          <a:p>
            <a:pPr indent="0" marL="0">
              <a:buNone/>
            </a:pPr>
            <a:r>
              <a:rPr lang="en-US" sz="4400" b="1" dirty="0">
                <a:solidFill>
                  <a:srgbClr val="F5F7FA"/>
                </a:solidFill>
                <a:latin typeface="Arial" pitchFamily="34" charset="0"/>
                <a:ea typeface="Arial" pitchFamily="34" charset="-122"/>
                <a:cs typeface="Arial" pitchFamily="34" charset="-120"/>
              </a:rPr>
              <a:t>How fast was that, really?</a:t>
            </a:r>
            <a:endParaRPr lang="en-US" sz="4400" dirty="0"/>
          </a:p>
        </p:txBody>
      </p:sp>
      <p:sp>
        <p:nvSpPr>
          <p:cNvPr id="4" name="Text 2"/>
          <p:cNvSpPr txBox="1"/>
          <p:nvPr/>
        </p:nvSpPr>
        <p:spPr>
          <a:xfrm>
            <a:off x="640080" y="3291840"/>
            <a:ext cx="7863840" cy="1645920"/>
          </a:xfrm>
          <a:prstGeom prst="rect">
            <a:avLst/>
          </a:prstGeom>
          <a:noFill/>
          <a:ln/>
        </p:spPr>
        <p:txBody>
          <a:bodyPr wrap="square" lIns="0" tIns="0" rIns="0" bIns="0" rtlCol="0" anchor="ctr"/>
          <a:lstStyle/>
          <a:p>
            <a:pPr indent="0" marL="0">
              <a:lnSpc>
                <a:spcPct val="130000"/>
              </a:lnSpc>
              <a:buNone/>
            </a:pPr>
            <a:r>
              <a:rPr lang="en-US" sz="1700" dirty="0">
                <a:solidFill>
                  <a:srgbClr val="97A6B5"/>
                </a:solidFill>
                <a:latin typeface="Calibri" pitchFamily="34" charset="0"/>
                <a:ea typeface="Calibri" pitchFamily="34" charset="-122"/>
                <a:cs typeface="Calibri" pitchFamily="34" charset="-120"/>
              </a:rPr>
              <a:t>Notebook section 4. The same blur, done twice — once as an ordinary loop on the CPU, once on the GPU.</a:t>
            </a:r>
            <a:endParaRPr lang="en-US" sz="1700" dirty="0"/>
          </a:p>
          <a:p>
            <a:pPr indent="0" marL="0">
              <a:lnSpc>
                <a:spcPct val="130000"/>
              </a:lnSpc>
              <a:buNone/>
            </a:pPr>
            <a:endParaRPr lang="en-US" sz="1700" dirty="0"/>
          </a:p>
          <a:p>
            <a:pPr indent="0" marL="0">
              <a:lnSpc>
                <a:spcPct val="130000"/>
              </a:lnSpc>
              <a:buNone/>
            </a:pPr>
            <a:r>
              <a:rPr lang="en-US" sz="1700" dirty="0">
                <a:solidFill>
                  <a:srgbClr val="97A6B5"/>
                </a:solidFill>
                <a:latin typeface="Calibri" pitchFamily="34" charset="0"/>
                <a:ea typeface="Calibri" pitchFamily="34" charset="-122"/>
                <a:cs typeface="Calibri" pitchFamily="34" charset="-120"/>
              </a:rPr>
              <a:t>Two numbers to watch: how much faster the blur itself was, and how much faster it was once you count the copying.</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algn="l" indent="0" marL="0">
              <a:buNone/>
            </a:pPr>
            <a:r>
              <a:rPr lang="en-US" sz="3400" b="1" dirty="0">
                <a:solidFill>
                  <a:srgbClr val="12161C"/>
                </a:solidFill>
                <a:latin typeface="Arial" pitchFamily="34" charset="0"/>
                <a:ea typeface="Arial" pitchFamily="34" charset="-122"/>
                <a:cs typeface="Arial" pitchFamily="34" charset="-120"/>
              </a:rPr>
              <a:t>Now the payoff: it's the same program</a:t>
            </a:r>
            <a:endParaRPr lang="en-US" sz="3400" dirty="0"/>
          </a:p>
        </p:txBody>
      </p:sp>
      <p:sp>
        <p:nvSpPr>
          <p:cNvPr id="3" name="Text 1"/>
          <p:cNvSpPr txBox="1"/>
          <p:nvPr/>
        </p:nvSpPr>
        <p:spPr>
          <a:xfrm>
            <a:off x="640080" y="1188720"/>
            <a:ext cx="10911535" cy="457200"/>
          </a:xfrm>
          <a:prstGeom prst="rect">
            <a:avLst/>
          </a:prstGeom>
          <a:noFill/>
          <a:ln/>
        </p:spPr>
        <p:txBody>
          <a:bodyPr wrap="square" lIns="0" tIns="0" rIns="0" bIns="0" rtlCol="0" anchor="ctr"/>
          <a:lstStyle/>
          <a:p>
            <a:pPr algn="l" indent="0" marL="0">
              <a:lnSpc>
                <a:spcPct val="115000"/>
              </a:lnSpc>
              <a:buNone/>
            </a:pPr>
            <a:r>
              <a:rPr lang="en-US" sz="1600" dirty="0">
                <a:solidFill>
                  <a:srgbClr val="5C6B7A"/>
                </a:solidFill>
                <a:latin typeface="Calibri" pitchFamily="34" charset="0"/>
                <a:ea typeface="Calibri" pitchFamily="34" charset="-122"/>
                <a:cs typeface="Calibri" pitchFamily="34" charset="-120"/>
              </a:rPr>
              <a:t>Multiplying two matrices is the same shape of code you just wrote. Only the arithmetic in the middle is different.</a:t>
            </a:r>
            <a:endParaRPr lang="en-US" sz="1600" dirty="0"/>
          </a:p>
        </p:txBody>
      </p:sp>
      <p:sp>
        <p:nvSpPr>
          <p:cNvPr id="4" name="Shape 2"/>
          <p:cNvSpPr/>
          <p:nvPr/>
        </p:nvSpPr>
        <p:spPr>
          <a:xfrm>
            <a:off x="640080" y="1828800"/>
            <a:ext cx="5257800" cy="3200400"/>
          </a:xfrm>
          <a:prstGeom prst="roundRect">
            <a:avLst>
              <a:gd name="adj" fmla="val 2571"/>
            </a:avLst>
          </a:prstGeom>
          <a:solidFill>
            <a:srgbClr val="FFFFFF"/>
          </a:solidFill>
          <a:ln w="12700">
            <a:solidFill>
              <a:srgbClr val="DCE3EB"/>
            </a:solidFill>
            <a:prstDash val="solid"/>
          </a:ln>
        </p:spPr>
      </p:sp>
      <p:sp>
        <p:nvSpPr>
          <p:cNvPr id="5" name="Text 3"/>
          <p:cNvSpPr txBox="1"/>
          <p:nvPr/>
        </p:nvSpPr>
        <p:spPr>
          <a:xfrm>
            <a:off x="914400" y="2011680"/>
            <a:ext cx="3657600" cy="320040"/>
          </a:xfrm>
          <a:prstGeom prst="rect">
            <a:avLst/>
          </a:prstGeom>
          <a:noFill/>
          <a:ln/>
        </p:spPr>
        <p:txBody>
          <a:bodyPr wrap="square" lIns="0" tIns="0" rIns="0" bIns="0" rtlCol="0" anchor="ctr"/>
          <a:lstStyle/>
          <a:p>
            <a:pPr indent="0" marL="0">
              <a:buNone/>
            </a:pPr>
            <a:r>
              <a:rPr lang="en-US" sz="1400" b="1" dirty="0">
                <a:solidFill>
                  <a:srgbClr val="17853F"/>
                </a:solidFill>
                <a:latin typeface="Arial" pitchFamily="34" charset="0"/>
                <a:ea typeface="Arial" pitchFamily="34" charset="-122"/>
                <a:cs typeface="Arial" pitchFamily="34" charset="-120"/>
              </a:rPr>
              <a:t>your blur</a:t>
            </a:r>
            <a:endParaRPr lang="en-US" sz="1400" dirty="0"/>
          </a:p>
        </p:txBody>
      </p:sp>
      <p:sp>
        <p:nvSpPr>
          <p:cNvPr id="6" name="Text 4"/>
          <p:cNvSpPr txBox="1"/>
          <p:nvPr/>
        </p:nvSpPr>
        <p:spPr>
          <a:xfrm>
            <a:off x="914400" y="2377440"/>
            <a:ext cx="4709160" cy="2468880"/>
          </a:xfrm>
          <a:prstGeom prst="rect">
            <a:avLst/>
          </a:prstGeom>
          <a:noFill/>
          <a:ln/>
        </p:spPr>
        <p:txBody>
          <a:bodyPr wrap="square" lIns="127000" tIns="127000" rIns="127000" bIns="127000" rtlCol="0" anchor="ctr"/>
          <a:lstStyle/>
          <a:p>
            <a:pPr algn="l" indent="0" marL="0">
              <a:lnSpc>
                <a:spcPct val="120000"/>
              </a:lnSpc>
              <a:buNone/>
            </a:pPr>
            <a:r>
              <a:rPr lang="en-US" sz="1150" dirty="0">
                <a:solidFill>
                  <a:srgbClr val="12161C"/>
                </a:solidFill>
                <a:latin typeface="Courier New" pitchFamily="34" charset="0"/>
                <a:ea typeface="Courier New" pitchFamily="34" charset="-122"/>
                <a:cs typeface="Courier New" pitchFamily="34" charset="-120"/>
              </a:rPr>
              <a:t>col = blockIdx.x*blockDim.x + threadIdx.x;</a:t>
            </a:r>
            <a:endParaRPr lang="en-US" sz="1150" dirty="0"/>
          </a:p>
          <a:p>
            <a:pPr algn="l" indent="0" marL="0">
              <a:lnSpc>
                <a:spcPct val="120000"/>
              </a:lnSpc>
              <a:buNone/>
            </a:pPr>
            <a:r>
              <a:rPr lang="en-US" sz="1150" dirty="0">
                <a:solidFill>
                  <a:srgbClr val="12161C"/>
                </a:solidFill>
                <a:latin typeface="Courier New" pitchFamily="34" charset="0"/>
                <a:ea typeface="Courier New" pitchFamily="34" charset="-122"/>
                <a:cs typeface="Courier New" pitchFamily="34" charset="-120"/>
              </a:rPr>
              <a:t>row = blockIdx.y*blockDim.y + threadIdx.y;</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12161C"/>
                </a:solidFill>
                <a:latin typeface="Courier New" pitchFamily="34" charset="0"/>
                <a:ea typeface="Courier New" pitchFamily="34" charset="-122"/>
                <a:cs typeface="Courier New" pitchFamily="34" charset="-120"/>
              </a:rPr>
              <a:t>if (col &lt; w &amp;&amp; row &lt; h) {</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12161C"/>
                </a:solidFill>
                <a:latin typeface="Courier New" pitchFamily="34" charset="0"/>
                <a:ea typeface="Courier New" pitchFamily="34" charset="-122"/>
                <a:cs typeface="Courier New" pitchFamily="34" charset="-120"/>
              </a:rPr>
              <a:t>    for (neighbours around me)</a:t>
            </a:r>
            <a:endParaRPr lang="en-US" sz="1150" dirty="0"/>
          </a:p>
          <a:p>
            <a:pPr algn="l" indent="0" marL="0">
              <a:lnSpc>
                <a:spcPct val="120000"/>
              </a:lnSpc>
              <a:buNone/>
            </a:pPr>
            <a:r>
              <a:rPr lang="en-US" sz="1150" dirty="0">
                <a:solidFill>
                  <a:srgbClr val="12161C"/>
                </a:solidFill>
                <a:latin typeface="Courier New" pitchFamily="34" charset="0"/>
                <a:ea typeface="Courier New" pitchFamily="34" charset="-122"/>
                <a:cs typeface="Courier New" pitchFamily="34" charset="-120"/>
              </a:rPr>
              <a:t>        total += pixel value;</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12161C"/>
                </a:solidFill>
                <a:latin typeface="Courier New" pitchFamily="34" charset="0"/>
                <a:ea typeface="Courier New" pitchFamily="34" charset="-122"/>
                <a:cs typeface="Courier New" pitchFamily="34" charset="-120"/>
              </a:rPr>
              <a:t>    out[...] = total / count;</a:t>
            </a:r>
            <a:endParaRPr lang="en-US" sz="1150" dirty="0"/>
          </a:p>
          <a:p>
            <a:pPr algn="l" indent="0" marL="0">
              <a:lnSpc>
                <a:spcPct val="120000"/>
              </a:lnSpc>
              <a:buNone/>
            </a:pPr>
            <a:r>
              <a:rPr lang="en-US" sz="1150" dirty="0">
                <a:solidFill>
                  <a:srgbClr val="12161C"/>
                </a:solidFill>
                <a:latin typeface="Courier New" pitchFamily="34" charset="0"/>
                <a:ea typeface="Courier New" pitchFamily="34" charset="-122"/>
                <a:cs typeface="Courier New" pitchFamily="34" charset="-120"/>
              </a:rPr>
              <a:t>}</a:t>
            </a:r>
            <a:endParaRPr lang="en-US" sz="1150" dirty="0"/>
          </a:p>
        </p:txBody>
      </p:sp>
      <p:sp>
        <p:nvSpPr>
          <p:cNvPr id="7" name="Shape 5"/>
          <p:cNvSpPr/>
          <p:nvPr/>
        </p:nvSpPr>
        <p:spPr>
          <a:xfrm>
            <a:off x="6446520" y="1828800"/>
            <a:ext cx="5120640" cy="3200400"/>
          </a:xfrm>
          <a:prstGeom prst="roundRect">
            <a:avLst>
              <a:gd name="adj" fmla="val 2571"/>
            </a:avLst>
          </a:prstGeom>
          <a:solidFill>
            <a:srgbClr val="FFFFFF"/>
          </a:solidFill>
          <a:ln w="12700">
            <a:solidFill>
              <a:srgbClr val="DCE3EB"/>
            </a:solidFill>
            <a:prstDash val="solid"/>
          </a:ln>
        </p:spPr>
      </p:sp>
      <p:sp>
        <p:nvSpPr>
          <p:cNvPr id="8" name="Text 6"/>
          <p:cNvSpPr txBox="1"/>
          <p:nvPr/>
        </p:nvSpPr>
        <p:spPr>
          <a:xfrm>
            <a:off x="6720840" y="2011680"/>
            <a:ext cx="3657600" cy="320040"/>
          </a:xfrm>
          <a:prstGeom prst="rect">
            <a:avLst/>
          </a:prstGeom>
          <a:noFill/>
          <a:ln/>
        </p:spPr>
        <p:txBody>
          <a:bodyPr wrap="square" lIns="0" tIns="0" rIns="0" bIns="0" rtlCol="0" anchor="ctr"/>
          <a:lstStyle/>
          <a:p>
            <a:pPr indent="0" marL="0">
              <a:buNone/>
            </a:pPr>
            <a:r>
              <a:rPr lang="en-US" sz="1400" b="1" dirty="0">
                <a:solidFill>
                  <a:srgbClr val="17853F"/>
                </a:solidFill>
                <a:latin typeface="Arial" pitchFamily="34" charset="0"/>
                <a:ea typeface="Arial" pitchFamily="34" charset="-122"/>
                <a:cs typeface="Arial" pitchFamily="34" charset="-120"/>
              </a:rPr>
              <a:t>a matrix multiply</a:t>
            </a:r>
            <a:endParaRPr lang="en-US" sz="1400" dirty="0"/>
          </a:p>
        </p:txBody>
      </p:sp>
      <p:sp>
        <p:nvSpPr>
          <p:cNvPr id="9" name="Text 7"/>
          <p:cNvSpPr txBox="1"/>
          <p:nvPr/>
        </p:nvSpPr>
        <p:spPr>
          <a:xfrm>
            <a:off x="6720840" y="2377440"/>
            <a:ext cx="4572000" cy="2468880"/>
          </a:xfrm>
          <a:prstGeom prst="rect">
            <a:avLst/>
          </a:prstGeom>
          <a:noFill/>
          <a:ln/>
        </p:spPr>
        <p:txBody>
          <a:bodyPr wrap="square" lIns="127000" tIns="127000" rIns="127000" bIns="127000" rtlCol="0" anchor="ctr"/>
          <a:lstStyle/>
          <a:p>
            <a:pPr algn="l" indent="0" marL="0">
              <a:lnSpc>
                <a:spcPct val="120000"/>
              </a:lnSpc>
              <a:buNone/>
            </a:pPr>
            <a:r>
              <a:rPr lang="en-US" sz="1150" dirty="0">
                <a:solidFill>
                  <a:srgbClr val="12161C"/>
                </a:solidFill>
                <a:latin typeface="Courier New" pitchFamily="34" charset="0"/>
                <a:ea typeface="Courier New" pitchFamily="34" charset="-122"/>
                <a:cs typeface="Courier New" pitchFamily="34" charset="-120"/>
              </a:rPr>
              <a:t>col = blockIdx.x*blockDim.x + threadIdx.x;</a:t>
            </a:r>
            <a:endParaRPr lang="en-US" sz="1150" dirty="0"/>
          </a:p>
          <a:p>
            <a:pPr algn="l" indent="0" marL="0">
              <a:lnSpc>
                <a:spcPct val="120000"/>
              </a:lnSpc>
              <a:buNone/>
            </a:pPr>
            <a:r>
              <a:rPr lang="en-US" sz="1150" dirty="0">
                <a:solidFill>
                  <a:srgbClr val="12161C"/>
                </a:solidFill>
                <a:latin typeface="Courier New" pitchFamily="34" charset="0"/>
                <a:ea typeface="Courier New" pitchFamily="34" charset="-122"/>
                <a:cs typeface="Courier New" pitchFamily="34" charset="-120"/>
              </a:rPr>
              <a:t>row = blockIdx.y*blockDim.y + threadIdx.y;</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12161C"/>
                </a:solidFill>
                <a:latin typeface="Courier New" pitchFamily="34" charset="0"/>
                <a:ea typeface="Courier New" pitchFamily="34" charset="-122"/>
                <a:cs typeface="Courier New" pitchFamily="34" charset="-120"/>
              </a:rPr>
              <a:t>if (col &lt; w &amp;&amp; row &lt; h) {</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12161C"/>
                </a:solidFill>
                <a:latin typeface="Courier New" pitchFamily="34" charset="0"/>
                <a:ea typeface="Courier New" pitchFamily="34" charset="-122"/>
                <a:cs typeface="Courier New" pitchFamily="34" charset="-120"/>
              </a:rPr>
              <a:t>    for (k across the row/column)</a:t>
            </a:r>
            <a:endParaRPr lang="en-US" sz="1150" dirty="0"/>
          </a:p>
          <a:p>
            <a:pPr algn="l" indent="0" marL="0">
              <a:lnSpc>
                <a:spcPct val="120000"/>
              </a:lnSpc>
              <a:buNone/>
            </a:pPr>
            <a:r>
              <a:rPr lang="en-US" sz="1150" dirty="0">
                <a:solidFill>
                  <a:srgbClr val="12161C"/>
                </a:solidFill>
                <a:latin typeface="Courier New" pitchFamily="34" charset="0"/>
                <a:ea typeface="Courier New" pitchFamily="34" charset="-122"/>
                <a:cs typeface="Courier New" pitchFamily="34" charset="-120"/>
              </a:rPr>
              <a:t>        total += A[..] * B[..];</a:t>
            </a:r>
            <a:endParaRPr lang="en-US" sz="1150" dirty="0"/>
          </a:p>
          <a:p>
            <a:pPr algn="l" indent="0" marL="0">
              <a:lnSpc>
                <a:spcPct val="120000"/>
              </a:lnSpc>
              <a:buNone/>
            </a:pPr>
            <a:endParaRPr lang="en-US" sz="1150" dirty="0"/>
          </a:p>
          <a:p>
            <a:pPr algn="l" indent="0" marL="0">
              <a:lnSpc>
                <a:spcPct val="120000"/>
              </a:lnSpc>
              <a:buNone/>
            </a:pPr>
            <a:r>
              <a:rPr lang="en-US" sz="1150" dirty="0">
                <a:solidFill>
                  <a:srgbClr val="12161C"/>
                </a:solidFill>
                <a:latin typeface="Courier New" pitchFamily="34" charset="0"/>
                <a:ea typeface="Courier New" pitchFamily="34" charset="-122"/>
                <a:cs typeface="Courier New" pitchFamily="34" charset="-120"/>
              </a:rPr>
              <a:t>    out[...] = total;</a:t>
            </a:r>
            <a:endParaRPr lang="en-US" sz="1150" dirty="0"/>
          </a:p>
          <a:p>
            <a:pPr algn="l" indent="0" marL="0">
              <a:lnSpc>
                <a:spcPct val="120000"/>
              </a:lnSpc>
              <a:buNone/>
            </a:pPr>
            <a:r>
              <a:rPr lang="en-US" sz="1150" dirty="0">
                <a:solidFill>
                  <a:srgbClr val="12161C"/>
                </a:solidFill>
                <a:latin typeface="Courier New" pitchFamily="34" charset="0"/>
                <a:ea typeface="Courier New" pitchFamily="34" charset="-122"/>
                <a:cs typeface="Courier New" pitchFamily="34" charset="-120"/>
              </a:rPr>
              <a:t>}</a:t>
            </a:r>
            <a:endParaRPr lang="en-US" sz="1150" dirty="0"/>
          </a:p>
        </p:txBody>
      </p:sp>
      <p:sp>
        <p:nvSpPr>
          <p:cNvPr id="10" name="Text 8"/>
          <p:cNvSpPr txBox="1"/>
          <p:nvPr/>
        </p:nvSpPr>
        <p:spPr>
          <a:xfrm>
            <a:off x="640080" y="5212080"/>
            <a:ext cx="10881360" cy="731520"/>
          </a:xfrm>
          <a:prstGeom prst="rect">
            <a:avLst/>
          </a:prstGeom>
          <a:noFill/>
          <a:ln/>
        </p:spPr>
        <p:txBody>
          <a:bodyPr wrap="square" lIns="0" tIns="0" rIns="0" bIns="0" rtlCol="0" anchor="ctr"/>
          <a:lstStyle/>
          <a:p>
            <a:pPr algn="l" indent="0" marL="0">
              <a:lnSpc>
                <a:spcPct val="115000"/>
              </a:lnSpc>
              <a:buNone/>
            </a:pPr>
            <a:r>
              <a:rPr lang="en-US" sz="1600" b="1" dirty="0">
                <a:solidFill>
                  <a:srgbClr val="12161C"/>
                </a:solidFill>
                <a:latin typeface="Calibri" pitchFamily="34" charset="0"/>
                <a:ea typeface="Calibri" pitchFamily="34" charset="-122"/>
                <a:cs typeface="Calibri" pitchFamily="34" charset="-120"/>
              </a:rPr>
              <a:t>Same “which one am I”. Same bounds check. Same loop that adds things up. One thread per output number — for the second time today.</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algn="l" indent="0" marL="0">
              <a:buNone/>
            </a:pPr>
            <a:r>
              <a:rPr lang="en-US" sz="3400" b="1" dirty="0">
                <a:solidFill>
                  <a:srgbClr val="12161C"/>
                </a:solidFill>
                <a:latin typeface="Arial" pitchFamily="34" charset="0"/>
                <a:ea typeface="Arial" pitchFamily="34" charset="-122"/>
                <a:cs typeface="Arial" pitchFamily="34" charset="-120"/>
              </a:rPr>
              <a:t>And a language model is mostly matrix multiplies</a:t>
            </a:r>
            <a:endParaRPr lang="en-US" sz="3400" dirty="0"/>
          </a:p>
        </p:txBody>
      </p:sp>
      <p:sp>
        <p:nvSpPr>
          <p:cNvPr id="3" name="Shape 1"/>
          <p:cNvSpPr/>
          <p:nvPr/>
        </p:nvSpPr>
        <p:spPr>
          <a:xfrm>
            <a:off x="640080" y="1554480"/>
            <a:ext cx="10881360" cy="868680"/>
          </a:xfrm>
          <a:prstGeom prst="roundRect">
            <a:avLst>
              <a:gd name="adj" fmla="val 9474"/>
            </a:avLst>
          </a:prstGeom>
          <a:solidFill>
            <a:srgbClr val="FFFFFF"/>
          </a:solidFill>
          <a:ln w="12700">
            <a:solidFill>
              <a:srgbClr val="DCE3EB"/>
            </a:solidFill>
            <a:prstDash val="solid"/>
          </a:ln>
        </p:spPr>
      </p:sp>
      <p:sp>
        <p:nvSpPr>
          <p:cNvPr id="4" name="Shape 2"/>
          <p:cNvSpPr/>
          <p:nvPr/>
        </p:nvSpPr>
        <p:spPr>
          <a:xfrm>
            <a:off x="914400" y="1755648"/>
            <a:ext cx="457200" cy="457200"/>
          </a:xfrm>
          <a:prstGeom prst="ellipse">
            <a:avLst/>
          </a:prstGeom>
          <a:solidFill>
            <a:srgbClr val="3DDC84"/>
          </a:solidFill>
          <a:ln w="12700">
            <a:solidFill>
              <a:srgbClr val="3DDC84"/>
            </a:solidFill>
            <a:prstDash val="solid"/>
          </a:ln>
        </p:spPr>
      </p:sp>
      <p:sp>
        <p:nvSpPr>
          <p:cNvPr id="5" name="Text 3"/>
          <p:cNvSpPr txBox="1"/>
          <p:nvPr/>
        </p:nvSpPr>
        <p:spPr>
          <a:xfrm>
            <a:off x="914400" y="1755648"/>
            <a:ext cx="457200" cy="457200"/>
          </a:xfrm>
          <a:prstGeom prst="rect">
            <a:avLst/>
          </a:prstGeom>
          <a:noFill/>
          <a:ln/>
        </p:spPr>
        <p:txBody>
          <a:bodyPr wrap="square" lIns="0" tIns="0" rIns="0" bIns="0" rtlCol="0" anchor="ctr"/>
          <a:lstStyle/>
          <a:p>
            <a:pPr algn="ctr" indent="0" marL="0">
              <a:buNone/>
            </a:pPr>
            <a:r>
              <a:rPr lang="en-US" sz="1400" b="1" dirty="0">
                <a:solidFill>
                  <a:srgbClr val="12161C"/>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554480" y="1554480"/>
            <a:ext cx="6035040" cy="868680"/>
          </a:xfrm>
          <a:prstGeom prst="rect">
            <a:avLst/>
          </a:prstGeom>
          <a:noFill/>
          <a:ln/>
        </p:spPr>
        <p:txBody>
          <a:bodyPr wrap="square" lIns="0" tIns="0" rIns="0" bIns="0" rtlCol="0" anchor="ctr"/>
          <a:lstStyle/>
          <a:p>
            <a:pPr indent="0" marL="0">
              <a:buNone/>
            </a:pPr>
            <a:r>
              <a:rPr lang="en-US" sz="1600" dirty="0">
                <a:solidFill>
                  <a:srgbClr val="12161C"/>
                </a:solidFill>
                <a:latin typeface="Calibri" pitchFamily="34" charset="0"/>
                <a:ea typeface="Calibri" pitchFamily="34" charset="-122"/>
                <a:cs typeface="Calibri" pitchFamily="34" charset="-120"/>
              </a:rPr>
              <a:t>Turning words into numbers</a:t>
            </a:r>
            <a:endParaRPr lang="en-US" sz="1600" dirty="0"/>
          </a:p>
        </p:txBody>
      </p:sp>
      <p:sp>
        <p:nvSpPr>
          <p:cNvPr id="7" name="Text 5"/>
          <p:cNvSpPr txBox="1"/>
          <p:nvPr/>
        </p:nvSpPr>
        <p:spPr>
          <a:xfrm>
            <a:off x="7315200" y="1554480"/>
            <a:ext cx="3931920" cy="868680"/>
          </a:xfrm>
          <a:prstGeom prst="rect">
            <a:avLst/>
          </a:prstGeom>
          <a:noFill/>
          <a:ln/>
        </p:spPr>
        <p:txBody>
          <a:bodyPr wrap="square" lIns="0" tIns="0" rIns="0" bIns="0" rtlCol="0" anchor="ctr"/>
          <a:lstStyle/>
          <a:p>
            <a:pPr algn="r" indent="0" marL="0">
              <a:buNone/>
            </a:pPr>
            <a:r>
              <a:rPr lang="en-US" sz="1500" b="1" dirty="0">
                <a:solidFill>
                  <a:srgbClr val="5C6B7A"/>
                </a:solidFill>
                <a:latin typeface="Arial" pitchFamily="34" charset="0"/>
                <a:ea typeface="Arial" pitchFamily="34" charset="-122"/>
                <a:cs typeface="Arial" pitchFamily="34" charset="-120"/>
              </a:rPr>
              <a:t>a matrix multiply</a:t>
            </a:r>
            <a:endParaRPr lang="en-US" sz="1500" dirty="0"/>
          </a:p>
        </p:txBody>
      </p:sp>
      <p:sp>
        <p:nvSpPr>
          <p:cNvPr id="8" name="Shape 6"/>
          <p:cNvSpPr/>
          <p:nvPr/>
        </p:nvSpPr>
        <p:spPr>
          <a:xfrm>
            <a:off x="640080" y="2578608"/>
            <a:ext cx="10881360" cy="868680"/>
          </a:xfrm>
          <a:prstGeom prst="roundRect">
            <a:avLst>
              <a:gd name="adj" fmla="val 9474"/>
            </a:avLst>
          </a:prstGeom>
          <a:solidFill>
            <a:srgbClr val="FFFFFF"/>
          </a:solidFill>
          <a:ln w="12700">
            <a:solidFill>
              <a:srgbClr val="DCE3EB"/>
            </a:solidFill>
            <a:prstDash val="solid"/>
          </a:ln>
        </p:spPr>
      </p:sp>
      <p:sp>
        <p:nvSpPr>
          <p:cNvPr id="9" name="Shape 7"/>
          <p:cNvSpPr/>
          <p:nvPr/>
        </p:nvSpPr>
        <p:spPr>
          <a:xfrm>
            <a:off x="914400" y="2779776"/>
            <a:ext cx="457200" cy="457200"/>
          </a:xfrm>
          <a:prstGeom prst="ellipse">
            <a:avLst/>
          </a:prstGeom>
          <a:solidFill>
            <a:srgbClr val="3DDC84"/>
          </a:solidFill>
          <a:ln w="12700">
            <a:solidFill>
              <a:srgbClr val="3DDC84"/>
            </a:solidFill>
            <a:prstDash val="solid"/>
          </a:ln>
        </p:spPr>
      </p:sp>
      <p:sp>
        <p:nvSpPr>
          <p:cNvPr id="10" name="Text 8"/>
          <p:cNvSpPr txBox="1"/>
          <p:nvPr/>
        </p:nvSpPr>
        <p:spPr>
          <a:xfrm>
            <a:off x="914400" y="2779776"/>
            <a:ext cx="457200" cy="457200"/>
          </a:xfrm>
          <a:prstGeom prst="rect">
            <a:avLst/>
          </a:prstGeom>
          <a:noFill/>
          <a:ln/>
        </p:spPr>
        <p:txBody>
          <a:bodyPr wrap="square" lIns="0" tIns="0" rIns="0" bIns="0" rtlCol="0" anchor="ctr"/>
          <a:lstStyle/>
          <a:p>
            <a:pPr algn="ctr" indent="0" marL="0">
              <a:buNone/>
            </a:pPr>
            <a:r>
              <a:rPr lang="en-US" sz="1400" b="1" dirty="0">
                <a:solidFill>
                  <a:srgbClr val="12161C"/>
                </a:solidFill>
                <a:latin typeface="Arial" pitchFamily="34" charset="0"/>
                <a:ea typeface="Arial" pitchFamily="34" charset="-122"/>
                <a:cs typeface="Arial" pitchFamily="34" charset="-120"/>
              </a:rPr>
              <a:t>2</a:t>
            </a:r>
            <a:endParaRPr lang="en-US" sz="1400" dirty="0"/>
          </a:p>
        </p:txBody>
      </p:sp>
      <p:sp>
        <p:nvSpPr>
          <p:cNvPr id="11" name="Text 9"/>
          <p:cNvSpPr txBox="1"/>
          <p:nvPr/>
        </p:nvSpPr>
        <p:spPr>
          <a:xfrm>
            <a:off x="1554480" y="2578608"/>
            <a:ext cx="6035040" cy="868680"/>
          </a:xfrm>
          <a:prstGeom prst="rect">
            <a:avLst/>
          </a:prstGeom>
          <a:noFill/>
          <a:ln/>
        </p:spPr>
        <p:txBody>
          <a:bodyPr wrap="square" lIns="0" tIns="0" rIns="0" bIns="0" rtlCol="0" anchor="ctr"/>
          <a:lstStyle/>
          <a:p>
            <a:pPr indent="0" marL="0">
              <a:buNone/>
            </a:pPr>
            <a:r>
              <a:rPr lang="en-US" sz="1600" dirty="0">
                <a:solidFill>
                  <a:srgbClr val="12161C"/>
                </a:solidFill>
                <a:latin typeface="Calibri" pitchFamily="34" charset="0"/>
                <a:ea typeface="Calibri" pitchFamily="34" charset="-122"/>
                <a:cs typeface="Calibri" pitchFamily="34" charset="-120"/>
              </a:rPr>
              <a:t>Working out which words matter to each other</a:t>
            </a:r>
            <a:endParaRPr lang="en-US" sz="1600" dirty="0"/>
          </a:p>
        </p:txBody>
      </p:sp>
      <p:sp>
        <p:nvSpPr>
          <p:cNvPr id="12" name="Text 10"/>
          <p:cNvSpPr txBox="1"/>
          <p:nvPr/>
        </p:nvSpPr>
        <p:spPr>
          <a:xfrm>
            <a:off x="7315200" y="2578608"/>
            <a:ext cx="3931920" cy="868680"/>
          </a:xfrm>
          <a:prstGeom prst="rect">
            <a:avLst/>
          </a:prstGeom>
          <a:noFill/>
          <a:ln/>
        </p:spPr>
        <p:txBody>
          <a:bodyPr wrap="square" lIns="0" tIns="0" rIns="0" bIns="0" rtlCol="0" anchor="ctr"/>
          <a:lstStyle/>
          <a:p>
            <a:pPr algn="r" indent="0" marL="0">
              <a:buNone/>
            </a:pPr>
            <a:r>
              <a:rPr lang="en-US" sz="1500" b="1" dirty="0">
                <a:solidFill>
                  <a:srgbClr val="5C6B7A"/>
                </a:solidFill>
                <a:latin typeface="Arial" pitchFamily="34" charset="0"/>
                <a:ea typeface="Arial" pitchFamily="34" charset="-122"/>
                <a:cs typeface="Arial" pitchFamily="34" charset="-120"/>
              </a:rPr>
              <a:t>two matrix multiplies</a:t>
            </a:r>
            <a:endParaRPr lang="en-US" sz="1500" dirty="0"/>
          </a:p>
        </p:txBody>
      </p:sp>
      <p:sp>
        <p:nvSpPr>
          <p:cNvPr id="13" name="Shape 11"/>
          <p:cNvSpPr/>
          <p:nvPr/>
        </p:nvSpPr>
        <p:spPr>
          <a:xfrm>
            <a:off x="640080" y="3602736"/>
            <a:ext cx="10881360" cy="868680"/>
          </a:xfrm>
          <a:prstGeom prst="roundRect">
            <a:avLst>
              <a:gd name="adj" fmla="val 9474"/>
            </a:avLst>
          </a:prstGeom>
          <a:solidFill>
            <a:srgbClr val="FFFFFF"/>
          </a:solidFill>
          <a:ln w="12700">
            <a:solidFill>
              <a:srgbClr val="DCE3EB"/>
            </a:solidFill>
            <a:prstDash val="solid"/>
          </a:ln>
        </p:spPr>
      </p:sp>
      <p:sp>
        <p:nvSpPr>
          <p:cNvPr id="14" name="Shape 12"/>
          <p:cNvSpPr/>
          <p:nvPr/>
        </p:nvSpPr>
        <p:spPr>
          <a:xfrm>
            <a:off x="914400" y="3803904"/>
            <a:ext cx="457200" cy="457200"/>
          </a:xfrm>
          <a:prstGeom prst="ellipse">
            <a:avLst/>
          </a:prstGeom>
          <a:solidFill>
            <a:srgbClr val="3DDC84"/>
          </a:solidFill>
          <a:ln w="12700">
            <a:solidFill>
              <a:srgbClr val="3DDC84"/>
            </a:solidFill>
            <a:prstDash val="solid"/>
          </a:ln>
        </p:spPr>
      </p:sp>
      <p:sp>
        <p:nvSpPr>
          <p:cNvPr id="15" name="Text 13"/>
          <p:cNvSpPr txBox="1"/>
          <p:nvPr/>
        </p:nvSpPr>
        <p:spPr>
          <a:xfrm>
            <a:off x="914400" y="3803904"/>
            <a:ext cx="457200" cy="457200"/>
          </a:xfrm>
          <a:prstGeom prst="rect">
            <a:avLst/>
          </a:prstGeom>
          <a:noFill/>
          <a:ln/>
        </p:spPr>
        <p:txBody>
          <a:bodyPr wrap="square" lIns="0" tIns="0" rIns="0" bIns="0" rtlCol="0" anchor="ctr"/>
          <a:lstStyle/>
          <a:p>
            <a:pPr algn="ctr" indent="0" marL="0">
              <a:buNone/>
            </a:pPr>
            <a:r>
              <a:rPr lang="en-US" sz="1400" b="1" dirty="0">
                <a:solidFill>
                  <a:srgbClr val="12161C"/>
                </a:solidFill>
                <a:latin typeface="Arial" pitchFamily="34" charset="0"/>
                <a:ea typeface="Arial" pitchFamily="34" charset="-122"/>
                <a:cs typeface="Arial" pitchFamily="34" charset="-120"/>
              </a:rPr>
              <a:t>3</a:t>
            </a:r>
            <a:endParaRPr lang="en-US" sz="1400" dirty="0"/>
          </a:p>
        </p:txBody>
      </p:sp>
      <p:sp>
        <p:nvSpPr>
          <p:cNvPr id="16" name="Text 14"/>
          <p:cNvSpPr txBox="1"/>
          <p:nvPr/>
        </p:nvSpPr>
        <p:spPr>
          <a:xfrm>
            <a:off x="1554480" y="3602736"/>
            <a:ext cx="6035040" cy="868680"/>
          </a:xfrm>
          <a:prstGeom prst="rect">
            <a:avLst/>
          </a:prstGeom>
          <a:noFill/>
          <a:ln/>
        </p:spPr>
        <p:txBody>
          <a:bodyPr wrap="square" lIns="0" tIns="0" rIns="0" bIns="0" rtlCol="0" anchor="ctr"/>
          <a:lstStyle/>
          <a:p>
            <a:pPr indent="0" marL="0">
              <a:buNone/>
            </a:pPr>
            <a:r>
              <a:rPr lang="en-US" sz="1600" dirty="0">
                <a:solidFill>
                  <a:srgbClr val="12161C"/>
                </a:solidFill>
                <a:latin typeface="Calibri" pitchFamily="34" charset="0"/>
                <a:ea typeface="Calibri" pitchFamily="34" charset="-122"/>
                <a:cs typeface="Calibri" pitchFamily="34" charset="-120"/>
              </a:rPr>
              <a:t>The big layers in between</a:t>
            </a:r>
            <a:endParaRPr lang="en-US" sz="1600" dirty="0"/>
          </a:p>
        </p:txBody>
      </p:sp>
      <p:sp>
        <p:nvSpPr>
          <p:cNvPr id="17" name="Text 15"/>
          <p:cNvSpPr txBox="1"/>
          <p:nvPr/>
        </p:nvSpPr>
        <p:spPr>
          <a:xfrm>
            <a:off x="7315200" y="3602736"/>
            <a:ext cx="3931920" cy="868680"/>
          </a:xfrm>
          <a:prstGeom prst="rect">
            <a:avLst/>
          </a:prstGeom>
          <a:noFill/>
          <a:ln/>
        </p:spPr>
        <p:txBody>
          <a:bodyPr wrap="square" lIns="0" tIns="0" rIns="0" bIns="0" rtlCol="0" anchor="ctr"/>
          <a:lstStyle/>
          <a:p>
            <a:pPr algn="r" indent="0" marL="0">
              <a:buNone/>
            </a:pPr>
            <a:r>
              <a:rPr lang="en-US" sz="1500" b="1" dirty="0">
                <a:solidFill>
                  <a:srgbClr val="5C6B7A"/>
                </a:solidFill>
                <a:latin typeface="Arial" pitchFamily="34" charset="0"/>
                <a:ea typeface="Arial" pitchFamily="34" charset="-122"/>
                <a:cs typeface="Arial" pitchFamily="34" charset="-120"/>
              </a:rPr>
              <a:t>the largest matrix multiplies of all</a:t>
            </a:r>
            <a:endParaRPr lang="en-US" sz="1500" dirty="0"/>
          </a:p>
        </p:txBody>
      </p:sp>
      <p:sp>
        <p:nvSpPr>
          <p:cNvPr id="18" name="Shape 16"/>
          <p:cNvSpPr/>
          <p:nvPr/>
        </p:nvSpPr>
        <p:spPr>
          <a:xfrm>
            <a:off x="640080" y="4754880"/>
            <a:ext cx="10881360" cy="1188720"/>
          </a:xfrm>
          <a:prstGeom prst="roundRect">
            <a:avLst>
              <a:gd name="adj" fmla="val 6923"/>
            </a:avLst>
          </a:prstGeom>
          <a:solidFill>
            <a:srgbClr val="E9FBF1"/>
          </a:solidFill>
          <a:ln w="12700">
            <a:solidFill>
              <a:srgbClr val="A9E9C6"/>
            </a:solidFill>
            <a:prstDash val="solid"/>
          </a:ln>
        </p:spPr>
      </p:sp>
      <p:sp>
        <p:nvSpPr>
          <p:cNvPr id="19" name="Text 17"/>
          <p:cNvSpPr txBox="1"/>
          <p:nvPr/>
        </p:nvSpPr>
        <p:spPr>
          <a:xfrm>
            <a:off x="960120" y="4983480"/>
            <a:ext cx="10241280" cy="822960"/>
          </a:xfrm>
          <a:prstGeom prst="rect">
            <a:avLst/>
          </a:prstGeom>
          <a:noFill/>
          <a:ln/>
        </p:spPr>
        <p:txBody>
          <a:bodyPr wrap="square" lIns="0" tIns="0" rIns="0" bIns="0" rtlCol="0" anchor="ctr"/>
          <a:lstStyle/>
          <a:p>
            <a:pPr algn="l" indent="0" marL="0">
              <a:lnSpc>
                <a:spcPct val="115000"/>
              </a:lnSpc>
              <a:buNone/>
            </a:pPr>
            <a:r>
              <a:rPr lang="en-US" sz="1600" dirty="0">
                <a:solidFill>
                  <a:srgbClr val="12161C"/>
                </a:solidFill>
                <a:latin typeface="Calibri" pitchFamily="34" charset="0"/>
                <a:ea typeface="Calibri" pitchFamily="34" charset="-122"/>
                <a:cs typeface="Calibri" pitchFamily="34" charset="-120"/>
              </a:rPr>
              <a:t>Producing ONE word means billions of these little sums — every one of them independent, every one of them a “one thread per output number” job. Then it does it all again for the next word.</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algn="l" indent="0" marL="0">
              <a:buNone/>
            </a:pPr>
            <a:r>
              <a:rPr lang="en-US" sz="3400" b="1" dirty="0">
                <a:solidFill>
                  <a:srgbClr val="F5F7FA"/>
                </a:solidFill>
                <a:latin typeface="Arial" pitchFamily="34" charset="0"/>
                <a:ea typeface="Arial" pitchFamily="34" charset="-122"/>
                <a:cs typeface="Arial" pitchFamily="34" charset="-120"/>
              </a:rPr>
              <a:t>Put that on the scale of what you just wrote</a:t>
            </a:r>
            <a:endParaRPr lang="en-US" sz="3400" dirty="0"/>
          </a:p>
        </p:txBody>
      </p:sp>
      <p:sp>
        <p:nvSpPr>
          <p:cNvPr id="3" name="Shape 1"/>
          <p:cNvSpPr/>
          <p:nvPr/>
        </p:nvSpPr>
        <p:spPr>
          <a:xfrm>
            <a:off x="640080" y="1920240"/>
            <a:ext cx="3383280" cy="2148840"/>
          </a:xfrm>
          <a:prstGeom prst="roundRect">
            <a:avLst>
              <a:gd name="adj" fmla="val 3830"/>
            </a:avLst>
          </a:prstGeom>
          <a:solidFill>
            <a:srgbClr val="1C232D"/>
          </a:solidFill>
          <a:ln w="12700">
            <a:solidFill>
              <a:srgbClr val="2A333F"/>
            </a:solidFill>
            <a:prstDash val="solid"/>
          </a:ln>
        </p:spPr>
      </p:sp>
      <p:sp>
        <p:nvSpPr>
          <p:cNvPr id="4" name="Text 2"/>
          <p:cNvSpPr txBox="1"/>
          <p:nvPr/>
        </p:nvSpPr>
        <p:spPr>
          <a:xfrm>
            <a:off x="914400" y="2194560"/>
            <a:ext cx="2834640" cy="685800"/>
          </a:xfrm>
          <a:prstGeom prst="rect">
            <a:avLst/>
          </a:prstGeom>
          <a:noFill/>
          <a:ln/>
        </p:spPr>
        <p:txBody>
          <a:bodyPr wrap="square" lIns="0" tIns="0" rIns="0" bIns="0" rtlCol="0" anchor="ctr"/>
          <a:lstStyle/>
          <a:p>
            <a:pPr indent="0" marL="0">
              <a:buNone/>
            </a:pPr>
            <a:r>
              <a:rPr lang="en-US" sz="3100" b="1" dirty="0">
                <a:solidFill>
                  <a:srgbClr val="3DDC84"/>
                </a:solidFill>
                <a:latin typeface="Arial" pitchFamily="34" charset="0"/>
                <a:ea typeface="Arial" pitchFamily="34" charset="-122"/>
                <a:cs typeface="Arial" pitchFamily="34" charset="-120"/>
              </a:rPr>
              <a:t>361 million</a:t>
            </a:r>
            <a:endParaRPr lang="en-US" sz="3100" dirty="0"/>
          </a:p>
        </p:txBody>
      </p:sp>
      <p:sp>
        <p:nvSpPr>
          <p:cNvPr id="5" name="Text 3"/>
          <p:cNvSpPr txBox="1"/>
          <p:nvPr/>
        </p:nvSpPr>
        <p:spPr>
          <a:xfrm>
            <a:off x="914400" y="2971800"/>
            <a:ext cx="2834640" cy="868680"/>
          </a:xfrm>
          <a:prstGeom prst="rect">
            <a:avLst/>
          </a:prstGeom>
          <a:noFill/>
          <a:ln/>
        </p:spPr>
        <p:txBody>
          <a:bodyPr wrap="square" lIns="0" tIns="0" rIns="0" bIns="0" rtlCol="0" anchor="ctr"/>
          <a:lstStyle/>
          <a:p>
            <a:pPr indent="0" marL="0">
              <a:lnSpc>
                <a:spcPct val="125000"/>
              </a:lnSpc>
              <a:buNone/>
            </a:pPr>
            <a:r>
              <a:rPr lang="en-US" sz="1500" dirty="0">
                <a:solidFill>
                  <a:srgbClr val="97A6B5"/>
                </a:solidFill>
                <a:latin typeface="Calibri" pitchFamily="34" charset="0"/>
                <a:ea typeface="Calibri" pitchFamily="34" charset="-122"/>
                <a:cs typeface="Calibri" pitchFamily="34" charset="-120"/>
              </a:rPr>
              <a:t>additions in the blur</a:t>
            </a:r>
            <a:endParaRPr lang="en-US" sz="1500" dirty="0"/>
          </a:p>
          <a:p>
            <a:pPr indent="0" marL="0">
              <a:lnSpc>
                <a:spcPct val="125000"/>
              </a:lnSpc>
              <a:buNone/>
            </a:pPr>
            <a:r>
              <a:rPr lang="en-US" sz="1500" dirty="0">
                <a:solidFill>
                  <a:srgbClr val="97A6B5"/>
                </a:solidFill>
                <a:latin typeface="Calibri" pitchFamily="34" charset="0"/>
                <a:ea typeface="Calibri" pitchFamily="34" charset="-122"/>
                <a:cs typeface="Calibri" pitchFamily="34" charset="-120"/>
              </a:rPr>
              <a:t>you just wrote</a:t>
            </a:r>
            <a:endParaRPr lang="en-US" sz="1500" dirty="0"/>
          </a:p>
        </p:txBody>
      </p:sp>
      <p:sp>
        <p:nvSpPr>
          <p:cNvPr id="6" name="Shape 4"/>
          <p:cNvSpPr/>
          <p:nvPr/>
        </p:nvSpPr>
        <p:spPr>
          <a:xfrm>
            <a:off x="4297680" y="1920240"/>
            <a:ext cx="3383280" cy="2148840"/>
          </a:xfrm>
          <a:prstGeom prst="roundRect">
            <a:avLst>
              <a:gd name="adj" fmla="val 3830"/>
            </a:avLst>
          </a:prstGeom>
          <a:solidFill>
            <a:srgbClr val="1C232D"/>
          </a:solidFill>
          <a:ln w="12700">
            <a:solidFill>
              <a:srgbClr val="2A333F"/>
            </a:solidFill>
            <a:prstDash val="solid"/>
          </a:ln>
        </p:spPr>
      </p:sp>
      <p:sp>
        <p:nvSpPr>
          <p:cNvPr id="7" name="Text 5"/>
          <p:cNvSpPr txBox="1"/>
          <p:nvPr/>
        </p:nvSpPr>
        <p:spPr>
          <a:xfrm>
            <a:off x="4572000" y="2194560"/>
            <a:ext cx="2834640" cy="685800"/>
          </a:xfrm>
          <a:prstGeom prst="rect">
            <a:avLst/>
          </a:prstGeom>
          <a:noFill/>
          <a:ln/>
        </p:spPr>
        <p:txBody>
          <a:bodyPr wrap="square" lIns="0" tIns="0" rIns="0" bIns="0" rtlCol="0" anchor="ctr"/>
          <a:lstStyle/>
          <a:p>
            <a:pPr indent="0" marL="0">
              <a:buNone/>
            </a:pPr>
            <a:r>
              <a:rPr lang="en-US" sz="3100" b="1" dirty="0">
                <a:solidFill>
                  <a:srgbClr val="F5F7FA"/>
                </a:solidFill>
                <a:latin typeface="Arial" pitchFamily="34" charset="0"/>
                <a:ea typeface="Arial" pitchFamily="34" charset="-122"/>
                <a:cs typeface="Arial" pitchFamily="34" charset="-120"/>
              </a:rPr>
              <a:t>350 billion</a:t>
            </a:r>
            <a:endParaRPr lang="en-US" sz="3100" dirty="0"/>
          </a:p>
        </p:txBody>
      </p:sp>
      <p:sp>
        <p:nvSpPr>
          <p:cNvPr id="8" name="Text 6"/>
          <p:cNvSpPr txBox="1"/>
          <p:nvPr/>
        </p:nvSpPr>
        <p:spPr>
          <a:xfrm>
            <a:off x="4572000" y="2971800"/>
            <a:ext cx="2834640" cy="868680"/>
          </a:xfrm>
          <a:prstGeom prst="rect">
            <a:avLst/>
          </a:prstGeom>
          <a:noFill/>
          <a:ln/>
        </p:spPr>
        <p:txBody>
          <a:bodyPr wrap="square" lIns="0" tIns="0" rIns="0" bIns="0" rtlCol="0" anchor="ctr"/>
          <a:lstStyle/>
          <a:p>
            <a:pPr indent="0" marL="0">
              <a:lnSpc>
                <a:spcPct val="125000"/>
              </a:lnSpc>
              <a:buNone/>
            </a:pPr>
            <a:r>
              <a:rPr lang="en-US" sz="1500" dirty="0">
                <a:solidFill>
                  <a:srgbClr val="97A6B5"/>
                </a:solidFill>
                <a:latin typeface="Calibri" pitchFamily="34" charset="0"/>
                <a:ea typeface="Calibri" pitchFamily="34" charset="-122"/>
                <a:cs typeface="Calibri" pitchFamily="34" charset="-120"/>
              </a:rPr>
              <a:t>operations for ONE word</a:t>
            </a:r>
            <a:endParaRPr lang="en-US" sz="1500" dirty="0"/>
          </a:p>
          <a:p>
            <a:pPr indent="0" marL="0">
              <a:lnSpc>
                <a:spcPct val="125000"/>
              </a:lnSpc>
              <a:buNone/>
            </a:pPr>
            <a:r>
              <a:rPr lang="en-US" sz="1500" dirty="0">
                <a:solidFill>
                  <a:srgbClr val="97A6B5"/>
                </a:solidFill>
                <a:latin typeface="Calibri" pitchFamily="34" charset="0"/>
                <a:ea typeface="Calibri" pitchFamily="34" charset="-122"/>
                <a:cs typeface="Calibri" pitchFamily="34" charset="-120"/>
              </a:rPr>
              <a:t>of a large model</a:t>
            </a:r>
            <a:endParaRPr lang="en-US" sz="1500" dirty="0"/>
          </a:p>
        </p:txBody>
      </p:sp>
      <p:sp>
        <p:nvSpPr>
          <p:cNvPr id="9" name="Shape 7"/>
          <p:cNvSpPr/>
          <p:nvPr/>
        </p:nvSpPr>
        <p:spPr>
          <a:xfrm>
            <a:off x="7955280" y="1920240"/>
            <a:ext cx="3383280" cy="2148840"/>
          </a:xfrm>
          <a:prstGeom prst="roundRect">
            <a:avLst>
              <a:gd name="adj" fmla="val 3830"/>
            </a:avLst>
          </a:prstGeom>
          <a:solidFill>
            <a:srgbClr val="1C232D"/>
          </a:solidFill>
          <a:ln w="12700">
            <a:solidFill>
              <a:srgbClr val="2A333F"/>
            </a:solidFill>
            <a:prstDash val="solid"/>
          </a:ln>
        </p:spPr>
      </p:sp>
      <p:sp>
        <p:nvSpPr>
          <p:cNvPr id="10" name="Text 8"/>
          <p:cNvSpPr txBox="1"/>
          <p:nvPr/>
        </p:nvSpPr>
        <p:spPr>
          <a:xfrm>
            <a:off x="8229600" y="2194560"/>
            <a:ext cx="2834640" cy="685800"/>
          </a:xfrm>
          <a:prstGeom prst="rect">
            <a:avLst/>
          </a:prstGeom>
          <a:noFill/>
          <a:ln/>
        </p:spPr>
        <p:txBody>
          <a:bodyPr wrap="square" lIns="0" tIns="0" rIns="0" bIns="0" rtlCol="0" anchor="ctr"/>
          <a:lstStyle/>
          <a:p>
            <a:pPr indent="0" marL="0">
              <a:buNone/>
            </a:pPr>
            <a:r>
              <a:rPr lang="en-US" sz="3100" b="1" dirty="0">
                <a:solidFill>
                  <a:srgbClr val="9B8CFA"/>
                </a:solidFill>
                <a:latin typeface="Arial" pitchFamily="34" charset="0"/>
                <a:ea typeface="Arial" pitchFamily="34" charset="-122"/>
                <a:cs typeface="Arial" pitchFamily="34" charset="-120"/>
              </a:rPr>
              <a:t>≈ 1,000</a:t>
            </a:r>
            <a:endParaRPr lang="en-US" sz="3100" dirty="0"/>
          </a:p>
        </p:txBody>
      </p:sp>
      <p:sp>
        <p:nvSpPr>
          <p:cNvPr id="11" name="Text 9"/>
          <p:cNvSpPr txBox="1"/>
          <p:nvPr/>
        </p:nvSpPr>
        <p:spPr>
          <a:xfrm>
            <a:off x="8229600" y="2971800"/>
            <a:ext cx="2834640" cy="868680"/>
          </a:xfrm>
          <a:prstGeom prst="rect">
            <a:avLst/>
          </a:prstGeom>
          <a:noFill/>
          <a:ln/>
        </p:spPr>
        <p:txBody>
          <a:bodyPr wrap="square" lIns="0" tIns="0" rIns="0" bIns="0" rtlCol="0" anchor="ctr"/>
          <a:lstStyle/>
          <a:p>
            <a:pPr indent="0" marL="0">
              <a:lnSpc>
                <a:spcPct val="125000"/>
              </a:lnSpc>
              <a:buNone/>
            </a:pPr>
            <a:r>
              <a:rPr lang="en-US" sz="1500" dirty="0">
                <a:solidFill>
                  <a:srgbClr val="97A6B5"/>
                </a:solidFill>
                <a:latin typeface="Calibri" pitchFamily="34" charset="0"/>
                <a:ea typeface="Calibri" pitchFamily="34" charset="-122"/>
                <a:cs typeface="Calibri" pitchFamily="34" charset="-120"/>
              </a:rPr>
              <a:t>of your blurs,</a:t>
            </a:r>
            <a:endParaRPr lang="en-US" sz="1500" dirty="0"/>
          </a:p>
          <a:p>
            <a:pPr indent="0" marL="0">
              <a:lnSpc>
                <a:spcPct val="125000"/>
              </a:lnSpc>
              <a:buNone/>
            </a:pPr>
            <a:r>
              <a:rPr lang="en-US" sz="1500" dirty="0">
                <a:solidFill>
                  <a:srgbClr val="97A6B5"/>
                </a:solidFill>
                <a:latin typeface="Calibri" pitchFamily="34" charset="0"/>
                <a:ea typeface="Calibri" pitchFamily="34" charset="-122"/>
                <a:cs typeface="Calibri" pitchFamily="34" charset="-120"/>
              </a:rPr>
              <a:t>for a single word</a:t>
            </a:r>
            <a:endParaRPr lang="en-US" sz="1500" dirty="0"/>
          </a:p>
        </p:txBody>
      </p:sp>
      <p:sp>
        <p:nvSpPr>
          <p:cNvPr id="12" name="Text 10"/>
          <p:cNvSpPr txBox="1"/>
          <p:nvPr/>
        </p:nvSpPr>
        <p:spPr>
          <a:xfrm>
            <a:off x="640080" y="4800600"/>
            <a:ext cx="10881360" cy="1188720"/>
          </a:xfrm>
          <a:prstGeom prst="rect">
            <a:avLst/>
          </a:prstGeom>
          <a:noFill/>
          <a:ln/>
        </p:spPr>
        <p:txBody>
          <a:bodyPr wrap="square" lIns="0" tIns="0" rIns="0" bIns="0" rtlCol="0" anchor="ctr"/>
          <a:lstStyle/>
          <a:p>
            <a:pPr algn="l" indent="0" marL="0">
              <a:lnSpc>
                <a:spcPct val="115000"/>
              </a:lnSpc>
              <a:buNone/>
            </a:pPr>
            <a:r>
              <a:rPr lang="en-US" sz="1600" dirty="0">
                <a:solidFill>
                  <a:srgbClr val="97A6B5"/>
                </a:solidFill>
                <a:latin typeface="Calibri" pitchFamily="34" charset="0"/>
                <a:ea typeface="Calibri" pitchFamily="34" charset="-122"/>
                <a:cs typeface="Calibri" pitchFamily="34" charset="-120"/>
              </a:rPr>
              <a:t>The notebook works this out from YOUR machine's actual timing. A real system answers in a few hundredths of a second per word — the gap is engineering, not magic: faster memory, hardware built for exactly this multiply, smaller numbers, and many GPUs at once.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61C"/>
        </a:solidFill>
      </p:bgPr>
    </p:bg>
    <p:spTree>
      <p:nvGrpSpPr>
        <p:cNvPr id="1" name=""/>
        <p:cNvGrpSpPr/>
        <p:nvPr/>
      </p:nvGrpSpPr>
      <p:grpSpPr>
        <a:xfrm>
          <a:off x="0" y="0"/>
          <a:ext cx="0" cy="0"/>
          <a:chOff x="0" y="0"/>
          <a:chExt cx="0" cy="0"/>
        </a:xfrm>
      </p:grpSpPr>
      <p:sp>
        <p:nvSpPr>
          <p:cNvPr id="2" name="Text 0"/>
          <p:cNvSpPr txBox="1"/>
          <p:nvPr/>
        </p:nvSpPr>
        <p:spPr>
          <a:xfrm>
            <a:off x="640080" y="1463040"/>
            <a:ext cx="10058400" cy="640080"/>
          </a:xfrm>
          <a:prstGeom prst="rect">
            <a:avLst/>
          </a:prstGeom>
          <a:noFill/>
          <a:ln/>
        </p:spPr>
        <p:txBody>
          <a:bodyPr wrap="square" lIns="0" tIns="0" rIns="0" bIns="0" rtlCol="0" anchor="ctr"/>
          <a:lstStyle/>
          <a:p>
            <a:pPr indent="0" marL="0">
              <a:buNone/>
            </a:pPr>
            <a:r>
              <a:rPr lang="en-US" sz="3000" b="1" dirty="0">
                <a:solidFill>
                  <a:srgbClr val="F5F7FA"/>
                </a:solidFill>
                <a:latin typeface="Arial" pitchFamily="34" charset="0"/>
                <a:ea typeface="Arial" pitchFamily="34" charset="-122"/>
                <a:cs typeface="Arial" pitchFamily="34" charset="-120"/>
              </a:rPr>
              <a:t>So — why GPUs, and not CPUs?</a:t>
            </a:r>
            <a:endParaRPr lang="en-US" sz="3000" dirty="0"/>
          </a:p>
        </p:txBody>
      </p:sp>
      <p:sp>
        <p:nvSpPr>
          <p:cNvPr id="3" name="Text 1"/>
          <p:cNvSpPr txBox="1"/>
          <p:nvPr/>
        </p:nvSpPr>
        <p:spPr>
          <a:xfrm>
            <a:off x="640080" y="2468880"/>
            <a:ext cx="10607040" cy="2011680"/>
          </a:xfrm>
          <a:prstGeom prst="rect">
            <a:avLst/>
          </a:prstGeom>
          <a:noFill/>
          <a:ln/>
        </p:spPr>
        <p:txBody>
          <a:bodyPr wrap="square" lIns="0" tIns="0" rIns="0" bIns="0" rtlCol="0" anchor="ctr"/>
          <a:lstStyle/>
          <a:p>
            <a:pPr indent="0" marL="0">
              <a:lnSpc>
                <a:spcPct val="135000"/>
              </a:lnSpc>
              <a:buNone/>
            </a:pPr>
            <a:r>
              <a:rPr lang="en-US" sz="2700" b="1" dirty="0">
                <a:solidFill>
                  <a:srgbClr val="3DDC84"/>
                </a:solidFill>
                <a:latin typeface="Arial" pitchFamily="34" charset="0"/>
                <a:ea typeface="Arial" pitchFamily="34" charset="-122"/>
                <a:cs typeface="Arial" pitchFamily="34" charset="-120"/>
              </a:rPr>
              <a:t>Not because GPUs are mysteriously fast.</a:t>
            </a:r>
            <a:endParaRPr lang="en-US" sz="2700" dirty="0"/>
          </a:p>
          <a:p>
            <a:pPr indent="0" marL="0">
              <a:lnSpc>
                <a:spcPct val="135000"/>
              </a:lnSpc>
              <a:buNone/>
            </a:pPr>
            <a:r>
              <a:rPr lang="en-US" sz="2700" b="1" dirty="0">
                <a:solidFill>
                  <a:srgbClr val="3DDC84"/>
                </a:solidFill>
                <a:latin typeface="Arial" pitchFamily="34" charset="0"/>
                <a:ea typeface="Arial" pitchFamily="34" charset="-122"/>
                <a:cs typeface="Arial" pitchFamily="34" charset="-120"/>
              </a:rPr>
              <a:t>Because this job is millions of identical, independent sums —</a:t>
            </a:r>
            <a:endParaRPr lang="en-US" sz="2700" dirty="0"/>
          </a:p>
          <a:p>
            <a:pPr indent="0" marL="0">
              <a:lnSpc>
                <a:spcPct val="135000"/>
              </a:lnSpc>
              <a:buNone/>
            </a:pPr>
            <a:r>
              <a:rPr lang="en-US" sz="2700" b="1" dirty="0">
                <a:solidFill>
                  <a:srgbClr val="3DDC84"/>
                </a:solidFill>
                <a:latin typeface="Arial" pitchFamily="34" charset="0"/>
                <a:ea typeface="Arial" pitchFamily="34" charset="-122"/>
                <a:cs typeface="Arial" pitchFamily="34" charset="-120"/>
              </a:rPr>
              <a:t>and that is the one thing a stadium beats four geniuses at.</a:t>
            </a:r>
            <a:endParaRPr lang="en-US" sz="2700" dirty="0"/>
          </a:p>
        </p:txBody>
      </p:sp>
      <p:sp>
        <p:nvSpPr>
          <p:cNvPr id="4" name="Text 2"/>
          <p:cNvSpPr txBox="1"/>
          <p:nvPr/>
        </p:nvSpPr>
        <p:spPr>
          <a:xfrm>
            <a:off x="640080" y="4846320"/>
            <a:ext cx="10058400" cy="548640"/>
          </a:xfrm>
          <a:prstGeom prst="rect">
            <a:avLst/>
          </a:prstGeom>
          <a:noFill/>
          <a:ln/>
        </p:spPr>
        <p:txBody>
          <a:bodyPr wrap="square" lIns="0" tIns="0" rIns="0" bIns="0" rtlCol="0" anchor="ctr"/>
          <a:lstStyle/>
          <a:p>
            <a:pPr indent="0" marL="0">
              <a:buNone/>
            </a:pPr>
            <a:r>
              <a:rPr lang="en-US" sz="1800" dirty="0">
                <a:solidFill>
                  <a:srgbClr val="97A6B5"/>
                </a:solidFill>
                <a:latin typeface="Calibri" pitchFamily="34" charset="0"/>
                <a:ea typeface="Calibri" pitchFamily="34" charset="-122"/>
                <a:cs typeface="Calibri" pitchFamily="34" charset="-120"/>
              </a:rPr>
              <a:t>You proved it yourself, on a photo, about twenty minutes ago.</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Text 0"/>
          <p:cNvSpPr txBox="1"/>
          <p:nvPr/>
        </p:nvSpPr>
        <p:spPr>
          <a:xfrm>
            <a:off x="640080" y="411480"/>
            <a:ext cx="10911535" cy="822960"/>
          </a:xfrm>
          <a:prstGeom prst="rect">
            <a:avLst/>
          </a:prstGeom>
          <a:noFill/>
          <a:ln/>
        </p:spPr>
        <p:txBody>
          <a:bodyPr wrap="square" lIns="0" tIns="0" rIns="0" bIns="0" rtlCol="0" anchor="ctr"/>
          <a:lstStyle/>
          <a:p>
            <a:pPr algn="l" indent="0" marL="0">
              <a:buNone/>
            </a:pPr>
            <a:r>
              <a:rPr lang="en-US" sz="3400" b="1" dirty="0">
                <a:solidFill>
                  <a:srgbClr val="12161C"/>
                </a:solidFill>
                <a:latin typeface="Arial" pitchFamily="34" charset="0"/>
                <a:ea typeface="Arial" pitchFamily="34" charset="-122"/>
                <a:cs typeface="Arial" pitchFamily="34" charset="-120"/>
              </a:rPr>
              <a:t>What you did in the last hour</a:t>
            </a:r>
            <a:endParaRPr lang="en-US" sz="3400" dirty="0"/>
          </a:p>
        </p:txBody>
      </p:sp>
      <p:sp>
        <p:nvSpPr>
          <p:cNvPr id="3" name="Shape 1"/>
          <p:cNvSpPr/>
          <p:nvPr/>
        </p:nvSpPr>
        <p:spPr>
          <a:xfrm>
            <a:off x="640080" y="1444752"/>
            <a:ext cx="384048" cy="384048"/>
          </a:xfrm>
          <a:prstGeom prst="ellipse">
            <a:avLst/>
          </a:prstGeom>
          <a:solidFill>
            <a:srgbClr val="3DDC84"/>
          </a:solidFill>
          <a:ln w="12700">
            <a:solidFill>
              <a:srgbClr val="3DDC84"/>
            </a:solidFill>
            <a:prstDash val="solid"/>
          </a:ln>
        </p:spPr>
      </p:sp>
      <p:sp>
        <p:nvSpPr>
          <p:cNvPr id="4" name="Text 2"/>
          <p:cNvSpPr txBox="1"/>
          <p:nvPr/>
        </p:nvSpPr>
        <p:spPr>
          <a:xfrm>
            <a:off x="640080" y="1444752"/>
            <a:ext cx="384048" cy="384048"/>
          </a:xfrm>
          <a:prstGeom prst="rect">
            <a:avLst/>
          </a:prstGeom>
          <a:noFill/>
          <a:ln/>
        </p:spPr>
        <p:txBody>
          <a:bodyPr wrap="square" lIns="0" tIns="0" rIns="0" bIns="0" rtlCol="0" anchor="ctr"/>
          <a:lstStyle/>
          <a:p>
            <a:pPr algn="ctr" indent="0" marL="0">
              <a:buNone/>
            </a:pPr>
            <a:r>
              <a:rPr lang="en-US" sz="1300" b="1" dirty="0">
                <a:solidFill>
                  <a:srgbClr val="12161C"/>
                </a:solidFill>
                <a:latin typeface="Arial" pitchFamily="34" charset="0"/>
                <a:ea typeface="Arial" pitchFamily="34" charset="-122"/>
                <a:cs typeface="Arial" pitchFamily="34" charset="-120"/>
              </a:rPr>
              <a:t>✓</a:t>
            </a:r>
            <a:endParaRPr lang="en-US" sz="1300" dirty="0"/>
          </a:p>
        </p:txBody>
      </p:sp>
      <p:sp>
        <p:nvSpPr>
          <p:cNvPr id="5" name="Text 3"/>
          <p:cNvSpPr txBox="1"/>
          <p:nvPr/>
        </p:nvSpPr>
        <p:spPr>
          <a:xfrm>
            <a:off x="1234440" y="1417320"/>
            <a:ext cx="10058400" cy="457200"/>
          </a:xfrm>
          <a:prstGeom prst="rect">
            <a:avLst/>
          </a:prstGeom>
          <a:noFill/>
          <a:ln/>
        </p:spPr>
        <p:txBody>
          <a:bodyPr wrap="square" lIns="0" tIns="0" rIns="0" bIns="0" rtlCol="0" anchor="ctr"/>
          <a:lstStyle/>
          <a:p>
            <a:pPr indent="0" marL="0">
              <a:buNone/>
            </a:pPr>
            <a:r>
              <a:rPr lang="en-US" sz="1600" dirty="0">
                <a:solidFill>
                  <a:srgbClr val="12161C"/>
                </a:solidFill>
                <a:latin typeface="Calibri" pitchFamily="34" charset="0"/>
                <a:ea typeface="Calibri" pitchFamily="34" charset="-122"/>
                <a:cs typeface="Calibri" pitchFamily="34" charset="-120"/>
              </a:rPr>
              <a:t>Ran your own code on a genuinely different processor</a:t>
            </a:r>
            <a:endParaRPr lang="en-US" sz="1600" dirty="0"/>
          </a:p>
        </p:txBody>
      </p:sp>
      <p:sp>
        <p:nvSpPr>
          <p:cNvPr id="6" name="Shape 4"/>
          <p:cNvSpPr/>
          <p:nvPr/>
        </p:nvSpPr>
        <p:spPr>
          <a:xfrm>
            <a:off x="640080" y="2103120"/>
            <a:ext cx="384048" cy="384048"/>
          </a:xfrm>
          <a:prstGeom prst="ellipse">
            <a:avLst/>
          </a:prstGeom>
          <a:solidFill>
            <a:srgbClr val="3DDC84"/>
          </a:solidFill>
          <a:ln w="12700">
            <a:solidFill>
              <a:srgbClr val="3DDC84"/>
            </a:solidFill>
            <a:prstDash val="solid"/>
          </a:ln>
        </p:spPr>
      </p:sp>
      <p:sp>
        <p:nvSpPr>
          <p:cNvPr id="7" name="Text 5"/>
          <p:cNvSpPr txBox="1"/>
          <p:nvPr/>
        </p:nvSpPr>
        <p:spPr>
          <a:xfrm>
            <a:off x="640080" y="2103120"/>
            <a:ext cx="384048" cy="384048"/>
          </a:xfrm>
          <a:prstGeom prst="rect">
            <a:avLst/>
          </a:prstGeom>
          <a:noFill/>
          <a:ln/>
        </p:spPr>
        <p:txBody>
          <a:bodyPr wrap="square" lIns="0" tIns="0" rIns="0" bIns="0" rtlCol="0" anchor="ctr"/>
          <a:lstStyle/>
          <a:p>
            <a:pPr algn="ctr" indent="0" marL="0">
              <a:buNone/>
            </a:pPr>
            <a:r>
              <a:rPr lang="en-US" sz="1300" b="1" dirty="0">
                <a:solidFill>
                  <a:srgbClr val="12161C"/>
                </a:solidFill>
                <a:latin typeface="Arial" pitchFamily="34" charset="0"/>
                <a:ea typeface="Arial" pitchFamily="34" charset="-122"/>
                <a:cs typeface="Arial" pitchFamily="34" charset="-120"/>
              </a:rPr>
              <a:t>✓</a:t>
            </a:r>
            <a:endParaRPr lang="en-US" sz="1300" dirty="0"/>
          </a:p>
        </p:txBody>
      </p:sp>
      <p:sp>
        <p:nvSpPr>
          <p:cNvPr id="8" name="Text 6"/>
          <p:cNvSpPr txBox="1"/>
          <p:nvPr/>
        </p:nvSpPr>
        <p:spPr>
          <a:xfrm>
            <a:off x="1234440" y="2075688"/>
            <a:ext cx="10058400" cy="457200"/>
          </a:xfrm>
          <a:prstGeom prst="rect">
            <a:avLst/>
          </a:prstGeom>
          <a:noFill/>
          <a:ln/>
        </p:spPr>
        <p:txBody>
          <a:bodyPr wrap="square" lIns="0" tIns="0" rIns="0" bIns="0" rtlCol="0" anchor="ctr"/>
          <a:lstStyle/>
          <a:p>
            <a:pPr indent="0" marL="0">
              <a:buNone/>
            </a:pPr>
            <a:r>
              <a:rPr lang="en-US" sz="1600" dirty="0">
                <a:solidFill>
                  <a:srgbClr val="12161C"/>
                </a:solidFill>
                <a:latin typeface="Calibri" pitchFamily="34" charset="0"/>
                <a:ea typeface="Calibri" pitchFamily="34" charset="-122"/>
                <a:cs typeface="Calibri" pitchFamily="34" charset="-120"/>
              </a:rPr>
              <a:t>Handed data to a machine that couldn't otherwise see it — and got it back</a:t>
            </a:r>
            <a:endParaRPr lang="en-US" sz="1600" dirty="0"/>
          </a:p>
        </p:txBody>
      </p:sp>
      <p:sp>
        <p:nvSpPr>
          <p:cNvPr id="9" name="Shape 7"/>
          <p:cNvSpPr/>
          <p:nvPr/>
        </p:nvSpPr>
        <p:spPr>
          <a:xfrm>
            <a:off x="640080" y="2761488"/>
            <a:ext cx="384048" cy="384048"/>
          </a:xfrm>
          <a:prstGeom prst="ellipse">
            <a:avLst/>
          </a:prstGeom>
          <a:solidFill>
            <a:srgbClr val="3DDC84"/>
          </a:solidFill>
          <a:ln w="12700">
            <a:solidFill>
              <a:srgbClr val="3DDC84"/>
            </a:solidFill>
            <a:prstDash val="solid"/>
          </a:ln>
        </p:spPr>
      </p:sp>
      <p:sp>
        <p:nvSpPr>
          <p:cNvPr id="10" name="Text 8"/>
          <p:cNvSpPr txBox="1"/>
          <p:nvPr/>
        </p:nvSpPr>
        <p:spPr>
          <a:xfrm>
            <a:off x="640080" y="2761488"/>
            <a:ext cx="384048" cy="384048"/>
          </a:xfrm>
          <a:prstGeom prst="rect">
            <a:avLst/>
          </a:prstGeom>
          <a:noFill/>
          <a:ln/>
        </p:spPr>
        <p:txBody>
          <a:bodyPr wrap="square" lIns="0" tIns="0" rIns="0" bIns="0" rtlCol="0" anchor="ctr"/>
          <a:lstStyle/>
          <a:p>
            <a:pPr algn="ctr" indent="0" marL="0">
              <a:buNone/>
            </a:pPr>
            <a:r>
              <a:rPr lang="en-US" sz="1300" b="1" dirty="0">
                <a:solidFill>
                  <a:srgbClr val="12161C"/>
                </a:solidFill>
                <a:latin typeface="Arial" pitchFamily="34" charset="0"/>
                <a:ea typeface="Arial" pitchFamily="34" charset="-122"/>
                <a:cs typeface="Arial" pitchFamily="34" charset="-120"/>
              </a:rPr>
              <a:t>✓</a:t>
            </a:r>
            <a:endParaRPr lang="en-US" sz="1300" dirty="0"/>
          </a:p>
        </p:txBody>
      </p:sp>
      <p:sp>
        <p:nvSpPr>
          <p:cNvPr id="11" name="Text 9"/>
          <p:cNvSpPr txBox="1"/>
          <p:nvPr/>
        </p:nvSpPr>
        <p:spPr>
          <a:xfrm>
            <a:off x="1234440" y="2734056"/>
            <a:ext cx="10058400" cy="457200"/>
          </a:xfrm>
          <a:prstGeom prst="rect">
            <a:avLst/>
          </a:prstGeom>
          <a:noFill/>
          <a:ln/>
        </p:spPr>
        <p:txBody>
          <a:bodyPr wrap="square" lIns="0" tIns="0" rIns="0" bIns="0" rtlCol="0" anchor="ctr"/>
          <a:lstStyle/>
          <a:p>
            <a:pPr indent="0" marL="0">
              <a:buNone/>
            </a:pPr>
            <a:r>
              <a:rPr lang="en-US" sz="1600" dirty="0">
                <a:solidFill>
                  <a:srgbClr val="12161C"/>
                </a:solidFill>
                <a:latin typeface="Calibri" pitchFamily="34" charset="0"/>
                <a:ea typeface="Calibri" pitchFamily="34" charset="-122"/>
                <a:cs typeface="Calibri" pitchFamily="34" charset="-120"/>
              </a:rPr>
              <a:t>Pointed 2.4 million threads at 2.4 million pixels, exactly one each</a:t>
            </a:r>
            <a:endParaRPr lang="en-US" sz="1600" dirty="0"/>
          </a:p>
        </p:txBody>
      </p:sp>
      <p:sp>
        <p:nvSpPr>
          <p:cNvPr id="12" name="Shape 10"/>
          <p:cNvSpPr/>
          <p:nvPr/>
        </p:nvSpPr>
        <p:spPr>
          <a:xfrm>
            <a:off x="640080" y="3419856"/>
            <a:ext cx="384048" cy="384048"/>
          </a:xfrm>
          <a:prstGeom prst="ellipse">
            <a:avLst/>
          </a:prstGeom>
          <a:solidFill>
            <a:srgbClr val="3DDC84"/>
          </a:solidFill>
          <a:ln w="12700">
            <a:solidFill>
              <a:srgbClr val="3DDC84"/>
            </a:solidFill>
            <a:prstDash val="solid"/>
          </a:ln>
        </p:spPr>
      </p:sp>
      <p:sp>
        <p:nvSpPr>
          <p:cNvPr id="13" name="Text 11"/>
          <p:cNvSpPr txBox="1"/>
          <p:nvPr/>
        </p:nvSpPr>
        <p:spPr>
          <a:xfrm>
            <a:off x="640080" y="3419856"/>
            <a:ext cx="384048" cy="384048"/>
          </a:xfrm>
          <a:prstGeom prst="rect">
            <a:avLst/>
          </a:prstGeom>
          <a:noFill/>
          <a:ln/>
        </p:spPr>
        <p:txBody>
          <a:bodyPr wrap="square" lIns="0" tIns="0" rIns="0" bIns="0" rtlCol="0" anchor="ctr"/>
          <a:lstStyle/>
          <a:p>
            <a:pPr algn="ctr" indent="0" marL="0">
              <a:buNone/>
            </a:pPr>
            <a:r>
              <a:rPr lang="en-US" sz="1300" b="1" dirty="0">
                <a:solidFill>
                  <a:srgbClr val="12161C"/>
                </a:solidFill>
                <a:latin typeface="Arial" pitchFamily="34" charset="0"/>
                <a:ea typeface="Arial" pitchFamily="34" charset="-122"/>
                <a:cs typeface="Arial" pitchFamily="34" charset="-120"/>
              </a:rPr>
              <a:t>✓</a:t>
            </a:r>
            <a:endParaRPr lang="en-US" sz="1300" dirty="0"/>
          </a:p>
        </p:txBody>
      </p:sp>
      <p:sp>
        <p:nvSpPr>
          <p:cNvPr id="14" name="Text 12"/>
          <p:cNvSpPr txBox="1"/>
          <p:nvPr/>
        </p:nvSpPr>
        <p:spPr>
          <a:xfrm>
            <a:off x="1234440" y="3392424"/>
            <a:ext cx="10058400" cy="457200"/>
          </a:xfrm>
          <a:prstGeom prst="rect">
            <a:avLst/>
          </a:prstGeom>
          <a:noFill/>
          <a:ln/>
        </p:spPr>
        <p:txBody>
          <a:bodyPr wrap="square" lIns="0" tIns="0" rIns="0" bIns="0" rtlCol="0" anchor="ctr"/>
          <a:lstStyle/>
          <a:p>
            <a:pPr indent="0" marL="0">
              <a:buNone/>
            </a:pPr>
            <a:r>
              <a:rPr lang="en-US" sz="1600" dirty="0">
                <a:solidFill>
                  <a:srgbClr val="12161C"/>
                </a:solidFill>
                <a:latin typeface="Calibri" pitchFamily="34" charset="0"/>
                <a:ea typeface="Calibri" pitchFamily="34" charset="-122"/>
                <a:cs typeface="Calibri" pitchFamily="34" charset="-120"/>
              </a:rPr>
              <a:t>Made a real photo change, twice</a:t>
            </a:r>
            <a:endParaRPr lang="en-US" sz="1600" dirty="0"/>
          </a:p>
        </p:txBody>
      </p:sp>
      <p:sp>
        <p:nvSpPr>
          <p:cNvPr id="15" name="Shape 13"/>
          <p:cNvSpPr/>
          <p:nvPr/>
        </p:nvSpPr>
        <p:spPr>
          <a:xfrm>
            <a:off x="640080" y="4078224"/>
            <a:ext cx="384048" cy="384048"/>
          </a:xfrm>
          <a:prstGeom prst="ellipse">
            <a:avLst/>
          </a:prstGeom>
          <a:solidFill>
            <a:srgbClr val="3DDC84"/>
          </a:solidFill>
          <a:ln w="12700">
            <a:solidFill>
              <a:srgbClr val="3DDC84"/>
            </a:solidFill>
            <a:prstDash val="solid"/>
          </a:ln>
        </p:spPr>
      </p:sp>
      <p:sp>
        <p:nvSpPr>
          <p:cNvPr id="16" name="Text 14"/>
          <p:cNvSpPr txBox="1"/>
          <p:nvPr/>
        </p:nvSpPr>
        <p:spPr>
          <a:xfrm>
            <a:off x="640080" y="4078224"/>
            <a:ext cx="384048" cy="384048"/>
          </a:xfrm>
          <a:prstGeom prst="rect">
            <a:avLst/>
          </a:prstGeom>
          <a:noFill/>
          <a:ln/>
        </p:spPr>
        <p:txBody>
          <a:bodyPr wrap="square" lIns="0" tIns="0" rIns="0" bIns="0" rtlCol="0" anchor="ctr"/>
          <a:lstStyle/>
          <a:p>
            <a:pPr algn="ctr" indent="0" marL="0">
              <a:buNone/>
            </a:pPr>
            <a:r>
              <a:rPr lang="en-US" sz="1300" b="1" dirty="0">
                <a:solidFill>
                  <a:srgbClr val="12161C"/>
                </a:solidFill>
                <a:latin typeface="Arial" pitchFamily="34" charset="0"/>
                <a:ea typeface="Arial" pitchFamily="34" charset="-122"/>
                <a:cs typeface="Arial" pitchFamily="34" charset="-120"/>
              </a:rPr>
              <a:t>✓</a:t>
            </a:r>
            <a:endParaRPr lang="en-US" sz="1300" dirty="0"/>
          </a:p>
        </p:txBody>
      </p:sp>
      <p:sp>
        <p:nvSpPr>
          <p:cNvPr id="17" name="Text 15"/>
          <p:cNvSpPr txBox="1"/>
          <p:nvPr/>
        </p:nvSpPr>
        <p:spPr>
          <a:xfrm>
            <a:off x="1234440" y="4050792"/>
            <a:ext cx="10058400" cy="457200"/>
          </a:xfrm>
          <a:prstGeom prst="rect">
            <a:avLst/>
          </a:prstGeom>
          <a:noFill/>
          <a:ln/>
        </p:spPr>
        <p:txBody>
          <a:bodyPr wrap="square" lIns="0" tIns="0" rIns="0" bIns="0" rtlCol="0" anchor="ctr"/>
          <a:lstStyle/>
          <a:p>
            <a:pPr indent="0" marL="0">
              <a:buNone/>
            </a:pPr>
            <a:r>
              <a:rPr lang="en-US" sz="1600" dirty="0">
                <a:solidFill>
                  <a:srgbClr val="12161C"/>
                </a:solidFill>
                <a:latin typeface="Calibri" pitchFamily="34" charset="0"/>
                <a:ea typeface="Calibri" pitchFamily="34" charset="-122"/>
                <a:cs typeface="Calibri" pitchFamily="34" charset="-120"/>
              </a:rPr>
              <a:t>Measured it against a CPU, and found where the time actually goes</a:t>
            </a:r>
            <a:endParaRPr lang="en-US" sz="1600" dirty="0"/>
          </a:p>
        </p:txBody>
      </p:sp>
      <p:sp>
        <p:nvSpPr>
          <p:cNvPr id="18" name="Shape 16"/>
          <p:cNvSpPr/>
          <p:nvPr/>
        </p:nvSpPr>
        <p:spPr>
          <a:xfrm>
            <a:off x="640080" y="4892040"/>
            <a:ext cx="10881360" cy="1234440"/>
          </a:xfrm>
          <a:prstGeom prst="roundRect">
            <a:avLst>
              <a:gd name="adj" fmla="val 6667"/>
            </a:avLst>
          </a:prstGeom>
          <a:solidFill>
            <a:srgbClr val="FFFFFF"/>
          </a:solidFill>
          <a:ln w="12700">
            <a:solidFill>
              <a:srgbClr val="DCE3EB"/>
            </a:solidFill>
            <a:prstDash val="solid"/>
          </a:ln>
        </p:spPr>
      </p:sp>
      <p:sp>
        <p:nvSpPr>
          <p:cNvPr id="19" name="Text 17"/>
          <p:cNvSpPr txBox="1"/>
          <p:nvPr/>
        </p:nvSpPr>
        <p:spPr>
          <a:xfrm>
            <a:off x="960120" y="5074920"/>
            <a:ext cx="5486400" cy="320040"/>
          </a:xfrm>
          <a:prstGeom prst="rect">
            <a:avLst/>
          </a:prstGeom>
          <a:noFill/>
          <a:ln/>
        </p:spPr>
        <p:txBody>
          <a:bodyPr wrap="square" lIns="0" tIns="0" rIns="0" bIns="0" rtlCol="0" anchor="ctr"/>
          <a:lstStyle/>
          <a:p>
            <a:pPr indent="0" marL="0">
              <a:buNone/>
            </a:pPr>
            <a:r>
              <a:rPr lang="en-US" sz="1500" b="1" dirty="0">
                <a:solidFill>
                  <a:srgbClr val="12161C"/>
                </a:solidFill>
                <a:latin typeface="Arial" pitchFamily="34" charset="0"/>
                <a:ea typeface="Arial" pitchFamily="34" charset="-122"/>
                <a:cs typeface="Arial" pitchFamily="34" charset="-120"/>
              </a:rPr>
              <a:t>If you want to keep going</a:t>
            </a:r>
            <a:endParaRPr lang="en-US" sz="1500" dirty="0"/>
          </a:p>
        </p:txBody>
      </p:sp>
      <p:sp>
        <p:nvSpPr>
          <p:cNvPr id="20" name="Text 18"/>
          <p:cNvSpPr txBox="1"/>
          <p:nvPr/>
        </p:nvSpPr>
        <p:spPr>
          <a:xfrm>
            <a:off x="960120" y="5413248"/>
            <a:ext cx="10241280" cy="731520"/>
          </a:xfrm>
          <a:prstGeom prst="rect">
            <a:avLst/>
          </a:prstGeom>
          <a:noFill/>
          <a:ln/>
        </p:spPr>
        <p:txBody>
          <a:bodyPr wrap="square" lIns="0" tIns="0" rIns="0" bIns="0" rtlCol="0" anchor="ctr"/>
          <a:lstStyle/>
          <a:p>
            <a:pPr algn="l" indent="0" marL="0">
              <a:lnSpc>
                <a:spcPct val="115000"/>
              </a:lnSpc>
              <a:buNone/>
            </a:pPr>
            <a:r>
              <a:rPr lang="en-US" sz="1400" dirty="0">
                <a:solidFill>
                  <a:srgbClr val="5C6B7A"/>
                </a:solidFill>
                <a:latin typeface="Calibri" pitchFamily="34" charset="0"/>
                <a:ea typeface="Calibri" pitchFamily="34" charset="-122"/>
                <a:cs typeface="Calibri" pitchFamily="34" charset="-120"/>
              </a:rPr>
              <a:t>lab/extras/ in the repo — what happens when you forget the copy back, what the bounds check is really protecting you from, and a matrix multiply that gets several times faster purely by changing which memory each thread reads.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 Your Code on a GPU</dc:title>
  <dc:subject>PptxGenJS Presentation</dc:subject>
  <dc:creator>From Zero to GPU</dc:creator>
  <cp:lastModifiedBy>From Zero to GPU</cp:lastModifiedBy>
  <cp:revision>1</cp:revision>
  <dcterms:created xsi:type="dcterms:W3CDTF">2026-09-09T04:21:16Z</dcterms:created>
  <dcterms:modified xsi:type="dcterms:W3CDTF">2026-09-09T04:21:16Z</dcterms:modified>
</cp:coreProperties>
</file>