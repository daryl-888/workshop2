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This exists so cudaMalloc(&amp;in_d, ...) on the next slide isn't mysterious.
in_d is an ordinary variable in ordinary CPU memory. What's special is its VALUE: an address on the other machine. The CPU can carry that number around and hand it to CUDA, and CUDA knows what to do with it. The CPU itself cannot dereference it.
If asked why it's declared but not set: that's what STEP 1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both lines. Say the &amp; out loud every time - 'the address of in_d'.
Concept: cudaMalloc = malloc, but the memory is on the GPU and the CPU can't touch it.
Expected: nothing visible yet.
Pause: on the &amp;. This is the single most-asked-about character in the session.
Stumble: writing cudaMalloc(in_d, ...) without the &amp;. It compiles with a warning and then STEP 2 fails with 'a CUDA call BEFORE the launch failed'.
Recovery: the greyscale lifebelt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four arguments. Read them left to right as: where to, where from, how much, which way.
Concept: the GPU can't see img.data. This is the moment the photo physically moves.
Expected: nothing visible yet.
Pause: 'host' and 'device' - say it once, then use CPU and GPU.
Stumble: cudaMemcpyDeviceToHost here, or arguments swapped. Both produce the 'BEFORE the launch' message from the check, which names STEP 1 and 2.
Recovery: lifebelt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plus the given checkKernel. This is the slide to slow down on for the maths.
Concept: you don't write a loop, you say how many. dim3 is just a struct of three ints.
Expected: nothing visible yet - the kernel is still empty.
Pause: do the arithmetic out loud. 1920/16, 1280/16, times 256. Land on 2,457,600.
Stumble: forgetting the second dim3, or writing &lt;&lt;&lt;block, grid&gt;&gt;&gt; the wrong way round (it runs, wrong picture). dim3 block(32,32) is 1024 - the max; bigger fails to launch.
checkKernel: 'the launch is fire-and-forget; this line waits and asks if it worked.' Don't go deeper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eight real lines. Type the three 'every kernel' lines first and say so - col, row, if. Then the address. Then the grey mix.
Concept: this runs 2.4 million times, each copy with different blockIdx/threadIdx.
Pause: after the if - 'this is the price of rounding up on the last slide.'
Stumble: (col * w + row) - row and col swapped. Threads run off the end of the picture and the check says 'outside the picture... this one is in the kernel'.
Don't derive 0.21/0.72/0.07 - 'eyes see green most, blue least'.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 arguments in the same order - only the pointers swap sides and the direction flips.
Concept: results live on the GPU until you ask. Nothing is automatic.
Pause: on the callout. This silent failure is the one they'll hit for real later.
Stumble: leaving it out, or copying INTO out_d again. Both give black.
saveImage is given - it's file writing, not CUDA.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lines. Then RUN.
Concept: the GPU's memory is a fixed pool; leak it in a loop and you run out.
Expected: '✅ Greyscale, and correct - all 2,457,600 pixels found themselves in the array.'
Then lab.show() - let them look.
Stumble: forgetting a free doesn't break THIS program. Say so; it breaks the next one.
Recovery: lifebelt. Anyone still broken should paste it now, before Build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Scroll to main() first and say 'nothing down here changes'. That's the lesson.
Concept: the host code is a reusable shell. Only what one thread does is different.
Expected: '✅ Blur, and it matches a CPU version exactly - edges included.'
Pause: on 'divide by n'. Ask why not 49. Someone will get it - corners.
Stumble: /49 - the check says 'the outermost 3 pixels are dark'. Or forgetting the #define - won't compile, names BLUR_SIZE.
Then: BLUR_SIZE 15, re-run. Twenty times the work, same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9"/>
        </a:solidFill>
      </p:bgPr>
    </p:bg>
    <p:spTree>
      <p:nvGrpSpPr>
        <p:cNvPr id="1" name=""/>
        <p:cNvGrpSpPr/>
        <p:nvPr/>
      </p:nvGrpSpPr>
      <p:grpSpPr>
        <a:xfrm>
          <a:off x="0" y="0"/>
          <a:ext cx="0" cy="0"/>
          <a:chOff x="0" y="0"/>
          <a:chExt cx="0" cy="0"/>
        </a:xfrm>
      </p:grpSpPr>
      <p:sp>
        <p:nvSpPr>
          <p:cNvPr id="2" name="Shape 0"/>
          <p:cNvSpPr/>
          <p:nvPr/>
        </p:nvSpPr>
        <p:spPr>
          <a:xfrm>
            <a:off x="777240" y="411480"/>
            <a:ext cx="91440" cy="91440"/>
          </a:xfrm>
          <a:prstGeom prst="rect">
            <a:avLst/>
          </a:prstGeom>
          <a:solidFill>
            <a:srgbClr val="8B80F9"/>
          </a:solidFill>
          <a:ln w="12700">
            <a:solidFill>
              <a:srgbClr val="8B80F9"/>
            </a:solidFill>
            <a:prstDash val="solid"/>
          </a:ln>
        </p:spPr>
      </p:sp>
      <p:sp>
        <p:nvSpPr>
          <p:cNvPr id="3" name="Shape 1"/>
          <p:cNvSpPr/>
          <p:nvPr/>
        </p:nvSpPr>
        <p:spPr>
          <a:xfrm>
            <a:off x="896112" y="411480"/>
            <a:ext cx="91440" cy="91440"/>
          </a:xfrm>
          <a:prstGeom prst="rect">
            <a:avLst/>
          </a:prstGeom>
          <a:solidFill>
            <a:srgbClr val="8B80F9"/>
          </a:solidFill>
          <a:ln w="12700">
            <a:solidFill>
              <a:srgbClr val="8B80F9"/>
            </a:solidFill>
            <a:prstDash val="solid"/>
          </a:ln>
        </p:spPr>
      </p:sp>
      <p:sp>
        <p:nvSpPr>
          <p:cNvPr id="4" name="Shape 2"/>
          <p:cNvSpPr/>
          <p:nvPr/>
        </p:nvSpPr>
        <p:spPr>
          <a:xfrm>
            <a:off x="1014984" y="411480"/>
            <a:ext cx="91440" cy="91440"/>
          </a:xfrm>
          <a:prstGeom prst="rect">
            <a:avLst/>
          </a:prstGeom>
          <a:solidFill>
            <a:srgbClr val="8B80F9"/>
          </a:solidFill>
          <a:ln w="12700">
            <a:solidFill>
              <a:srgbClr val="8B80F9"/>
            </a:solidFill>
            <a:prstDash val="solid"/>
          </a:ln>
        </p:spPr>
      </p:sp>
      <p:sp>
        <p:nvSpPr>
          <p:cNvPr id="5" name="Shape 3"/>
          <p:cNvSpPr/>
          <p:nvPr/>
        </p:nvSpPr>
        <p:spPr>
          <a:xfrm>
            <a:off x="777240" y="530352"/>
            <a:ext cx="91440" cy="91440"/>
          </a:xfrm>
          <a:prstGeom prst="rect">
            <a:avLst/>
          </a:prstGeom>
          <a:solidFill>
            <a:srgbClr val="8B80F9"/>
          </a:solidFill>
          <a:ln w="12700">
            <a:solidFill>
              <a:srgbClr val="8B80F9"/>
            </a:solidFill>
            <a:prstDash val="solid"/>
          </a:ln>
        </p:spPr>
      </p:sp>
      <p:sp>
        <p:nvSpPr>
          <p:cNvPr id="6" name="Shape 4"/>
          <p:cNvSpPr/>
          <p:nvPr/>
        </p:nvSpPr>
        <p:spPr>
          <a:xfrm>
            <a:off x="896112" y="530352"/>
            <a:ext cx="91440" cy="91440"/>
          </a:xfrm>
          <a:prstGeom prst="rect">
            <a:avLst/>
          </a:prstGeom>
          <a:solidFill>
            <a:srgbClr val="8B80F9"/>
          </a:solidFill>
          <a:ln w="12700">
            <a:solidFill>
              <a:srgbClr val="8B80F9"/>
            </a:solidFill>
            <a:prstDash val="solid"/>
          </a:ln>
        </p:spPr>
      </p:sp>
      <p:sp>
        <p:nvSpPr>
          <p:cNvPr id="7" name="Shape 5"/>
          <p:cNvSpPr/>
          <p:nvPr/>
        </p:nvSpPr>
        <p:spPr>
          <a:xfrm>
            <a:off x="777240" y="649224"/>
            <a:ext cx="91440" cy="91440"/>
          </a:xfrm>
          <a:prstGeom prst="rect">
            <a:avLst/>
          </a:prstGeom>
          <a:solidFill>
            <a:srgbClr val="8B80F9"/>
          </a:solidFill>
          <a:ln w="12700">
            <a:solidFill>
              <a:srgbClr val="8B80F9"/>
            </a:solidFill>
            <a:prstDash val="solid"/>
          </a:ln>
        </p:spPr>
      </p:sp>
      <p:sp>
        <p:nvSpPr>
          <p:cNvPr id="8" name="Shape 6"/>
          <p:cNvSpPr/>
          <p:nvPr/>
        </p:nvSpPr>
        <p:spPr>
          <a:xfrm>
            <a:off x="1014984" y="649224"/>
            <a:ext cx="91440" cy="91440"/>
          </a:xfrm>
          <a:prstGeom prst="rect">
            <a:avLst/>
          </a:prstGeom>
          <a:solidFill>
            <a:srgbClr val="8B80F9"/>
          </a:solidFill>
          <a:ln w="12700">
            <a:solidFill>
              <a:srgbClr val="8B80F9"/>
            </a:solidFill>
            <a:prstDash val="solid"/>
          </a:ln>
        </p:spPr>
      </p:sp>
      <p:sp>
        <p:nvSpPr>
          <p:cNvPr id="9" name="Text 7"/>
          <p:cNvSpPr txBox="1"/>
          <p:nvPr/>
        </p:nvSpPr>
        <p:spPr>
          <a:xfrm>
            <a:off x="1417320" y="384048"/>
            <a:ext cx="8229600" cy="365760"/>
          </a:xfrm>
          <a:prstGeom prst="rect">
            <a:avLst/>
          </a:prstGeom>
          <a:noFill/>
          <a:ln/>
        </p:spPr>
        <p:txBody>
          <a:bodyPr wrap="square" lIns="0" tIns="0" rIns="0" bIns="0" rtlCol="0" anchor="ctr"/>
          <a:lstStyle/>
          <a:p>
            <a:pPr indent="0" marL="0">
              <a:buNone/>
            </a:pPr>
            <a:r>
              <a:rPr lang="en-US" sz="1300" b="1" spc="300" kern="0" dirty="0">
                <a:solidFill>
                  <a:srgbClr val="46D07E"/>
                </a:solidFill>
                <a:latin typeface="Courier New" pitchFamily="34" charset="0"/>
                <a:ea typeface="Courier New" pitchFamily="34" charset="-122"/>
                <a:cs typeface="Courier New" pitchFamily="34" charset="-120"/>
              </a:rPr>
              <a:t>BEFORE STEP 1 · DEVICE POINTERS</a:t>
            </a:r>
            <a:endParaRPr lang="en-US" sz="1300" dirty="0"/>
          </a:p>
        </p:txBody>
      </p:sp>
      <p:sp>
        <p:nvSpPr>
          <p:cNvPr id="10" name="Text 8"/>
          <p:cNvSpPr txBox="1"/>
          <p:nvPr/>
        </p:nvSpPr>
        <p:spPr>
          <a:xfrm>
            <a:off x="777240" y="868680"/>
            <a:ext cx="10637215" cy="731520"/>
          </a:xfrm>
          <a:prstGeom prst="rect">
            <a:avLst/>
          </a:prstGeom>
          <a:noFill/>
          <a:ln/>
        </p:spPr>
        <p:txBody>
          <a:bodyPr wrap="square" lIns="0" tIns="0" rIns="0" bIns="0" rtlCol="0" anchor="ctr"/>
          <a:lstStyle/>
          <a:p>
            <a:pPr indent="0" marL="0">
              <a:buNone/>
            </a:pPr>
            <a:r>
              <a:rPr lang="en-US" sz="3400" b="1" dirty="0">
                <a:solidFill>
                  <a:srgbClr val="ECEEF2"/>
                </a:solidFill>
                <a:latin typeface="Arial" pitchFamily="34" charset="0"/>
                <a:ea typeface="Arial" pitchFamily="34" charset="-122"/>
                <a:cs typeface="Arial" pitchFamily="34" charset="-120"/>
              </a:rPr>
              <a:t>What in_d actually is</a:t>
            </a:r>
            <a:endParaRPr lang="en-US" sz="3400" dirty="0"/>
          </a:p>
        </p:txBody>
      </p:sp>
      <p:sp>
        <p:nvSpPr>
          <p:cNvPr id="11" name="Shape 9"/>
          <p:cNvSpPr/>
          <p:nvPr/>
        </p:nvSpPr>
        <p:spPr>
          <a:xfrm>
            <a:off x="777240" y="1783080"/>
            <a:ext cx="10637215" cy="640080"/>
          </a:xfrm>
          <a:prstGeom prst="rect">
            <a:avLst/>
          </a:prstGeom>
          <a:solidFill>
            <a:srgbClr val="0A0C12"/>
          </a:solidFill>
          <a:ln w="12700">
            <a:solidFill>
              <a:srgbClr val="272C38"/>
            </a:solidFill>
            <a:prstDash val="solid"/>
          </a:ln>
        </p:spPr>
      </p:sp>
      <p:sp>
        <p:nvSpPr>
          <p:cNvPr id="12" name="Text 10"/>
          <p:cNvSpPr txBox="1"/>
          <p:nvPr/>
        </p:nvSpPr>
        <p:spPr>
          <a:xfrm>
            <a:off x="978408" y="1947672"/>
            <a:ext cx="10234879" cy="310896"/>
          </a:xfrm>
          <a:prstGeom prst="rect">
            <a:avLst/>
          </a:prstGeom>
          <a:noFill/>
          <a:ln/>
        </p:spPr>
        <p:txBody>
          <a:bodyPr wrap="square" lIns="0" tIns="0" rIns="0" bIns="0" rtlCol="0" anchor="t"/>
          <a:lstStyle/>
          <a:p>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unsigned char *in_d, *out_d;     // will hold addresses in GPU memory</a:t>
            </a:r>
            <a:endParaRPr lang="en-US" sz="1300" dirty="0"/>
          </a:p>
        </p:txBody>
      </p:sp>
      <p:sp>
        <p:nvSpPr>
          <p:cNvPr id="13" name="Shape 11"/>
          <p:cNvSpPr/>
          <p:nvPr/>
        </p:nvSpPr>
        <p:spPr>
          <a:xfrm>
            <a:off x="777240" y="2697480"/>
            <a:ext cx="4206240" cy="2011680"/>
          </a:xfrm>
          <a:prstGeom prst="rect">
            <a:avLst/>
          </a:prstGeom>
          <a:solidFill>
            <a:srgbClr val="0A0C12"/>
          </a:solidFill>
          <a:ln w="12700">
            <a:solidFill>
              <a:srgbClr val="272C38"/>
            </a:solidFill>
            <a:prstDash val="solid"/>
          </a:ln>
        </p:spPr>
      </p:sp>
      <p:sp>
        <p:nvSpPr>
          <p:cNvPr id="14" name="Text 12"/>
          <p:cNvSpPr txBox="1"/>
          <p:nvPr/>
        </p:nvSpPr>
        <p:spPr>
          <a:xfrm>
            <a:off x="1005840" y="2834640"/>
            <a:ext cx="2743200" cy="274320"/>
          </a:xfrm>
          <a:prstGeom prst="rect">
            <a:avLst/>
          </a:prstGeom>
          <a:noFill/>
          <a:ln/>
        </p:spPr>
        <p:txBody>
          <a:bodyPr wrap="square" lIns="0" tIns="0" rIns="0" bIns="0" rtlCol="0" anchor="ctr"/>
          <a:lstStyle/>
          <a:p>
            <a:pPr indent="0" marL="0">
              <a:buNone/>
            </a:pPr>
            <a:r>
              <a:rPr lang="en-US" sz="1100" spc="200" kern="0" dirty="0">
                <a:solidFill>
                  <a:srgbClr val="F5B301"/>
                </a:solidFill>
                <a:latin typeface="Courier New" pitchFamily="34" charset="0"/>
                <a:ea typeface="Courier New" pitchFamily="34" charset="-122"/>
                <a:cs typeface="Courier New" pitchFamily="34" charset="-120"/>
              </a:rPr>
              <a:t>CPU memory</a:t>
            </a:r>
            <a:endParaRPr lang="en-US" sz="1100" dirty="0"/>
          </a:p>
        </p:txBody>
      </p:sp>
      <p:sp>
        <p:nvSpPr>
          <p:cNvPr id="15" name="Shape 13"/>
          <p:cNvSpPr/>
          <p:nvPr/>
        </p:nvSpPr>
        <p:spPr>
          <a:xfrm>
            <a:off x="1097280" y="3337560"/>
            <a:ext cx="3566160" cy="685800"/>
          </a:xfrm>
          <a:prstGeom prst="rect">
            <a:avLst/>
          </a:prstGeom>
          <a:solidFill>
            <a:srgbClr val="0E1119"/>
          </a:solidFill>
          <a:ln w="12700">
            <a:solidFill>
              <a:srgbClr val="F5B301"/>
            </a:solidFill>
            <a:prstDash val="solid"/>
          </a:ln>
        </p:spPr>
      </p:sp>
      <p:sp>
        <p:nvSpPr>
          <p:cNvPr id="16" name="Text 14"/>
          <p:cNvSpPr txBox="1"/>
          <p:nvPr/>
        </p:nvSpPr>
        <p:spPr>
          <a:xfrm>
            <a:off x="1234440" y="3337560"/>
            <a:ext cx="3383280" cy="685800"/>
          </a:xfrm>
          <a:prstGeom prst="rect">
            <a:avLst/>
          </a:prstGeom>
          <a:noFill/>
          <a:ln/>
        </p:spPr>
        <p:txBody>
          <a:bodyPr wrap="square" lIns="0" tIns="0" rIns="0" bIns="0" rtlCol="0" anchor="ctr"/>
          <a:lstStyle/>
          <a:p>
            <a:pPr indent="0" marL="0">
              <a:buNone/>
            </a:pPr>
            <a:r>
              <a:rPr lang="en-US" sz="1300" b="1" dirty="0">
                <a:solidFill>
                  <a:srgbClr val="ECEEF2"/>
                </a:solidFill>
                <a:latin typeface="Courier New" pitchFamily="34" charset="0"/>
                <a:ea typeface="Courier New" pitchFamily="34" charset="-122"/>
                <a:cs typeface="Courier New" pitchFamily="34" charset="-120"/>
              </a:rPr>
              <a:t>in_d</a:t>
            </a:r>
            <a:pPr indent="0" marL="0">
              <a:buNone/>
            </a:pPr>
            <a:r>
              <a:rPr lang="en-US" sz="1300" dirty="0">
                <a:solidFill>
                  <a:srgbClr val="A7B0BC"/>
                </a:solidFill>
                <a:latin typeface="Courier New" pitchFamily="34" charset="0"/>
                <a:ea typeface="Courier New" pitchFamily="34" charset="-122"/>
                <a:cs typeface="Courier New" pitchFamily="34" charset="-120"/>
              </a:rPr>
              <a:t>  =  0x7f3a2c000000</a:t>
            </a:r>
            <a:endParaRPr lang="en-US" sz="1300" dirty="0"/>
          </a:p>
        </p:txBody>
      </p:sp>
      <p:sp>
        <p:nvSpPr>
          <p:cNvPr id="17" name="Text 15"/>
          <p:cNvSpPr txBox="1"/>
          <p:nvPr/>
        </p:nvSpPr>
        <p:spPr>
          <a:xfrm>
            <a:off x="1097280" y="4114800"/>
            <a:ext cx="3566160" cy="365760"/>
          </a:xfrm>
          <a:prstGeom prst="rect">
            <a:avLst/>
          </a:prstGeom>
          <a:noFill/>
          <a:ln/>
        </p:spPr>
        <p:txBody>
          <a:bodyPr wrap="square" lIns="0" tIns="0" rIns="0" bIns="0" rtlCol="0" anchor="ctr"/>
          <a:lstStyle/>
          <a:p>
            <a:pPr indent="0" marL="0">
              <a:buNone/>
            </a:pPr>
            <a:r>
              <a:rPr lang="en-US" sz="1200" dirty="0">
                <a:solidFill>
                  <a:srgbClr val="A7B0BC"/>
                </a:solidFill>
                <a:latin typeface="Arial" pitchFamily="34" charset="0"/>
                <a:ea typeface="Arial" pitchFamily="34" charset="-122"/>
                <a:cs typeface="Arial" pitchFamily="34" charset="-120"/>
              </a:rPr>
              <a:t>a variable that lives HERE — just a number</a:t>
            </a:r>
            <a:endParaRPr lang="en-US" sz="1200" dirty="0"/>
          </a:p>
        </p:txBody>
      </p:sp>
      <p:sp>
        <p:nvSpPr>
          <p:cNvPr id="18" name="Shape 16"/>
          <p:cNvSpPr/>
          <p:nvPr/>
        </p:nvSpPr>
        <p:spPr>
          <a:xfrm>
            <a:off x="5120640" y="3675888"/>
            <a:ext cx="2331720" cy="0"/>
          </a:xfrm>
          <a:prstGeom prst="line">
            <a:avLst/>
          </a:prstGeom>
          <a:noFill/>
          <a:ln w="25400">
            <a:solidFill>
              <a:srgbClr val="8B80F9"/>
            </a:solidFill>
            <a:prstDash val="solid"/>
            <a:tailEnd type="triangle"/>
          </a:ln>
        </p:spPr>
      </p:sp>
      <p:sp>
        <p:nvSpPr>
          <p:cNvPr id="19" name="Text 17"/>
          <p:cNvSpPr txBox="1"/>
          <p:nvPr/>
        </p:nvSpPr>
        <p:spPr>
          <a:xfrm>
            <a:off x="5120640" y="3291840"/>
            <a:ext cx="2331720" cy="320040"/>
          </a:xfrm>
          <a:prstGeom prst="rect">
            <a:avLst/>
          </a:prstGeom>
          <a:noFill/>
          <a:ln/>
        </p:spPr>
        <p:txBody>
          <a:bodyPr wrap="square" lIns="0" tIns="0" rIns="0" bIns="0" rtlCol="0" anchor="ctr"/>
          <a:lstStyle/>
          <a:p>
            <a:pPr algn="ctr" indent="0" marL="0">
              <a:buNone/>
            </a:pPr>
            <a:r>
              <a:rPr lang="en-US" sz="1100" dirty="0">
                <a:solidFill>
                  <a:srgbClr val="8B80F9"/>
                </a:solidFill>
                <a:latin typeface="Arial" pitchFamily="34" charset="0"/>
                <a:ea typeface="Arial" pitchFamily="34" charset="-122"/>
                <a:cs typeface="Arial" pitchFamily="34" charset="-120"/>
              </a:rPr>
              <a:t>…points at…</a:t>
            </a:r>
            <a:endParaRPr lang="en-US" sz="1100" dirty="0"/>
          </a:p>
        </p:txBody>
      </p:sp>
      <p:sp>
        <p:nvSpPr>
          <p:cNvPr id="20" name="Shape 18"/>
          <p:cNvSpPr/>
          <p:nvPr/>
        </p:nvSpPr>
        <p:spPr>
          <a:xfrm>
            <a:off x="7589520" y="2697480"/>
            <a:ext cx="3824935" cy="2011680"/>
          </a:xfrm>
          <a:prstGeom prst="rect">
            <a:avLst/>
          </a:prstGeom>
          <a:solidFill>
            <a:srgbClr val="0A0C12"/>
          </a:solidFill>
          <a:ln w="12700">
            <a:solidFill>
              <a:srgbClr val="272C38"/>
            </a:solidFill>
            <a:prstDash val="solid"/>
          </a:ln>
        </p:spPr>
      </p:sp>
      <p:sp>
        <p:nvSpPr>
          <p:cNvPr id="21" name="Text 19"/>
          <p:cNvSpPr txBox="1"/>
          <p:nvPr/>
        </p:nvSpPr>
        <p:spPr>
          <a:xfrm>
            <a:off x="7818120" y="2834640"/>
            <a:ext cx="2743200" cy="274320"/>
          </a:xfrm>
          <a:prstGeom prst="rect">
            <a:avLst/>
          </a:prstGeom>
          <a:noFill/>
          <a:ln/>
        </p:spPr>
        <p:txBody>
          <a:bodyPr wrap="square" lIns="0" tIns="0" rIns="0" bIns="0" rtlCol="0" anchor="ctr"/>
          <a:lstStyle/>
          <a:p>
            <a:pPr indent="0" marL="0">
              <a:buNone/>
            </a:pPr>
            <a:r>
              <a:rPr lang="en-US" sz="1100" spc="200" kern="0" dirty="0">
                <a:solidFill>
                  <a:srgbClr val="46D07E"/>
                </a:solidFill>
                <a:latin typeface="Courier New" pitchFamily="34" charset="0"/>
                <a:ea typeface="Courier New" pitchFamily="34" charset="-122"/>
                <a:cs typeface="Courier New" pitchFamily="34" charset="-120"/>
              </a:rPr>
              <a:t>GPU memory</a:t>
            </a:r>
            <a:endParaRPr lang="en-US" sz="1100" dirty="0"/>
          </a:p>
        </p:txBody>
      </p:sp>
      <p:sp>
        <p:nvSpPr>
          <p:cNvPr id="22" name="Shape 20"/>
          <p:cNvSpPr/>
          <p:nvPr/>
        </p:nvSpPr>
        <p:spPr>
          <a:xfrm>
            <a:off x="7909560" y="3337560"/>
            <a:ext cx="3184855" cy="685800"/>
          </a:xfrm>
          <a:prstGeom prst="rect">
            <a:avLst/>
          </a:prstGeom>
          <a:solidFill>
            <a:srgbClr val="10241A"/>
          </a:solidFill>
          <a:ln w="12700">
            <a:solidFill>
              <a:srgbClr val="46D07E"/>
            </a:solidFill>
            <a:prstDash val="solid"/>
          </a:ln>
        </p:spPr>
      </p:sp>
      <p:sp>
        <p:nvSpPr>
          <p:cNvPr id="23" name="Text 21"/>
          <p:cNvSpPr txBox="1"/>
          <p:nvPr/>
        </p:nvSpPr>
        <p:spPr>
          <a:xfrm>
            <a:off x="8046720" y="3337560"/>
            <a:ext cx="2910535" cy="685800"/>
          </a:xfrm>
          <a:prstGeom prst="rect">
            <a:avLst/>
          </a:prstGeom>
          <a:noFill/>
          <a:ln/>
        </p:spPr>
        <p:txBody>
          <a:bodyPr wrap="square" lIns="0" tIns="0" rIns="0" bIns="0" rtlCol="0" anchor="ctr"/>
          <a:lstStyle/>
          <a:p>
            <a:pPr indent="0" marL="0">
              <a:buNone/>
            </a:pPr>
            <a:r>
              <a:rPr lang="en-US" sz="1300" dirty="0">
                <a:solidFill>
                  <a:srgbClr val="ECEEF2"/>
                </a:solidFill>
                <a:latin typeface="Arial" pitchFamily="34" charset="0"/>
                <a:ea typeface="Arial" pitchFamily="34" charset="-122"/>
                <a:cs typeface="Arial" pitchFamily="34" charset="-120"/>
              </a:rPr>
              <a:t>7,372,800 bytes — the photo will go here</a:t>
            </a:r>
            <a:endParaRPr lang="en-US" sz="1300" dirty="0"/>
          </a:p>
        </p:txBody>
      </p:sp>
      <p:sp>
        <p:nvSpPr>
          <p:cNvPr id="24" name="Text 22"/>
          <p:cNvSpPr txBox="1"/>
          <p:nvPr/>
        </p:nvSpPr>
        <p:spPr>
          <a:xfrm>
            <a:off x="7909560" y="4114800"/>
            <a:ext cx="3184855" cy="365760"/>
          </a:xfrm>
          <a:prstGeom prst="rect">
            <a:avLst/>
          </a:prstGeom>
          <a:noFill/>
          <a:ln/>
        </p:spPr>
        <p:txBody>
          <a:bodyPr wrap="square" lIns="0" tIns="0" rIns="0" bIns="0" rtlCol="0" anchor="ctr"/>
          <a:lstStyle/>
          <a:p>
            <a:pPr indent="0" marL="0">
              <a:buNone/>
            </a:pPr>
            <a:r>
              <a:rPr lang="en-US" sz="1200" dirty="0">
                <a:solidFill>
                  <a:srgbClr val="A7B0BC"/>
                </a:solidFill>
                <a:latin typeface="Arial" pitchFamily="34" charset="0"/>
                <a:ea typeface="Arial" pitchFamily="34" charset="-122"/>
                <a:cs typeface="Arial" pitchFamily="34" charset="-120"/>
              </a:rPr>
              <a:t>…memory THERE, which the CPU cannot read</a:t>
            </a:r>
            <a:endParaRPr lang="en-US" sz="1200" dirty="0"/>
          </a:p>
        </p:txBody>
      </p:sp>
      <p:sp>
        <p:nvSpPr>
          <p:cNvPr id="25" name="Shape 23"/>
          <p:cNvSpPr/>
          <p:nvPr/>
        </p:nvSpPr>
        <p:spPr>
          <a:xfrm>
            <a:off x="777240" y="4983480"/>
            <a:ext cx="10637215" cy="777240"/>
          </a:xfrm>
          <a:prstGeom prst="rect">
            <a:avLst/>
          </a:prstGeom>
          <a:solidFill>
            <a:srgbClr val="2A2210"/>
          </a:solidFill>
          <a:ln w="15875">
            <a:solidFill>
              <a:srgbClr val="F5B301"/>
            </a:solidFill>
            <a:prstDash val="solid"/>
          </a:ln>
        </p:spPr>
      </p:sp>
      <p:sp>
        <p:nvSpPr>
          <p:cNvPr id="26" name="Text 24"/>
          <p:cNvSpPr txBox="1"/>
          <p:nvPr/>
        </p:nvSpPr>
        <p:spPr>
          <a:xfrm>
            <a:off x="1005840" y="4983480"/>
            <a:ext cx="365760" cy="777240"/>
          </a:xfrm>
          <a:prstGeom prst="rect">
            <a:avLst/>
          </a:prstGeom>
          <a:noFill/>
          <a:ln/>
        </p:spPr>
        <p:txBody>
          <a:bodyPr wrap="square" lIns="0" tIns="0" rIns="0" bIns="0" rtlCol="0" anchor="ctr"/>
          <a:lstStyle/>
          <a:p>
            <a:pPr indent="0" marL="0">
              <a:buNone/>
            </a:pPr>
            <a:r>
              <a:rPr lang="en-US" sz="2200" b="1" dirty="0">
                <a:solidFill>
                  <a:srgbClr val="F5B301"/>
                </a:solidFill>
                <a:latin typeface="Arial" pitchFamily="34" charset="0"/>
                <a:ea typeface="Arial" pitchFamily="34" charset="-122"/>
                <a:cs typeface="Arial" pitchFamily="34" charset="-120"/>
              </a:rPr>
              <a:t>!</a:t>
            </a:r>
            <a:endParaRPr lang="en-US" sz="2200" dirty="0"/>
          </a:p>
        </p:txBody>
      </p:sp>
      <p:sp>
        <p:nvSpPr>
          <p:cNvPr id="27" name="Text 25"/>
          <p:cNvSpPr txBox="1"/>
          <p:nvPr/>
        </p:nvSpPr>
        <p:spPr>
          <a:xfrm>
            <a:off x="1463040" y="4983480"/>
            <a:ext cx="9722815" cy="777240"/>
          </a:xfrm>
          <a:prstGeom prst="rect">
            <a:avLst/>
          </a:prstGeom>
          <a:noFill/>
          <a:ln/>
        </p:spPr>
        <p:txBody>
          <a:bodyPr wrap="square" lIns="0" tIns="0" rIns="0" bIns="0" rtlCol="0" anchor="ctr"/>
          <a:lstStyle/>
          <a:p>
            <a:pPr indent="0" marL="0">
              <a:lnSpc>
                <a:spcPct val="115000"/>
              </a:lnSpc>
              <a:buNone/>
            </a:pPr>
            <a:r>
              <a:rPr lang="en-US" sz="1350" dirty="0">
                <a:solidFill>
                  <a:srgbClr val="ECEEF2"/>
                </a:solidFill>
                <a:latin typeface="Arial" pitchFamily="34" charset="0"/>
                <a:ea typeface="Arial" pitchFamily="34" charset="-122"/>
                <a:cs typeface="Arial" pitchFamily="34" charset="-120"/>
              </a:rPr>
              <a:t>You can pass in_d around, print it, hand it to CUDA calls. The one thing you must never do is follow it from the CPU — in_d[0] kills the program.</a:t>
            </a:r>
            <a:endParaRPr lang="en-US" sz="1350" dirty="0"/>
          </a:p>
        </p:txBody>
      </p:sp>
      <p:sp>
        <p:nvSpPr>
          <p:cNvPr id="28" name="Text 26"/>
          <p:cNvSpPr txBox="1"/>
          <p:nvPr/>
        </p:nvSpPr>
        <p:spPr>
          <a:xfrm>
            <a:off x="5928055" y="6556248"/>
            <a:ext cx="5486400" cy="228600"/>
          </a:xfrm>
          <a:prstGeom prst="rect">
            <a:avLst/>
          </a:prstGeom>
          <a:noFill/>
          <a:ln/>
        </p:spPr>
        <p:txBody>
          <a:bodyPr wrap="square" lIns="0" tIns="0" rIns="0" bIns="0" rtlCol="0" anchor="ctr"/>
          <a:lstStyle/>
          <a:p>
            <a:pPr algn="r" indent="0" marL="0">
              <a:buNone/>
            </a:pPr>
            <a:r>
              <a:rPr lang="en-US" sz="800" dirty="0">
                <a:solidFill>
                  <a:srgbClr val="6B7480"/>
                </a:solidFill>
                <a:latin typeface="Courier New" pitchFamily="34" charset="0"/>
                <a:ea typeface="Courier New" pitchFamily="34" charset="-122"/>
                <a:cs typeface="Courier New" pitchFamily="34" charset="-120"/>
              </a:rPr>
              <a:t>insert: after your Build 1 divider, first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9"/>
        </a:solidFill>
      </p:bgPr>
    </p:bg>
    <p:spTree>
      <p:nvGrpSpPr>
        <p:cNvPr id="1" name=""/>
        <p:cNvGrpSpPr/>
        <p:nvPr/>
      </p:nvGrpSpPr>
      <p:grpSpPr>
        <a:xfrm>
          <a:off x="0" y="0"/>
          <a:ext cx="0" cy="0"/>
          <a:chOff x="0" y="0"/>
          <a:chExt cx="0" cy="0"/>
        </a:xfrm>
      </p:grpSpPr>
      <p:sp>
        <p:nvSpPr>
          <p:cNvPr id="2" name="Shape 0"/>
          <p:cNvSpPr/>
          <p:nvPr/>
        </p:nvSpPr>
        <p:spPr>
          <a:xfrm>
            <a:off x="777240" y="411480"/>
            <a:ext cx="91440" cy="91440"/>
          </a:xfrm>
          <a:prstGeom prst="rect">
            <a:avLst/>
          </a:prstGeom>
          <a:solidFill>
            <a:srgbClr val="8B80F9"/>
          </a:solidFill>
          <a:ln w="12700">
            <a:solidFill>
              <a:srgbClr val="8B80F9"/>
            </a:solidFill>
            <a:prstDash val="solid"/>
          </a:ln>
        </p:spPr>
      </p:sp>
      <p:sp>
        <p:nvSpPr>
          <p:cNvPr id="3" name="Shape 1"/>
          <p:cNvSpPr/>
          <p:nvPr/>
        </p:nvSpPr>
        <p:spPr>
          <a:xfrm>
            <a:off x="896112" y="411480"/>
            <a:ext cx="91440" cy="91440"/>
          </a:xfrm>
          <a:prstGeom prst="rect">
            <a:avLst/>
          </a:prstGeom>
          <a:solidFill>
            <a:srgbClr val="8B80F9"/>
          </a:solidFill>
          <a:ln w="12700">
            <a:solidFill>
              <a:srgbClr val="8B80F9"/>
            </a:solidFill>
            <a:prstDash val="solid"/>
          </a:ln>
        </p:spPr>
      </p:sp>
      <p:sp>
        <p:nvSpPr>
          <p:cNvPr id="4" name="Shape 2"/>
          <p:cNvSpPr/>
          <p:nvPr/>
        </p:nvSpPr>
        <p:spPr>
          <a:xfrm>
            <a:off x="1014984" y="411480"/>
            <a:ext cx="91440" cy="91440"/>
          </a:xfrm>
          <a:prstGeom prst="rect">
            <a:avLst/>
          </a:prstGeom>
          <a:solidFill>
            <a:srgbClr val="8B80F9"/>
          </a:solidFill>
          <a:ln w="12700">
            <a:solidFill>
              <a:srgbClr val="8B80F9"/>
            </a:solidFill>
            <a:prstDash val="solid"/>
          </a:ln>
        </p:spPr>
      </p:sp>
      <p:sp>
        <p:nvSpPr>
          <p:cNvPr id="5" name="Shape 3"/>
          <p:cNvSpPr/>
          <p:nvPr/>
        </p:nvSpPr>
        <p:spPr>
          <a:xfrm>
            <a:off x="777240" y="530352"/>
            <a:ext cx="91440" cy="91440"/>
          </a:xfrm>
          <a:prstGeom prst="rect">
            <a:avLst/>
          </a:prstGeom>
          <a:solidFill>
            <a:srgbClr val="8B80F9"/>
          </a:solidFill>
          <a:ln w="12700">
            <a:solidFill>
              <a:srgbClr val="8B80F9"/>
            </a:solidFill>
            <a:prstDash val="solid"/>
          </a:ln>
        </p:spPr>
      </p:sp>
      <p:sp>
        <p:nvSpPr>
          <p:cNvPr id="6" name="Shape 4"/>
          <p:cNvSpPr/>
          <p:nvPr/>
        </p:nvSpPr>
        <p:spPr>
          <a:xfrm>
            <a:off x="896112" y="530352"/>
            <a:ext cx="91440" cy="91440"/>
          </a:xfrm>
          <a:prstGeom prst="rect">
            <a:avLst/>
          </a:prstGeom>
          <a:solidFill>
            <a:srgbClr val="8B80F9"/>
          </a:solidFill>
          <a:ln w="12700">
            <a:solidFill>
              <a:srgbClr val="8B80F9"/>
            </a:solidFill>
            <a:prstDash val="solid"/>
          </a:ln>
        </p:spPr>
      </p:sp>
      <p:sp>
        <p:nvSpPr>
          <p:cNvPr id="7" name="Shape 5"/>
          <p:cNvSpPr/>
          <p:nvPr/>
        </p:nvSpPr>
        <p:spPr>
          <a:xfrm>
            <a:off x="777240" y="649224"/>
            <a:ext cx="91440" cy="91440"/>
          </a:xfrm>
          <a:prstGeom prst="rect">
            <a:avLst/>
          </a:prstGeom>
          <a:solidFill>
            <a:srgbClr val="8B80F9"/>
          </a:solidFill>
          <a:ln w="12700">
            <a:solidFill>
              <a:srgbClr val="8B80F9"/>
            </a:solidFill>
            <a:prstDash val="solid"/>
          </a:ln>
        </p:spPr>
      </p:sp>
      <p:sp>
        <p:nvSpPr>
          <p:cNvPr id="8" name="Shape 6"/>
          <p:cNvSpPr/>
          <p:nvPr/>
        </p:nvSpPr>
        <p:spPr>
          <a:xfrm>
            <a:off x="1014984" y="649224"/>
            <a:ext cx="91440" cy="91440"/>
          </a:xfrm>
          <a:prstGeom prst="rect">
            <a:avLst/>
          </a:prstGeom>
          <a:solidFill>
            <a:srgbClr val="8B80F9"/>
          </a:solidFill>
          <a:ln w="12700">
            <a:solidFill>
              <a:srgbClr val="8B80F9"/>
            </a:solidFill>
            <a:prstDash val="solid"/>
          </a:ln>
        </p:spPr>
      </p:sp>
      <p:sp>
        <p:nvSpPr>
          <p:cNvPr id="9" name="Text 7"/>
          <p:cNvSpPr txBox="1"/>
          <p:nvPr/>
        </p:nvSpPr>
        <p:spPr>
          <a:xfrm>
            <a:off x="1417320" y="384048"/>
            <a:ext cx="8229600" cy="365760"/>
          </a:xfrm>
          <a:prstGeom prst="rect">
            <a:avLst/>
          </a:prstGeom>
          <a:noFill/>
          <a:ln/>
        </p:spPr>
        <p:txBody>
          <a:bodyPr wrap="square" lIns="0" tIns="0" rIns="0" bIns="0" rtlCol="0" anchor="ctr"/>
          <a:lstStyle/>
          <a:p>
            <a:pPr indent="0" marL="0">
              <a:buNone/>
            </a:pPr>
            <a:r>
              <a:rPr lang="en-US" sz="1300" b="1" spc="300" kern="0" dirty="0">
                <a:solidFill>
                  <a:srgbClr val="46D07E"/>
                </a:solidFill>
                <a:latin typeface="Courier New" pitchFamily="34" charset="0"/>
                <a:ea typeface="Courier New" pitchFamily="34" charset="-122"/>
                <a:cs typeface="Courier New" pitchFamily="34" charset="-120"/>
              </a:rPr>
              <a:t>STEP 1 · cudaMalloc</a:t>
            </a:r>
            <a:endParaRPr lang="en-US" sz="1300" dirty="0"/>
          </a:p>
        </p:txBody>
      </p:sp>
      <p:sp>
        <p:nvSpPr>
          <p:cNvPr id="10" name="Text 8"/>
          <p:cNvSpPr txBox="1"/>
          <p:nvPr/>
        </p:nvSpPr>
        <p:spPr>
          <a:xfrm>
            <a:off x="777240" y="868680"/>
            <a:ext cx="10637215" cy="731520"/>
          </a:xfrm>
          <a:prstGeom prst="rect">
            <a:avLst/>
          </a:prstGeom>
          <a:noFill/>
          <a:ln/>
        </p:spPr>
        <p:txBody>
          <a:bodyPr wrap="square" lIns="0" tIns="0" rIns="0" bIns="0" rtlCol="0" anchor="ctr"/>
          <a:lstStyle/>
          <a:p>
            <a:pPr indent="0" marL="0">
              <a:buNone/>
            </a:pPr>
            <a:r>
              <a:rPr lang="en-US" sz="3400" b="1" dirty="0">
                <a:solidFill>
                  <a:srgbClr val="ECEEF2"/>
                </a:solidFill>
                <a:latin typeface="Arial" pitchFamily="34" charset="0"/>
                <a:ea typeface="Arial" pitchFamily="34" charset="-122"/>
                <a:cs typeface="Arial" pitchFamily="34" charset="-120"/>
              </a:rPr>
              <a:t>Ask the GPU for memory</a:t>
            </a:r>
            <a:endParaRPr lang="en-US" sz="3400" dirty="0"/>
          </a:p>
        </p:txBody>
      </p:sp>
      <p:sp>
        <p:nvSpPr>
          <p:cNvPr id="11" name="Shape 9"/>
          <p:cNvSpPr/>
          <p:nvPr/>
        </p:nvSpPr>
        <p:spPr>
          <a:xfrm>
            <a:off x="777240" y="1783080"/>
            <a:ext cx="6537960" cy="2011680"/>
          </a:xfrm>
          <a:prstGeom prst="rect">
            <a:avLst/>
          </a:prstGeom>
          <a:solidFill>
            <a:srgbClr val="0A0C12"/>
          </a:solidFill>
          <a:ln w="12700">
            <a:solidFill>
              <a:srgbClr val="272C38"/>
            </a:solidFill>
            <a:prstDash val="solid"/>
          </a:ln>
        </p:spPr>
      </p:sp>
      <p:sp>
        <p:nvSpPr>
          <p:cNvPr id="12" name="Text 10"/>
          <p:cNvSpPr txBox="1"/>
          <p:nvPr/>
        </p:nvSpPr>
        <p:spPr>
          <a:xfrm>
            <a:off x="978408" y="1947672"/>
            <a:ext cx="6135624" cy="1682496"/>
          </a:xfrm>
          <a:prstGeom prst="rect">
            <a:avLst/>
          </a:prstGeom>
          <a:noFill/>
          <a:ln/>
        </p:spPr>
        <p:txBody>
          <a:bodyPr wrap="square" lIns="0" tIns="0" rIns="0" bIns="0" rtlCol="0" anchor="t"/>
          <a:lstStyle/>
          <a:p>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unsigned char *in_d, *out_d;</a:t>
            </a:r>
            <a:pPr indent="0" marL="0">
              <a:lnSpc>
                <a:spcPct val="112000"/>
              </a:lnSpc>
              <a:buNone/>
            </a:pPr>
            <a:r>
              <a:rPr lang="en-US" sz="130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46D07E"/>
                </a:solidFill>
                <a:latin typeface="Courier New" pitchFamily="34" charset="0"/>
                <a:ea typeface="Courier New" pitchFamily="34" charset="-122"/>
                <a:cs typeface="Courier New" pitchFamily="34" charset="-120"/>
              </a:rPr>
              <a:t>cudaMalloc</a:t>
            </a:r>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(&amp;in_d,  img.bytes);</a:t>
            </a:r>
            <a:pPr indent="0" marL="0">
              <a:lnSpc>
                <a:spcPct val="112000"/>
              </a:lnSpc>
              <a:buNone/>
            </a:pPr>
            <a:r>
              <a:rPr lang="en-US" sz="130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46D07E"/>
                </a:solidFill>
                <a:latin typeface="Courier New" pitchFamily="34" charset="0"/>
                <a:ea typeface="Courier New" pitchFamily="34" charset="-122"/>
                <a:cs typeface="Courier New" pitchFamily="34" charset="-120"/>
              </a:rPr>
              <a:t>cudaMalloc</a:t>
            </a:r>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(&amp;out_d, img.bytes);</a:t>
            </a:r>
            <a:endParaRPr lang="en-US" sz="1300" dirty="0"/>
          </a:p>
        </p:txBody>
      </p:sp>
      <p:sp>
        <p:nvSpPr>
          <p:cNvPr id="13" name="Shape 11"/>
          <p:cNvSpPr/>
          <p:nvPr/>
        </p:nvSpPr>
        <p:spPr>
          <a:xfrm>
            <a:off x="7589520" y="1783080"/>
            <a:ext cx="3824935" cy="2743200"/>
          </a:xfrm>
          <a:prstGeom prst="rect">
            <a:avLst/>
          </a:prstGeom>
          <a:solidFill>
            <a:srgbClr val="1B1A33"/>
          </a:solidFill>
          <a:ln w="15875">
            <a:solidFill>
              <a:srgbClr val="6C63D9"/>
            </a:solidFill>
            <a:prstDash val="solid"/>
          </a:ln>
        </p:spPr>
      </p:sp>
      <p:sp>
        <p:nvSpPr>
          <p:cNvPr id="14" name="Text 12"/>
          <p:cNvSpPr txBox="1"/>
          <p:nvPr/>
        </p:nvSpPr>
        <p:spPr>
          <a:xfrm>
            <a:off x="7845552" y="1984248"/>
            <a:ext cx="3367735" cy="274320"/>
          </a:xfrm>
          <a:prstGeom prst="rect">
            <a:avLst/>
          </a:prstGeom>
          <a:noFill/>
          <a:ln/>
        </p:spPr>
        <p:txBody>
          <a:bodyPr wrap="square" lIns="0" tIns="0" rIns="0" bIns="0" rtlCol="0" anchor="ctr"/>
          <a:lstStyle/>
          <a:p>
            <a:pPr indent="0" marL="0">
              <a:buNone/>
            </a:pPr>
            <a:r>
              <a:rPr lang="en-US" sz="1200" b="1" spc="200" kern="0" dirty="0">
                <a:solidFill>
                  <a:srgbClr val="8B80F9"/>
                </a:solidFill>
                <a:latin typeface="Arial" pitchFamily="34" charset="0"/>
                <a:ea typeface="Arial" pitchFamily="34" charset="-122"/>
                <a:cs typeface="Arial" pitchFamily="34" charset="-120"/>
              </a:rPr>
              <a:t>READ IT AS</a:t>
            </a:r>
            <a:endParaRPr lang="en-US" sz="1200" dirty="0"/>
          </a:p>
        </p:txBody>
      </p:sp>
      <p:sp>
        <p:nvSpPr>
          <p:cNvPr id="15" name="Text 13"/>
          <p:cNvSpPr txBox="1"/>
          <p:nvPr/>
        </p:nvSpPr>
        <p:spPr>
          <a:xfrm>
            <a:off x="7845552" y="2331720"/>
            <a:ext cx="3367735" cy="2011680"/>
          </a:xfrm>
          <a:prstGeom prst="rect">
            <a:avLst/>
          </a:prstGeom>
          <a:noFill/>
          <a:ln/>
        </p:spPr>
        <p:txBody>
          <a:bodyPr wrap="square" lIns="0" tIns="0" rIns="0" bIns="0" rtlCol="0" anchor="t"/>
          <a:lstStyle/>
          <a:p>
            <a:pPr indent="0" marL="0">
              <a:lnSpc>
                <a:spcPct val="115000"/>
              </a:lnSpc>
              <a:spcAft>
                <a:spcPts val="500"/>
              </a:spcAft>
              <a:buNone/>
            </a:pPr>
            <a:r>
              <a:rPr lang="en-US" sz="1450" dirty="0">
                <a:solidFill>
                  <a:srgbClr val="ECEEF2"/>
                </a:solidFill>
                <a:latin typeface="Arial" pitchFamily="34" charset="0"/>
                <a:ea typeface="Arial" pitchFamily="34" charset="-122"/>
                <a:cs typeface="Arial" pitchFamily="34" charset="-120"/>
              </a:rPr>
              <a:t>&amp;in_d — the address OF our variable, so cudaMalloc can write the GPU address into it.</a:t>
            </a:r>
            <a:endParaRPr lang="en-US" sz="1450" dirty="0"/>
          </a:p>
          <a:p>
            <a:pPr indent="0" marL="0">
              <a:lnSpc>
                <a:spcPct val="115000"/>
              </a:lnSpc>
              <a:spcAft>
                <a:spcPts val="500"/>
              </a:spcAft>
              <a:buNone/>
            </a:pPr>
            <a:r>
              <a:rPr lang="en-US" sz="1450" dirty="0">
                <a:solidFill>
                  <a:srgbClr val="ECEEF2"/>
                </a:solidFill>
                <a:latin typeface="Arial" pitchFamily="34" charset="0"/>
                <a:ea typeface="Arial" pitchFamily="34" charset="-122"/>
                <a:cs typeface="Arial" pitchFamily="34" charset="-120"/>
              </a:rPr>
              <a:t>img.bytes — how many: 1920 × 1280 × 3 = 7,372,800.</a:t>
            </a:r>
            <a:endParaRPr lang="en-US" sz="1450" dirty="0"/>
          </a:p>
          <a:p>
            <a:pPr indent="0" marL="0">
              <a:lnSpc>
                <a:spcPct val="115000"/>
              </a:lnSpc>
              <a:spcAft>
                <a:spcPts val="500"/>
              </a:spcAft>
              <a:buNone/>
            </a:pPr>
            <a:r>
              <a:rPr lang="en-US" sz="1450" dirty="0">
                <a:solidFill>
                  <a:srgbClr val="ECEEF2"/>
                </a:solidFill>
                <a:latin typeface="Arial" pitchFamily="34" charset="0"/>
                <a:ea typeface="Arial" pitchFamily="34" charset="-122"/>
                <a:cs typeface="Arial" pitchFamily="34" charset="-120"/>
              </a:rPr>
              <a:t>Twice: one block for the photo, one for the result.</a:t>
            </a:r>
            <a:endParaRPr lang="en-US" sz="1450" dirty="0"/>
          </a:p>
        </p:txBody>
      </p:sp>
      <p:sp>
        <p:nvSpPr>
          <p:cNvPr id="16" name="Shape 14"/>
          <p:cNvSpPr/>
          <p:nvPr/>
        </p:nvSpPr>
        <p:spPr>
          <a:xfrm>
            <a:off x="777240" y="4800600"/>
            <a:ext cx="10637215" cy="777240"/>
          </a:xfrm>
          <a:prstGeom prst="rect">
            <a:avLst/>
          </a:prstGeom>
          <a:solidFill>
            <a:srgbClr val="2A2210"/>
          </a:solidFill>
          <a:ln w="15875">
            <a:solidFill>
              <a:srgbClr val="F5B301"/>
            </a:solidFill>
            <a:prstDash val="solid"/>
          </a:ln>
        </p:spPr>
      </p:sp>
      <p:sp>
        <p:nvSpPr>
          <p:cNvPr id="17" name="Text 15"/>
          <p:cNvSpPr txBox="1"/>
          <p:nvPr/>
        </p:nvSpPr>
        <p:spPr>
          <a:xfrm>
            <a:off x="1005840" y="4800600"/>
            <a:ext cx="365760" cy="777240"/>
          </a:xfrm>
          <a:prstGeom prst="rect">
            <a:avLst/>
          </a:prstGeom>
          <a:noFill/>
          <a:ln/>
        </p:spPr>
        <p:txBody>
          <a:bodyPr wrap="square" lIns="0" tIns="0" rIns="0" bIns="0" rtlCol="0" anchor="ctr"/>
          <a:lstStyle/>
          <a:p>
            <a:pPr indent="0" marL="0">
              <a:buNone/>
            </a:pPr>
            <a:r>
              <a:rPr lang="en-US" sz="2200" b="1" dirty="0">
                <a:solidFill>
                  <a:srgbClr val="F5B301"/>
                </a:solidFill>
                <a:latin typeface="Arial" pitchFamily="34" charset="0"/>
                <a:ea typeface="Arial" pitchFamily="34" charset="-122"/>
                <a:cs typeface="Arial" pitchFamily="34" charset="-120"/>
              </a:rPr>
              <a:t>!</a:t>
            </a:r>
            <a:endParaRPr lang="en-US" sz="2200" dirty="0"/>
          </a:p>
        </p:txBody>
      </p:sp>
      <p:sp>
        <p:nvSpPr>
          <p:cNvPr id="18" name="Text 16"/>
          <p:cNvSpPr txBox="1"/>
          <p:nvPr/>
        </p:nvSpPr>
        <p:spPr>
          <a:xfrm>
            <a:off x="1463040" y="4800600"/>
            <a:ext cx="9722815" cy="777240"/>
          </a:xfrm>
          <a:prstGeom prst="rect">
            <a:avLst/>
          </a:prstGeom>
          <a:noFill/>
          <a:ln/>
        </p:spPr>
        <p:txBody>
          <a:bodyPr wrap="square" lIns="0" tIns="0" rIns="0" bIns="0" rtlCol="0" anchor="ctr"/>
          <a:lstStyle/>
          <a:p>
            <a:pPr indent="0" marL="0">
              <a:lnSpc>
                <a:spcPct val="115000"/>
              </a:lnSpc>
              <a:buNone/>
            </a:pPr>
            <a:r>
              <a:rPr lang="en-US" sz="1350" dirty="0">
                <a:solidFill>
                  <a:srgbClr val="ECEEF2"/>
                </a:solidFill>
                <a:latin typeface="Arial" pitchFamily="34" charset="0"/>
                <a:ea typeface="Arial" pitchFamily="34" charset="-122"/>
                <a:cs typeface="Arial" pitchFamily="34" charset="-120"/>
              </a:rPr>
              <a:t>Why the &amp;? cudaMalloc has to hand you back an address. A C function can't change your variable unless you give it the variable's location — so you pass &amp;in_d, not in_d.</a:t>
            </a:r>
            <a:endParaRPr lang="en-US" sz="1350" dirty="0"/>
          </a:p>
        </p:txBody>
      </p:sp>
      <p:sp>
        <p:nvSpPr>
          <p:cNvPr id="19" name="Text 17"/>
          <p:cNvSpPr txBox="1"/>
          <p:nvPr/>
        </p:nvSpPr>
        <p:spPr>
          <a:xfrm>
            <a:off x="5928055" y="6556248"/>
            <a:ext cx="5486400" cy="228600"/>
          </a:xfrm>
          <a:prstGeom prst="rect">
            <a:avLst/>
          </a:prstGeom>
          <a:noFill/>
          <a:ln/>
        </p:spPr>
        <p:txBody>
          <a:bodyPr wrap="square" lIns="0" tIns="0" rIns="0" bIns="0" rtlCol="0" anchor="ctr"/>
          <a:lstStyle/>
          <a:p>
            <a:pPr algn="r" indent="0" marL="0">
              <a:buNone/>
            </a:pPr>
            <a:r>
              <a:rPr lang="en-US" sz="800" dirty="0">
                <a:solidFill>
                  <a:srgbClr val="6B7480"/>
                </a:solidFill>
                <a:latin typeface="Courier New" pitchFamily="34" charset="0"/>
                <a:ea typeface="Courier New" pitchFamily="34" charset="-122"/>
                <a:cs typeface="Courier New" pitchFamily="34" charset="-120"/>
              </a:rPr>
              <a:t>insert: after the device-pointer slide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9"/>
        </a:solidFill>
      </p:bgPr>
    </p:bg>
    <p:spTree>
      <p:nvGrpSpPr>
        <p:cNvPr id="1" name=""/>
        <p:cNvGrpSpPr/>
        <p:nvPr/>
      </p:nvGrpSpPr>
      <p:grpSpPr>
        <a:xfrm>
          <a:off x="0" y="0"/>
          <a:ext cx="0" cy="0"/>
          <a:chOff x="0" y="0"/>
          <a:chExt cx="0" cy="0"/>
        </a:xfrm>
      </p:grpSpPr>
      <p:sp>
        <p:nvSpPr>
          <p:cNvPr id="2" name="Shape 0"/>
          <p:cNvSpPr/>
          <p:nvPr/>
        </p:nvSpPr>
        <p:spPr>
          <a:xfrm>
            <a:off x="777240" y="411480"/>
            <a:ext cx="91440" cy="91440"/>
          </a:xfrm>
          <a:prstGeom prst="rect">
            <a:avLst/>
          </a:prstGeom>
          <a:solidFill>
            <a:srgbClr val="8B80F9"/>
          </a:solidFill>
          <a:ln w="12700">
            <a:solidFill>
              <a:srgbClr val="8B80F9"/>
            </a:solidFill>
            <a:prstDash val="solid"/>
          </a:ln>
        </p:spPr>
      </p:sp>
      <p:sp>
        <p:nvSpPr>
          <p:cNvPr id="3" name="Shape 1"/>
          <p:cNvSpPr/>
          <p:nvPr/>
        </p:nvSpPr>
        <p:spPr>
          <a:xfrm>
            <a:off x="896112" y="411480"/>
            <a:ext cx="91440" cy="91440"/>
          </a:xfrm>
          <a:prstGeom prst="rect">
            <a:avLst/>
          </a:prstGeom>
          <a:solidFill>
            <a:srgbClr val="8B80F9"/>
          </a:solidFill>
          <a:ln w="12700">
            <a:solidFill>
              <a:srgbClr val="8B80F9"/>
            </a:solidFill>
            <a:prstDash val="solid"/>
          </a:ln>
        </p:spPr>
      </p:sp>
      <p:sp>
        <p:nvSpPr>
          <p:cNvPr id="4" name="Shape 2"/>
          <p:cNvSpPr/>
          <p:nvPr/>
        </p:nvSpPr>
        <p:spPr>
          <a:xfrm>
            <a:off x="1014984" y="411480"/>
            <a:ext cx="91440" cy="91440"/>
          </a:xfrm>
          <a:prstGeom prst="rect">
            <a:avLst/>
          </a:prstGeom>
          <a:solidFill>
            <a:srgbClr val="8B80F9"/>
          </a:solidFill>
          <a:ln w="12700">
            <a:solidFill>
              <a:srgbClr val="8B80F9"/>
            </a:solidFill>
            <a:prstDash val="solid"/>
          </a:ln>
        </p:spPr>
      </p:sp>
      <p:sp>
        <p:nvSpPr>
          <p:cNvPr id="5" name="Shape 3"/>
          <p:cNvSpPr/>
          <p:nvPr/>
        </p:nvSpPr>
        <p:spPr>
          <a:xfrm>
            <a:off x="777240" y="530352"/>
            <a:ext cx="91440" cy="91440"/>
          </a:xfrm>
          <a:prstGeom prst="rect">
            <a:avLst/>
          </a:prstGeom>
          <a:solidFill>
            <a:srgbClr val="8B80F9"/>
          </a:solidFill>
          <a:ln w="12700">
            <a:solidFill>
              <a:srgbClr val="8B80F9"/>
            </a:solidFill>
            <a:prstDash val="solid"/>
          </a:ln>
        </p:spPr>
      </p:sp>
      <p:sp>
        <p:nvSpPr>
          <p:cNvPr id="6" name="Shape 4"/>
          <p:cNvSpPr/>
          <p:nvPr/>
        </p:nvSpPr>
        <p:spPr>
          <a:xfrm>
            <a:off x="896112" y="530352"/>
            <a:ext cx="91440" cy="91440"/>
          </a:xfrm>
          <a:prstGeom prst="rect">
            <a:avLst/>
          </a:prstGeom>
          <a:solidFill>
            <a:srgbClr val="8B80F9"/>
          </a:solidFill>
          <a:ln w="12700">
            <a:solidFill>
              <a:srgbClr val="8B80F9"/>
            </a:solidFill>
            <a:prstDash val="solid"/>
          </a:ln>
        </p:spPr>
      </p:sp>
      <p:sp>
        <p:nvSpPr>
          <p:cNvPr id="7" name="Shape 5"/>
          <p:cNvSpPr/>
          <p:nvPr/>
        </p:nvSpPr>
        <p:spPr>
          <a:xfrm>
            <a:off x="777240" y="649224"/>
            <a:ext cx="91440" cy="91440"/>
          </a:xfrm>
          <a:prstGeom prst="rect">
            <a:avLst/>
          </a:prstGeom>
          <a:solidFill>
            <a:srgbClr val="8B80F9"/>
          </a:solidFill>
          <a:ln w="12700">
            <a:solidFill>
              <a:srgbClr val="8B80F9"/>
            </a:solidFill>
            <a:prstDash val="solid"/>
          </a:ln>
        </p:spPr>
      </p:sp>
      <p:sp>
        <p:nvSpPr>
          <p:cNvPr id="8" name="Shape 6"/>
          <p:cNvSpPr/>
          <p:nvPr/>
        </p:nvSpPr>
        <p:spPr>
          <a:xfrm>
            <a:off x="1014984" y="649224"/>
            <a:ext cx="91440" cy="91440"/>
          </a:xfrm>
          <a:prstGeom prst="rect">
            <a:avLst/>
          </a:prstGeom>
          <a:solidFill>
            <a:srgbClr val="8B80F9"/>
          </a:solidFill>
          <a:ln w="12700">
            <a:solidFill>
              <a:srgbClr val="8B80F9"/>
            </a:solidFill>
            <a:prstDash val="solid"/>
          </a:ln>
        </p:spPr>
      </p:sp>
      <p:sp>
        <p:nvSpPr>
          <p:cNvPr id="9" name="Text 7"/>
          <p:cNvSpPr txBox="1"/>
          <p:nvPr/>
        </p:nvSpPr>
        <p:spPr>
          <a:xfrm>
            <a:off x="1417320" y="384048"/>
            <a:ext cx="8229600" cy="365760"/>
          </a:xfrm>
          <a:prstGeom prst="rect">
            <a:avLst/>
          </a:prstGeom>
          <a:noFill/>
          <a:ln/>
        </p:spPr>
        <p:txBody>
          <a:bodyPr wrap="square" lIns="0" tIns="0" rIns="0" bIns="0" rtlCol="0" anchor="ctr"/>
          <a:lstStyle/>
          <a:p>
            <a:pPr indent="0" marL="0">
              <a:buNone/>
            </a:pPr>
            <a:r>
              <a:rPr lang="en-US" sz="1300" b="1" spc="300" kern="0" dirty="0">
                <a:solidFill>
                  <a:srgbClr val="46D07E"/>
                </a:solidFill>
                <a:latin typeface="Courier New" pitchFamily="34" charset="0"/>
                <a:ea typeface="Courier New" pitchFamily="34" charset="-122"/>
                <a:cs typeface="Courier New" pitchFamily="34" charset="-120"/>
              </a:rPr>
              <a:t>STEP 2 · cudaMemcpy →</a:t>
            </a:r>
            <a:endParaRPr lang="en-US" sz="1300" dirty="0"/>
          </a:p>
        </p:txBody>
      </p:sp>
      <p:sp>
        <p:nvSpPr>
          <p:cNvPr id="10" name="Text 8"/>
          <p:cNvSpPr txBox="1"/>
          <p:nvPr/>
        </p:nvSpPr>
        <p:spPr>
          <a:xfrm>
            <a:off x="777240" y="868680"/>
            <a:ext cx="10637215" cy="731520"/>
          </a:xfrm>
          <a:prstGeom prst="rect">
            <a:avLst/>
          </a:prstGeom>
          <a:noFill/>
          <a:ln/>
        </p:spPr>
        <p:txBody>
          <a:bodyPr wrap="square" lIns="0" tIns="0" rIns="0" bIns="0" rtlCol="0" anchor="ctr"/>
          <a:lstStyle/>
          <a:p>
            <a:pPr indent="0" marL="0">
              <a:buNone/>
            </a:pPr>
            <a:r>
              <a:rPr lang="en-US" sz="3400" b="1" dirty="0">
                <a:solidFill>
                  <a:srgbClr val="ECEEF2"/>
                </a:solidFill>
                <a:latin typeface="Arial" pitchFamily="34" charset="0"/>
                <a:ea typeface="Arial" pitchFamily="34" charset="-122"/>
                <a:cs typeface="Arial" pitchFamily="34" charset="-120"/>
              </a:rPr>
              <a:t>Ship the photo across</a:t>
            </a:r>
            <a:endParaRPr lang="en-US" sz="3400" dirty="0"/>
          </a:p>
        </p:txBody>
      </p:sp>
      <p:sp>
        <p:nvSpPr>
          <p:cNvPr id="11" name="Shape 9"/>
          <p:cNvSpPr/>
          <p:nvPr/>
        </p:nvSpPr>
        <p:spPr>
          <a:xfrm>
            <a:off x="777240" y="1783080"/>
            <a:ext cx="6537960" cy="1280160"/>
          </a:xfrm>
          <a:prstGeom prst="rect">
            <a:avLst/>
          </a:prstGeom>
          <a:solidFill>
            <a:srgbClr val="0A0C12"/>
          </a:solidFill>
          <a:ln w="12700">
            <a:solidFill>
              <a:srgbClr val="272C38"/>
            </a:solidFill>
            <a:prstDash val="solid"/>
          </a:ln>
        </p:spPr>
      </p:sp>
      <p:sp>
        <p:nvSpPr>
          <p:cNvPr id="12" name="Text 10"/>
          <p:cNvSpPr txBox="1"/>
          <p:nvPr/>
        </p:nvSpPr>
        <p:spPr>
          <a:xfrm>
            <a:off x="978408" y="1947672"/>
            <a:ext cx="6135624" cy="950976"/>
          </a:xfrm>
          <a:prstGeom prst="rect">
            <a:avLst/>
          </a:prstGeom>
          <a:noFill/>
          <a:ln/>
        </p:spPr>
        <p:txBody>
          <a:bodyPr wrap="square" lIns="0" tIns="0" rIns="0" bIns="0" rtlCol="0" anchor="t"/>
          <a:lstStyle/>
          <a:p>
            <a:pPr indent="0" marL="0">
              <a:lnSpc>
                <a:spcPct val="112000"/>
              </a:lnSpc>
              <a:buNone/>
            </a:pPr>
            <a:r>
              <a:rPr lang="en-US" sz="1300" dirty="0">
                <a:solidFill>
                  <a:srgbClr val="46D07E"/>
                </a:solidFill>
                <a:latin typeface="Courier New" pitchFamily="34" charset="0"/>
                <a:ea typeface="Courier New" pitchFamily="34" charset="-122"/>
                <a:cs typeface="Courier New" pitchFamily="34" charset="-120"/>
              </a:rPr>
              <a:t>cudaMemcpy</a:t>
            </a:r>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(in_d, img.data, img.bytes, </a:t>
            </a:r>
            <a:pPr indent="0" marL="0">
              <a:lnSpc>
                <a:spcPct val="112000"/>
              </a:lnSpc>
              <a:buNone/>
            </a:pPr>
            <a:r>
              <a:rPr lang="en-US" sz="1300" dirty="0">
                <a:solidFill>
                  <a:srgbClr val="46D07E"/>
                </a:solidFill>
                <a:latin typeface="Courier New" pitchFamily="34" charset="0"/>
                <a:ea typeface="Courier New" pitchFamily="34" charset="-122"/>
                <a:cs typeface="Courier New" pitchFamily="34" charset="-120"/>
              </a:rPr>
              <a:t>cudaMemcpy</a:t>
            </a:r>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HostToDevice);</a:t>
            </a:r>
            <a:endParaRPr lang="en-US" sz="1300" dirty="0"/>
          </a:p>
        </p:txBody>
      </p:sp>
      <p:sp>
        <p:nvSpPr>
          <p:cNvPr id="13" name="Shape 11"/>
          <p:cNvSpPr/>
          <p:nvPr/>
        </p:nvSpPr>
        <p:spPr>
          <a:xfrm>
            <a:off x="7589520" y="1783080"/>
            <a:ext cx="3824935" cy="2743200"/>
          </a:xfrm>
          <a:prstGeom prst="rect">
            <a:avLst/>
          </a:prstGeom>
          <a:solidFill>
            <a:srgbClr val="1B1A33"/>
          </a:solidFill>
          <a:ln w="15875">
            <a:solidFill>
              <a:srgbClr val="6C63D9"/>
            </a:solidFill>
            <a:prstDash val="solid"/>
          </a:ln>
        </p:spPr>
      </p:sp>
      <p:sp>
        <p:nvSpPr>
          <p:cNvPr id="14" name="Text 12"/>
          <p:cNvSpPr txBox="1"/>
          <p:nvPr/>
        </p:nvSpPr>
        <p:spPr>
          <a:xfrm>
            <a:off x="7845552" y="1984248"/>
            <a:ext cx="3367735" cy="274320"/>
          </a:xfrm>
          <a:prstGeom prst="rect">
            <a:avLst/>
          </a:prstGeom>
          <a:noFill/>
          <a:ln/>
        </p:spPr>
        <p:txBody>
          <a:bodyPr wrap="square" lIns="0" tIns="0" rIns="0" bIns="0" rtlCol="0" anchor="ctr"/>
          <a:lstStyle/>
          <a:p>
            <a:pPr indent="0" marL="0">
              <a:buNone/>
            </a:pPr>
            <a:r>
              <a:rPr lang="en-US" sz="1200" b="1" spc="200" kern="0" dirty="0">
                <a:solidFill>
                  <a:srgbClr val="8B80F9"/>
                </a:solidFill>
                <a:latin typeface="Arial" pitchFamily="34" charset="0"/>
                <a:ea typeface="Arial" pitchFamily="34" charset="-122"/>
                <a:cs typeface="Arial" pitchFamily="34" charset="-120"/>
              </a:rPr>
              <a:t>READ IT AS</a:t>
            </a:r>
            <a:endParaRPr lang="en-US" sz="1200" dirty="0"/>
          </a:p>
        </p:txBody>
      </p:sp>
      <p:sp>
        <p:nvSpPr>
          <p:cNvPr id="15" name="Text 13"/>
          <p:cNvSpPr txBox="1"/>
          <p:nvPr/>
        </p:nvSpPr>
        <p:spPr>
          <a:xfrm>
            <a:off x="7845552" y="2331720"/>
            <a:ext cx="3367735" cy="2011680"/>
          </a:xfrm>
          <a:prstGeom prst="rect">
            <a:avLst/>
          </a:prstGeom>
          <a:noFill/>
          <a:ln/>
        </p:spPr>
        <p:txBody>
          <a:bodyPr wrap="square" lIns="0" tIns="0" rIns="0" bIns="0" rtlCol="0" anchor="t"/>
          <a:lstStyle/>
          <a:p>
            <a:pPr indent="0" marL="0">
              <a:lnSpc>
                <a:spcPct val="115000"/>
              </a:lnSpc>
              <a:spcAft>
                <a:spcPts val="500"/>
              </a:spcAft>
              <a:buNone/>
            </a:pPr>
            <a:r>
              <a:rPr lang="en-US" sz="1400" dirty="0">
                <a:solidFill>
                  <a:srgbClr val="ECEEF2"/>
                </a:solidFill>
                <a:latin typeface="Arial" pitchFamily="34" charset="0"/>
                <a:ea typeface="Arial" pitchFamily="34" charset="-122"/>
                <a:cs typeface="Arial" pitchFamily="34" charset="-120"/>
              </a:rPr>
              <a:t>Destination first. Then source. Like assignment: in_d = img.data.</a:t>
            </a:r>
            <a:endParaRPr lang="en-US" sz="1400" dirty="0"/>
          </a:p>
          <a:p>
            <a:pPr indent="0" marL="0">
              <a:lnSpc>
                <a:spcPct val="115000"/>
              </a:lnSpc>
              <a:spcAft>
                <a:spcPts val="500"/>
              </a:spcAft>
              <a:buNone/>
            </a:pPr>
            <a:r>
              <a:rPr lang="en-US" sz="1400" dirty="0">
                <a:solidFill>
                  <a:srgbClr val="ECEEF2"/>
                </a:solidFill>
                <a:latin typeface="Arial" pitchFamily="34" charset="0"/>
                <a:ea typeface="Arial" pitchFamily="34" charset="-122"/>
                <a:cs typeface="Arial" pitchFamily="34" charset="-120"/>
              </a:rPr>
              <a:t>img.bytes — how many, same as before.</a:t>
            </a:r>
            <a:endParaRPr lang="en-US" sz="1400" dirty="0"/>
          </a:p>
          <a:p>
            <a:pPr indent="0" marL="0">
              <a:lnSpc>
                <a:spcPct val="115000"/>
              </a:lnSpc>
              <a:spcAft>
                <a:spcPts val="500"/>
              </a:spcAft>
              <a:buNone/>
            </a:pPr>
            <a:r>
              <a:rPr lang="en-US" sz="1400" dirty="0">
                <a:solidFill>
                  <a:srgbClr val="ECEEF2"/>
                </a:solidFill>
                <a:latin typeface="Arial" pitchFamily="34" charset="0"/>
                <a:ea typeface="Arial" pitchFamily="34" charset="-122"/>
                <a:cs typeface="Arial" pitchFamily="34" charset="-120"/>
              </a:rPr>
              <a:t>cudaMemcpyHostToDevice — which way. Host is the CPU, device is the GPU.</a:t>
            </a:r>
            <a:endParaRPr lang="en-US" sz="1400" dirty="0"/>
          </a:p>
        </p:txBody>
      </p:sp>
      <p:sp>
        <p:nvSpPr>
          <p:cNvPr id="16" name="Shape 14"/>
          <p:cNvSpPr/>
          <p:nvPr/>
        </p:nvSpPr>
        <p:spPr>
          <a:xfrm>
            <a:off x="777240" y="4800600"/>
            <a:ext cx="10637215" cy="777240"/>
          </a:xfrm>
          <a:prstGeom prst="rect">
            <a:avLst/>
          </a:prstGeom>
          <a:solidFill>
            <a:srgbClr val="2A2210"/>
          </a:solidFill>
          <a:ln w="15875">
            <a:solidFill>
              <a:srgbClr val="F5B301"/>
            </a:solidFill>
            <a:prstDash val="solid"/>
          </a:ln>
        </p:spPr>
      </p:sp>
      <p:sp>
        <p:nvSpPr>
          <p:cNvPr id="17" name="Text 15"/>
          <p:cNvSpPr txBox="1"/>
          <p:nvPr/>
        </p:nvSpPr>
        <p:spPr>
          <a:xfrm>
            <a:off x="1005840" y="4800600"/>
            <a:ext cx="365760" cy="777240"/>
          </a:xfrm>
          <a:prstGeom prst="rect">
            <a:avLst/>
          </a:prstGeom>
          <a:noFill/>
          <a:ln/>
        </p:spPr>
        <p:txBody>
          <a:bodyPr wrap="square" lIns="0" tIns="0" rIns="0" bIns="0" rtlCol="0" anchor="ctr"/>
          <a:lstStyle/>
          <a:p>
            <a:pPr indent="0" marL="0">
              <a:buNone/>
            </a:pPr>
            <a:r>
              <a:rPr lang="en-US" sz="2200" b="1" dirty="0">
                <a:solidFill>
                  <a:srgbClr val="F5B301"/>
                </a:solidFill>
                <a:latin typeface="Arial" pitchFamily="34" charset="0"/>
                <a:ea typeface="Arial" pitchFamily="34" charset="-122"/>
                <a:cs typeface="Arial" pitchFamily="34" charset="-120"/>
              </a:rPr>
              <a:t>!</a:t>
            </a:r>
            <a:endParaRPr lang="en-US" sz="2200" dirty="0"/>
          </a:p>
        </p:txBody>
      </p:sp>
      <p:sp>
        <p:nvSpPr>
          <p:cNvPr id="18" name="Text 16"/>
          <p:cNvSpPr txBox="1"/>
          <p:nvPr/>
        </p:nvSpPr>
        <p:spPr>
          <a:xfrm>
            <a:off x="1463040" y="4800600"/>
            <a:ext cx="9722815" cy="777240"/>
          </a:xfrm>
          <a:prstGeom prst="rect">
            <a:avLst/>
          </a:prstGeom>
          <a:noFill/>
          <a:ln/>
        </p:spPr>
        <p:txBody>
          <a:bodyPr wrap="square" lIns="0" tIns="0" rIns="0" bIns="0" rtlCol="0" anchor="ctr"/>
          <a:lstStyle/>
          <a:p>
            <a:pPr indent="0" marL="0">
              <a:lnSpc>
                <a:spcPct val="115000"/>
              </a:lnSpc>
              <a:buNone/>
            </a:pPr>
            <a:r>
              <a:rPr lang="en-US" sz="1350" dirty="0">
                <a:solidFill>
                  <a:srgbClr val="ECEEF2"/>
                </a:solidFill>
                <a:latin typeface="Arial" pitchFamily="34" charset="0"/>
                <a:ea typeface="Arial" pitchFamily="34" charset="-122"/>
                <a:cs typeface="Arial" pitchFamily="34" charset="-120"/>
              </a:rPr>
              <a:t>Destination comes FIRST — most people expect source first. Swap them, or get the direction wrong, and the copy fails; you'll hear about it as 'a CUDA call BEFORE the launch failed'.</a:t>
            </a:r>
            <a:endParaRPr lang="en-US" sz="1350" dirty="0"/>
          </a:p>
        </p:txBody>
      </p:sp>
      <p:sp>
        <p:nvSpPr>
          <p:cNvPr id="19" name="Text 17"/>
          <p:cNvSpPr txBox="1"/>
          <p:nvPr/>
        </p:nvSpPr>
        <p:spPr>
          <a:xfrm>
            <a:off x="5928055" y="6556248"/>
            <a:ext cx="5486400" cy="228600"/>
          </a:xfrm>
          <a:prstGeom prst="rect">
            <a:avLst/>
          </a:prstGeom>
          <a:noFill/>
          <a:ln/>
        </p:spPr>
        <p:txBody>
          <a:bodyPr wrap="square" lIns="0" tIns="0" rIns="0" bIns="0" rtlCol="0" anchor="ctr"/>
          <a:lstStyle/>
          <a:p>
            <a:pPr algn="r" indent="0" marL="0">
              <a:buNone/>
            </a:pPr>
            <a:r>
              <a:rPr lang="en-US" sz="800" dirty="0">
                <a:solidFill>
                  <a:srgbClr val="6B7480"/>
                </a:solidFill>
                <a:latin typeface="Courier New" pitchFamily="34" charset="0"/>
                <a:ea typeface="Courier New" pitchFamily="34" charset="-122"/>
                <a:cs typeface="Courier New" pitchFamily="34" charset="-120"/>
              </a:rPr>
              <a:t>insert: after STEP 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9"/>
        </a:solidFill>
      </p:bgPr>
    </p:bg>
    <p:spTree>
      <p:nvGrpSpPr>
        <p:cNvPr id="1" name=""/>
        <p:cNvGrpSpPr/>
        <p:nvPr/>
      </p:nvGrpSpPr>
      <p:grpSpPr>
        <a:xfrm>
          <a:off x="0" y="0"/>
          <a:ext cx="0" cy="0"/>
          <a:chOff x="0" y="0"/>
          <a:chExt cx="0" cy="0"/>
        </a:xfrm>
      </p:grpSpPr>
      <p:sp>
        <p:nvSpPr>
          <p:cNvPr id="2" name="Shape 0"/>
          <p:cNvSpPr/>
          <p:nvPr/>
        </p:nvSpPr>
        <p:spPr>
          <a:xfrm>
            <a:off x="777240" y="411480"/>
            <a:ext cx="91440" cy="91440"/>
          </a:xfrm>
          <a:prstGeom prst="rect">
            <a:avLst/>
          </a:prstGeom>
          <a:solidFill>
            <a:srgbClr val="8B80F9"/>
          </a:solidFill>
          <a:ln w="12700">
            <a:solidFill>
              <a:srgbClr val="8B80F9"/>
            </a:solidFill>
            <a:prstDash val="solid"/>
          </a:ln>
        </p:spPr>
      </p:sp>
      <p:sp>
        <p:nvSpPr>
          <p:cNvPr id="3" name="Shape 1"/>
          <p:cNvSpPr/>
          <p:nvPr/>
        </p:nvSpPr>
        <p:spPr>
          <a:xfrm>
            <a:off x="896112" y="411480"/>
            <a:ext cx="91440" cy="91440"/>
          </a:xfrm>
          <a:prstGeom prst="rect">
            <a:avLst/>
          </a:prstGeom>
          <a:solidFill>
            <a:srgbClr val="8B80F9"/>
          </a:solidFill>
          <a:ln w="12700">
            <a:solidFill>
              <a:srgbClr val="8B80F9"/>
            </a:solidFill>
            <a:prstDash val="solid"/>
          </a:ln>
        </p:spPr>
      </p:sp>
      <p:sp>
        <p:nvSpPr>
          <p:cNvPr id="4" name="Shape 2"/>
          <p:cNvSpPr/>
          <p:nvPr/>
        </p:nvSpPr>
        <p:spPr>
          <a:xfrm>
            <a:off x="1014984" y="411480"/>
            <a:ext cx="91440" cy="91440"/>
          </a:xfrm>
          <a:prstGeom prst="rect">
            <a:avLst/>
          </a:prstGeom>
          <a:solidFill>
            <a:srgbClr val="8B80F9"/>
          </a:solidFill>
          <a:ln w="12700">
            <a:solidFill>
              <a:srgbClr val="8B80F9"/>
            </a:solidFill>
            <a:prstDash val="solid"/>
          </a:ln>
        </p:spPr>
      </p:sp>
      <p:sp>
        <p:nvSpPr>
          <p:cNvPr id="5" name="Shape 3"/>
          <p:cNvSpPr/>
          <p:nvPr/>
        </p:nvSpPr>
        <p:spPr>
          <a:xfrm>
            <a:off x="777240" y="530352"/>
            <a:ext cx="91440" cy="91440"/>
          </a:xfrm>
          <a:prstGeom prst="rect">
            <a:avLst/>
          </a:prstGeom>
          <a:solidFill>
            <a:srgbClr val="8B80F9"/>
          </a:solidFill>
          <a:ln w="12700">
            <a:solidFill>
              <a:srgbClr val="8B80F9"/>
            </a:solidFill>
            <a:prstDash val="solid"/>
          </a:ln>
        </p:spPr>
      </p:sp>
      <p:sp>
        <p:nvSpPr>
          <p:cNvPr id="6" name="Shape 4"/>
          <p:cNvSpPr/>
          <p:nvPr/>
        </p:nvSpPr>
        <p:spPr>
          <a:xfrm>
            <a:off x="896112" y="530352"/>
            <a:ext cx="91440" cy="91440"/>
          </a:xfrm>
          <a:prstGeom prst="rect">
            <a:avLst/>
          </a:prstGeom>
          <a:solidFill>
            <a:srgbClr val="8B80F9"/>
          </a:solidFill>
          <a:ln w="12700">
            <a:solidFill>
              <a:srgbClr val="8B80F9"/>
            </a:solidFill>
            <a:prstDash val="solid"/>
          </a:ln>
        </p:spPr>
      </p:sp>
      <p:sp>
        <p:nvSpPr>
          <p:cNvPr id="7" name="Shape 5"/>
          <p:cNvSpPr/>
          <p:nvPr/>
        </p:nvSpPr>
        <p:spPr>
          <a:xfrm>
            <a:off x="777240" y="649224"/>
            <a:ext cx="91440" cy="91440"/>
          </a:xfrm>
          <a:prstGeom prst="rect">
            <a:avLst/>
          </a:prstGeom>
          <a:solidFill>
            <a:srgbClr val="8B80F9"/>
          </a:solidFill>
          <a:ln w="12700">
            <a:solidFill>
              <a:srgbClr val="8B80F9"/>
            </a:solidFill>
            <a:prstDash val="solid"/>
          </a:ln>
        </p:spPr>
      </p:sp>
      <p:sp>
        <p:nvSpPr>
          <p:cNvPr id="8" name="Shape 6"/>
          <p:cNvSpPr/>
          <p:nvPr/>
        </p:nvSpPr>
        <p:spPr>
          <a:xfrm>
            <a:off x="1014984" y="649224"/>
            <a:ext cx="91440" cy="91440"/>
          </a:xfrm>
          <a:prstGeom prst="rect">
            <a:avLst/>
          </a:prstGeom>
          <a:solidFill>
            <a:srgbClr val="8B80F9"/>
          </a:solidFill>
          <a:ln w="12700">
            <a:solidFill>
              <a:srgbClr val="8B80F9"/>
            </a:solidFill>
            <a:prstDash val="solid"/>
          </a:ln>
        </p:spPr>
      </p:sp>
      <p:sp>
        <p:nvSpPr>
          <p:cNvPr id="9" name="Text 7"/>
          <p:cNvSpPr txBox="1"/>
          <p:nvPr/>
        </p:nvSpPr>
        <p:spPr>
          <a:xfrm>
            <a:off x="1417320" y="384048"/>
            <a:ext cx="8229600" cy="365760"/>
          </a:xfrm>
          <a:prstGeom prst="rect">
            <a:avLst/>
          </a:prstGeom>
          <a:noFill/>
          <a:ln/>
        </p:spPr>
        <p:txBody>
          <a:bodyPr wrap="square" lIns="0" tIns="0" rIns="0" bIns="0" rtlCol="0" anchor="ctr"/>
          <a:lstStyle/>
          <a:p>
            <a:pPr indent="0" marL="0">
              <a:buNone/>
            </a:pPr>
            <a:r>
              <a:rPr lang="en-US" sz="1300" b="1" spc="300" kern="0" dirty="0">
                <a:solidFill>
                  <a:srgbClr val="46D07E"/>
                </a:solidFill>
                <a:latin typeface="Courier New" pitchFamily="34" charset="0"/>
                <a:ea typeface="Courier New" pitchFamily="34" charset="-122"/>
                <a:cs typeface="Courier New" pitchFamily="34" charset="-120"/>
              </a:rPr>
              <a:t>STEP 3 · THE LAUNCH</a:t>
            </a:r>
            <a:endParaRPr lang="en-US" sz="1300" dirty="0"/>
          </a:p>
        </p:txBody>
      </p:sp>
      <p:sp>
        <p:nvSpPr>
          <p:cNvPr id="10" name="Text 8"/>
          <p:cNvSpPr txBox="1"/>
          <p:nvPr/>
        </p:nvSpPr>
        <p:spPr>
          <a:xfrm>
            <a:off x="777240" y="868680"/>
            <a:ext cx="10637215" cy="731520"/>
          </a:xfrm>
          <a:prstGeom prst="rect">
            <a:avLst/>
          </a:prstGeom>
          <a:noFill/>
          <a:ln/>
        </p:spPr>
        <p:txBody>
          <a:bodyPr wrap="square" lIns="0" tIns="0" rIns="0" bIns="0" rtlCol="0" anchor="ctr"/>
          <a:lstStyle/>
          <a:p>
            <a:pPr indent="0" marL="0">
              <a:buNone/>
            </a:pPr>
            <a:r>
              <a:rPr lang="en-US" sz="3400" b="1" dirty="0">
                <a:solidFill>
                  <a:srgbClr val="ECEEF2"/>
                </a:solidFill>
                <a:latin typeface="Arial" pitchFamily="34" charset="0"/>
                <a:ea typeface="Arial" pitchFamily="34" charset="-122"/>
                <a:cs typeface="Arial" pitchFamily="34" charset="-120"/>
              </a:rPr>
              <a:t>Decide how many threads, then go</a:t>
            </a:r>
            <a:endParaRPr lang="en-US" sz="3400" dirty="0"/>
          </a:p>
        </p:txBody>
      </p:sp>
      <p:sp>
        <p:nvSpPr>
          <p:cNvPr id="11" name="Shape 9"/>
          <p:cNvSpPr/>
          <p:nvPr/>
        </p:nvSpPr>
        <p:spPr>
          <a:xfrm>
            <a:off x="777240" y="1783080"/>
            <a:ext cx="6858000" cy="1828800"/>
          </a:xfrm>
          <a:prstGeom prst="rect">
            <a:avLst/>
          </a:prstGeom>
          <a:solidFill>
            <a:srgbClr val="0A0C12"/>
          </a:solidFill>
          <a:ln w="12700">
            <a:solidFill>
              <a:srgbClr val="272C38"/>
            </a:solidFill>
            <a:prstDash val="solid"/>
          </a:ln>
        </p:spPr>
      </p:sp>
      <p:sp>
        <p:nvSpPr>
          <p:cNvPr id="12" name="Text 10"/>
          <p:cNvSpPr txBox="1"/>
          <p:nvPr/>
        </p:nvSpPr>
        <p:spPr>
          <a:xfrm>
            <a:off x="978408" y="1947672"/>
            <a:ext cx="6455664" cy="1499616"/>
          </a:xfrm>
          <a:prstGeom prst="rect">
            <a:avLst/>
          </a:prstGeom>
          <a:noFill/>
          <a:ln/>
        </p:spPr>
        <p:txBody>
          <a:bodyPr wrap="square" lIns="0" tIns="0" rIns="0" bIns="0" rtlCol="0" anchor="t"/>
          <a:lstStyle/>
          <a:p>
            <a:pPr indent="0" marL="0">
              <a:lnSpc>
                <a:spcPct val="112000"/>
              </a:lnSpc>
              <a:buNone/>
            </a:pPr>
            <a:r>
              <a:rPr lang="en-US" sz="1250" dirty="0">
                <a:solidFill>
                  <a:srgbClr val="46D07E"/>
                </a:solidFill>
                <a:latin typeface="Courier New" pitchFamily="34" charset="0"/>
                <a:ea typeface="Courier New" pitchFamily="34" charset="-122"/>
                <a:cs typeface="Courier New" pitchFamily="34" charset="-120"/>
              </a:rPr>
              <a:t>dim3</a:t>
            </a:r>
            <a:pPr indent="0" marL="0">
              <a:lnSpc>
                <a:spcPct val="112000"/>
              </a:lnSpc>
              <a:buNone/>
            </a:pPr>
            <a:r>
              <a:rPr lang="en-US" sz="1250" dirty="0">
                <a:solidFill>
                  <a:srgbClr val="ECEEF2"/>
                </a:solidFill>
                <a:latin typeface="Courier New" pitchFamily="34" charset="0"/>
                <a:ea typeface="Courier New" pitchFamily="34" charset="-122"/>
                <a:cs typeface="Courier New" pitchFamily="34" charset="-120"/>
              </a:rPr>
              <a:t> block(16, 16);</a:t>
            </a:r>
            <a:pPr indent="0" marL="0">
              <a:lnSpc>
                <a:spcPct val="112000"/>
              </a:lnSpc>
              <a:buNone/>
            </a:pPr>
            <a:r>
              <a:rPr lang="en-US" sz="12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46D07E"/>
                </a:solidFill>
                <a:latin typeface="Courier New" pitchFamily="34" charset="0"/>
                <a:ea typeface="Courier New" pitchFamily="34" charset="-122"/>
                <a:cs typeface="Courier New" pitchFamily="34" charset="-120"/>
              </a:rPr>
              <a:t>dim3</a:t>
            </a:r>
            <a:pPr indent="0" marL="0">
              <a:lnSpc>
                <a:spcPct val="112000"/>
              </a:lnSpc>
              <a:buNone/>
            </a:pPr>
            <a:r>
              <a:rPr lang="en-US" sz="1250" dirty="0">
                <a:solidFill>
                  <a:srgbClr val="ECEEF2"/>
                </a:solidFill>
                <a:latin typeface="Courier New" pitchFamily="34" charset="0"/>
                <a:ea typeface="Courier New" pitchFamily="34" charset="-122"/>
                <a:cs typeface="Courier New" pitchFamily="34" charset="-120"/>
              </a:rPr>
              <a:t> grid((img.w + 15) / 16, (img.h + 15) / 16);</a:t>
            </a:r>
            <a:pPr indent="0" marL="0">
              <a:lnSpc>
                <a:spcPct val="112000"/>
              </a:lnSpc>
              <a:buNone/>
            </a:pPr>
            <a:r>
              <a:rPr lang="en-US" sz="12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ECEEF2"/>
                </a:solidFill>
                <a:latin typeface="Courier New" pitchFamily="34" charset="0"/>
                <a:ea typeface="Courier New" pitchFamily="34" charset="-122"/>
                <a:cs typeface="Courier New" pitchFamily="34" charset="-120"/>
              </a:rPr>
              <a:t>imageKernel</a:t>
            </a:r>
            <a:pPr indent="0" marL="0">
              <a:lnSpc>
                <a:spcPct val="112000"/>
              </a:lnSpc>
              <a:buNone/>
            </a:pPr>
            <a:r>
              <a:rPr lang="en-US" sz="1250" dirty="0">
                <a:solidFill>
                  <a:srgbClr val="46D07E"/>
                </a:solidFill>
                <a:latin typeface="Courier New" pitchFamily="34" charset="0"/>
                <a:ea typeface="Courier New" pitchFamily="34" charset="-122"/>
                <a:cs typeface="Courier New" pitchFamily="34" charset="-120"/>
              </a:rPr>
              <a:t>&lt;&lt;&lt;</a:t>
            </a:r>
            <a:pPr indent="0" marL="0">
              <a:lnSpc>
                <a:spcPct val="112000"/>
              </a:lnSpc>
              <a:buNone/>
            </a:pPr>
            <a:r>
              <a:rPr lang="en-US" sz="1250" dirty="0">
                <a:solidFill>
                  <a:srgbClr val="ECEEF2"/>
                </a:solidFill>
                <a:latin typeface="Courier New" pitchFamily="34" charset="0"/>
                <a:ea typeface="Courier New" pitchFamily="34" charset="-122"/>
                <a:cs typeface="Courier New" pitchFamily="34" charset="-120"/>
              </a:rPr>
              <a:t>grid, block</a:t>
            </a:r>
            <a:pPr indent="0" marL="0">
              <a:lnSpc>
                <a:spcPct val="112000"/>
              </a:lnSpc>
              <a:buNone/>
            </a:pPr>
            <a:r>
              <a:rPr lang="en-US" sz="1250" dirty="0">
                <a:solidFill>
                  <a:srgbClr val="46D07E"/>
                </a:solidFill>
                <a:latin typeface="Courier New" pitchFamily="34" charset="0"/>
                <a:ea typeface="Courier New" pitchFamily="34" charset="-122"/>
                <a:cs typeface="Courier New" pitchFamily="34" charset="-120"/>
              </a:rPr>
              <a:t>&gt;&gt;&gt;</a:t>
            </a:r>
            <a:pPr indent="0" marL="0">
              <a:lnSpc>
                <a:spcPct val="112000"/>
              </a:lnSpc>
              <a:buNone/>
            </a:pPr>
            <a:r>
              <a:rPr lang="en-US" sz="1250" dirty="0">
                <a:solidFill>
                  <a:srgbClr val="ECEEF2"/>
                </a:solidFill>
                <a:latin typeface="Courier New" pitchFamily="34" charset="0"/>
                <a:ea typeface="Courier New" pitchFamily="34" charset="-122"/>
                <a:cs typeface="Courier New" pitchFamily="34" charset="-120"/>
              </a:rPr>
              <a:t>(out_d, in_d, img.w, img.h);</a:t>
            </a:r>
            <a:pPr indent="0" marL="0">
              <a:lnSpc>
                <a:spcPct val="112000"/>
              </a:lnSpc>
              <a:buNone/>
            </a:pPr>
            <a:r>
              <a:rPr lang="en-US" sz="12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46D07E"/>
                </a:solidFill>
                <a:latin typeface="Courier New" pitchFamily="34" charset="0"/>
                <a:ea typeface="Courier New" pitchFamily="34" charset="-122"/>
                <a:cs typeface="Courier New" pitchFamily="34" charset="-120"/>
              </a:rPr>
              <a:t>checkKernel</a:t>
            </a:r>
            <a:pPr indent="0" marL="0">
              <a:lnSpc>
                <a:spcPct val="112000"/>
              </a:lnSpc>
              <a:buNone/>
            </a:pPr>
            <a:r>
              <a:rPr lang="en-US" sz="1250" dirty="0">
                <a:solidFill>
                  <a:srgbClr val="ECEEF2"/>
                </a:solidFill>
                <a:latin typeface="Courier New" pitchFamily="34" charset="0"/>
                <a:ea typeface="Courier New" pitchFamily="34" charset="-122"/>
                <a:cs typeface="Courier New" pitchFamily="34" charset="-120"/>
              </a:rPr>
              <a:t>("imageKernel");     // given</a:t>
            </a:r>
            <a:endParaRPr lang="en-US" sz="1250" dirty="0"/>
          </a:p>
        </p:txBody>
      </p:sp>
      <p:sp>
        <p:nvSpPr>
          <p:cNvPr id="13" name="Shape 11"/>
          <p:cNvSpPr/>
          <p:nvPr/>
        </p:nvSpPr>
        <p:spPr>
          <a:xfrm>
            <a:off x="7909560" y="1783080"/>
            <a:ext cx="3504895" cy="2743200"/>
          </a:xfrm>
          <a:prstGeom prst="rect">
            <a:avLst/>
          </a:prstGeom>
          <a:solidFill>
            <a:srgbClr val="1B1A33"/>
          </a:solidFill>
          <a:ln w="15875">
            <a:solidFill>
              <a:srgbClr val="6C63D9"/>
            </a:solidFill>
            <a:prstDash val="solid"/>
          </a:ln>
        </p:spPr>
      </p:sp>
      <p:sp>
        <p:nvSpPr>
          <p:cNvPr id="14" name="Text 12"/>
          <p:cNvSpPr txBox="1"/>
          <p:nvPr/>
        </p:nvSpPr>
        <p:spPr>
          <a:xfrm>
            <a:off x="8165592" y="1984248"/>
            <a:ext cx="3047695" cy="274320"/>
          </a:xfrm>
          <a:prstGeom prst="rect">
            <a:avLst/>
          </a:prstGeom>
          <a:noFill/>
          <a:ln/>
        </p:spPr>
        <p:txBody>
          <a:bodyPr wrap="square" lIns="0" tIns="0" rIns="0" bIns="0" rtlCol="0" anchor="ctr"/>
          <a:lstStyle/>
          <a:p>
            <a:pPr indent="0" marL="0">
              <a:buNone/>
            </a:pPr>
            <a:r>
              <a:rPr lang="en-US" sz="1200" b="1" spc="200" kern="0" dirty="0">
                <a:solidFill>
                  <a:srgbClr val="8B80F9"/>
                </a:solidFill>
                <a:latin typeface="Arial" pitchFamily="34" charset="0"/>
                <a:ea typeface="Arial" pitchFamily="34" charset="-122"/>
                <a:cs typeface="Arial" pitchFamily="34" charset="-120"/>
              </a:rPr>
              <a:t>READ IT AS</a:t>
            </a:r>
            <a:endParaRPr lang="en-US" sz="1200" dirty="0"/>
          </a:p>
        </p:txBody>
      </p:sp>
      <p:sp>
        <p:nvSpPr>
          <p:cNvPr id="15" name="Text 13"/>
          <p:cNvSpPr txBox="1"/>
          <p:nvPr/>
        </p:nvSpPr>
        <p:spPr>
          <a:xfrm>
            <a:off x="8165592" y="2331720"/>
            <a:ext cx="3047695" cy="2011680"/>
          </a:xfrm>
          <a:prstGeom prst="rect">
            <a:avLst/>
          </a:prstGeom>
          <a:noFill/>
          <a:ln/>
        </p:spPr>
        <p:txBody>
          <a:bodyPr wrap="square" lIns="0" tIns="0" rIns="0" bIns="0" rtlCol="0" anchor="t"/>
          <a:lstStyle/>
          <a:p>
            <a:pPr indent="0" marL="0">
              <a:lnSpc>
                <a:spcPct val="115000"/>
              </a:lnSpc>
              <a:spcAft>
                <a:spcPts val="500"/>
              </a:spcAft>
              <a:buNone/>
            </a:pPr>
            <a:r>
              <a:rPr lang="en-US" sz="1300" dirty="0">
                <a:solidFill>
                  <a:srgbClr val="ECEEF2"/>
                </a:solidFill>
                <a:latin typeface="Arial" pitchFamily="34" charset="0"/>
                <a:ea typeface="Arial" pitchFamily="34" charset="-122"/>
                <a:cs typeface="Arial" pitchFamily="34" charset="-120"/>
              </a:rPr>
              <a:t>block = 16 × 16 = 256 threads, in a square tile.</a:t>
            </a:r>
            <a:endParaRPr lang="en-US" sz="1300" dirty="0"/>
          </a:p>
          <a:p>
            <a:pPr indent="0" marL="0">
              <a:lnSpc>
                <a:spcPct val="115000"/>
              </a:lnSpc>
              <a:spcAft>
                <a:spcPts val="500"/>
              </a:spcAft>
              <a:buNone/>
            </a:pPr>
            <a:r>
              <a:rPr lang="en-US" sz="1300" dirty="0">
                <a:solidFill>
                  <a:srgbClr val="ECEEF2"/>
                </a:solidFill>
                <a:latin typeface="Arial" pitchFamily="34" charset="0"/>
                <a:ea typeface="Arial" pitchFamily="34" charset="-122"/>
                <a:cs typeface="Arial" pitchFamily="34" charset="-120"/>
              </a:rPr>
              <a:t>grid = how many tiles: (1920+15)/16 = 120 across, (1280+15)/16 = 80 down.</a:t>
            </a:r>
            <a:endParaRPr lang="en-US" sz="1300" dirty="0"/>
          </a:p>
          <a:p>
            <a:pPr indent="0" marL="0">
              <a:lnSpc>
                <a:spcPct val="115000"/>
              </a:lnSpc>
              <a:spcAft>
                <a:spcPts val="500"/>
              </a:spcAft>
              <a:buNone/>
            </a:pPr>
            <a:r>
              <a:rPr lang="en-US" sz="1300" dirty="0">
                <a:solidFill>
                  <a:srgbClr val="ECEEF2"/>
                </a:solidFill>
                <a:latin typeface="Arial" pitchFamily="34" charset="0"/>
                <a:ea typeface="Arial" pitchFamily="34" charset="-122"/>
                <a:cs typeface="Arial" pitchFamily="34" charset="-120"/>
              </a:rPr>
              <a:t>120 × 80 × 256 = 2,457,600 threads. One per pixel.</a:t>
            </a:r>
            <a:endParaRPr lang="en-US" sz="1300" dirty="0"/>
          </a:p>
          <a:p>
            <a:pPr indent="0" marL="0">
              <a:lnSpc>
                <a:spcPct val="115000"/>
              </a:lnSpc>
              <a:spcAft>
                <a:spcPts val="500"/>
              </a:spcAft>
              <a:buNone/>
            </a:pPr>
            <a:r>
              <a:rPr lang="en-US" sz="1300" dirty="0">
                <a:solidFill>
                  <a:srgbClr val="ECEEF2"/>
                </a:solidFill>
                <a:latin typeface="Arial" pitchFamily="34" charset="0"/>
                <a:ea typeface="Arial" pitchFamily="34" charset="-122"/>
                <a:cs typeface="Arial" pitchFamily="34" charset="-120"/>
              </a:rPr>
              <a:t>&lt;&lt;&lt;how many tiles, how big&gt;&gt;&gt;, then the ordinary arguments.</a:t>
            </a:r>
            <a:endParaRPr lang="en-US" sz="1300" dirty="0"/>
          </a:p>
        </p:txBody>
      </p:sp>
      <p:sp>
        <p:nvSpPr>
          <p:cNvPr id="16" name="Shape 14"/>
          <p:cNvSpPr/>
          <p:nvPr/>
        </p:nvSpPr>
        <p:spPr>
          <a:xfrm>
            <a:off x="777240" y="4800600"/>
            <a:ext cx="10637215" cy="777240"/>
          </a:xfrm>
          <a:prstGeom prst="rect">
            <a:avLst/>
          </a:prstGeom>
          <a:solidFill>
            <a:srgbClr val="2A2210"/>
          </a:solidFill>
          <a:ln w="15875">
            <a:solidFill>
              <a:srgbClr val="F5B301"/>
            </a:solidFill>
            <a:prstDash val="solid"/>
          </a:ln>
        </p:spPr>
      </p:sp>
      <p:sp>
        <p:nvSpPr>
          <p:cNvPr id="17" name="Text 15"/>
          <p:cNvSpPr txBox="1"/>
          <p:nvPr/>
        </p:nvSpPr>
        <p:spPr>
          <a:xfrm>
            <a:off x="1005840" y="4800600"/>
            <a:ext cx="365760" cy="777240"/>
          </a:xfrm>
          <a:prstGeom prst="rect">
            <a:avLst/>
          </a:prstGeom>
          <a:noFill/>
          <a:ln/>
        </p:spPr>
        <p:txBody>
          <a:bodyPr wrap="square" lIns="0" tIns="0" rIns="0" bIns="0" rtlCol="0" anchor="ctr"/>
          <a:lstStyle/>
          <a:p>
            <a:pPr indent="0" marL="0">
              <a:buNone/>
            </a:pPr>
            <a:r>
              <a:rPr lang="en-US" sz="2200" b="1" dirty="0">
                <a:solidFill>
                  <a:srgbClr val="F5B301"/>
                </a:solidFill>
                <a:latin typeface="Arial" pitchFamily="34" charset="0"/>
                <a:ea typeface="Arial" pitchFamily="34" charset="-122"/>
                <a:cs typeface="Arial" pitchFamily="34" charset="-120"/>
              </a:rPr>
              <a:t>!</a:t>
            </a:r>
            <a:endParaRPr lang="en-US" sz="2200" dirty="0"/>
          </a:p>
        </p:txBody>
      </p:sp>
      <p:sp>
        <p:nvSpPr>
          <p:cNvPr id="18" name="Text 16"/>
          <p:cNvSpPr txBox="1"/>
          <p:nvPr/>
        </p:nvSpPr>
        <p:spPr>
          <a:xfrm>
            <a:off x="1463040" y="4800600"/>
            <a:ext cx="9722815" cy="777240"/>
          </a:xfrm>
          <a:prstGeom prst="rect">
            <a:avLst/>
          </a:prstGeom>
          <a:noFill/>
          <a:ln/>
        </p:spPr>
        <p:txBody>
          <a:bodyPr wrap="square" lIns="0" tIns="0" rIns="0" bIns="0" rtlCol="0" anchor="ctr"/>
          <a:lstStyle/>
          <a:p>
            <a:pPr indent="0" marL="0">
              <a:lnSpc>
                <a:spcPct val="115000"/>
              </a:lnSpc>
              <a:buNone/>
            </a:pPr>
            <a:r>
              <a:rPr lang="en-US" sz="1350" dirty="0">
                <a:solidFill>
                  <a:srgbClr val="ECEEF2"/>
                </a:solidFill>
                <a:latin typeface="Arial" pitchFamily="34" charset="0"/>
                <a:ea typeface="Arial" pitchFamily="34" charset="-122"/>
                <a:cs typeface="Arial" pitchFamily="34" charset="-120"/>
              </a:rPr>
              <a:t>+15 then /16 rounds UP. Integer division rounds down: a 1930-wide photo would give 120 tiles and silently lose its last 10 columns. Rounding up is why the kernel needs its if.</a:t>
            </a:r>
            <a:endParaRPr lang="en-US" sz="1350" dirty="0"/>
          </a:p>
        </p:txBody>
      </p:sp>
      <p:sp>
        <p:nvSpPr>
          <p:cNvPr id="19" name="Text 17"/>
          <p:cNvSpPr txBox="1"/>
          <p:nvPr/>
        </p:nvSpPr>
        <p:spPr>
          <a:xfrm>
            <a:off x="5928055" y="6556248"/>
            <a:ext cx="5486400" cy="228600"/>
          </a:xfrm>
          <a:prstGeom prst="rect">
            <a:avLst/>
          </a:prstGeom>
          <a:noFill/>
          <a:ln/>
        </p:spPr>
        <p:txBody>
          <a:bodyPr wrap="square" lIns="0" tIns="0" rIns="0" bIns="0" rtlCol="0" anchor="ctr"/>
          <a:lstStyle/>
          <a:p>
            <a:pPr algn="r" indent="0" marL="0">
              <a:buNone/>
            </a:pPr>
            <a:r>
              <a:rPr lang="en-US" sz="800" dirty="0">
                <a:solidFill>
                  <a:srgbClr val="6B7480"/>
                </a:solidFill>
                <a:latin typeface="Courier New" pitchFamily="34" charset="0"/>
                <a:ea typeface="Courier New" pitchFamily="34" charset="-122"/>
                <a:cs typeface="Courier New" pitchFamily="34" charset="-120"/>
              </a:rPr>
              <a:t>insert: after STEP 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9"/>
        </a:solidFill>
      </p:bgPr>
    </p:bg>
    <p:spTree>
      <p:nvGrpSpPr>
        <p:cNvPr id="1" name=""/>
        <p:cNvGrpSpPr/>
        <p:nvPr/>
      </p:nvGrpSpPr>
      <p:grpSpPr>
        <a:xfrm>
          <a:off x="0" y="0"/>
          <a:ext cx="0" cy="0"/>
          <a:chOff x="0" y="0"/>
          <a:chExt cx="0" cy="0"/>
        </a:xfrm>
      </p:grpSpPr>
      <p:sp>
        <p:nvSpPr>
          <p:cNvPr id="2" name="Shape 0"/>
          <p:cNvSpPr/>
          <p:nvPr/>
        </p:nvSpPr>
        <p:spPr>
          <a:xfrm>
            <a:off x="777240" y="411480"/>
            <a:ext cx="91440" cy="91440"/>
          </a:xfrm>
          <a:prstGeom prst="rect">
            <a:avLst/>
          </a:prstGeom>
          <a:solidFill>
            <a:srgbClr val="8B80F9"/>
          </a:solidFill>
          <a:ln w="12700">
            <a:solidFill>
              <a:srgbClr val="8B80F9"/>
            </a:solidFill>
            <a:prstDash val="solid"/>
          </a:ln>
        </p:spPr>
      </p:sp>
      <p:sp>
        <p:nvSpPr>
          <p:cNvPr id="3" name="Shape 1"/>
          <p:cNvSpPr/>
          <p:nvPr/>
        </p:nvSpPr>
        <p:spPr>
          <a:xfrm>
            <a:off x="896112" y="411480"/>
            <a:ext cx="91440" cy="91440"/>
          </a:xfrm>
          <a:prstGeom prst="rect">
            <a:avLst/>
          </a:prstGeom>
          <a:solidFill>
            <a:srgbClr val="8B80F9"/>
          </a:solidFill>
          <a:ln w="12700">
            <a:solidFill>
              <a:srgbClr val="8B80F9"/>
            </a:solidFill>
            <a:prstDash val="solid"/>
          </a:ln>
        </p:spPr>
      </p:sp>
      <p:sp>
        <p:nvSpPr>
          <p:cNvPr id="4" name="Shape 2"/>
          <p:cNvSpPr/>
          <p:nvPr/>
        </p:nvSpPr>
        <p:spPr>
          <a:xfrm>
            <a:off x="1014984" y="411480"/>
            <a:ext cx="91440" cy="91440"/>
          </a:xfrm>
          <a:prstGeom prst="rect">
            <a:avLst/>
          </a:prstGeom>
          <a:solidFill>
            <a:srgbClr val="8B80F9"/>
          </a:solidFill>
          <a:ln w="12700">
            <a:solidFill>
              <a:srgbClr val="8B80F9"/>
            </a:solidFill>
            <a:prstDash val="solid"/>
          </a:ln>
        </p:spPr>
      </p:sp>
      <p:sp>
        <p:nvSpPr>
          <p:cNvPr id="5" name="Shape 3"/>
          <p:cNvSpPr/>
          <p:nvPr/>
        </p:nvSpPr>
        <p:spPr>
          <a:xfrm>
            <a:off x="777240" y="530352"/>
            <a:ext cx="91440" cy="91440"/>
          </a:xfrm>
          <a:prstGeom prst="rect">
            <a:avLst/>
          </a:prstGeom>
          <a:solidFill>
            <a:srgbClr val="8B80F9"/>
          </a:solidFill>
          <a:ln w="12700">
            <a:solidFill>
              <a:srgbClr val="8B80F9"/>
            </a:solidFill>
            <a:prstDash val="solid"/>
          </a:ln>
        </p:spPr>
      </p:sp>
      <p:sp>
        <p:nvSpPr>
          <p:cNvPr id="6" name="Shape 4"/>
          <p:cNvSpPr/>
          <p:nvPr/>
        </p:nvSpPr>
        <p:spPr>
          <a:xfrm>
            <a:off x="896112" y="530352"/>
            <a:ext cx="91440" cy="91440"/>
          </a:xfrm>
          <a:prstGeom prst="rect">
            <a:avLst/>
          </a:prstGeom>
          <a:solidFill>
            <a:srgbClr val="8B80F9"/>
          </a:solidFill>
          <a:ln w="12700">
            <a:solidFill>
              <a:srgbClr val="8B80F9"/>
            </a:solidFill>
            <a:prstDash val="solid"/>
          </a:ln>
        </p:spPr>
      </p:sp>
      <p:sp>
        <p:nvSpPr>
          <p:cNvPr id="7" name="Shape 5"/>
          <p:cNvSpPr/>
          <p:nvPr/>
        </p:nvSpPr>
        <p:spPr>
          <a:xfrm>
            <a:off x="777240" y="649224"/>
            <a:ext cx="91440" cy="91440"/>
          </a:xfrm>
          <a:prstGeom prst="rect">
            <a:avLst/>
          </a:prstGeom>
          <a:solidFill>
            <a:srgbClr val="8B80F9"/>
          </a:solidFill>
          <a:ln w="12700">
            <a:solidFill>
              <a:srgbClr val="8B80F9"/>
            </a:solidFill>
            <a:prstDash val="solid"/>
          </a:ln>
        </p:spPr>
      </p:sp>
      <p:sp>
        <p:nvSpPr>
          <p:cNvPr id="8" name="Shape 6"/>
          <p:cNvSpPr/>
          <p:nvPr/>
        </p:nvSpPr>
        <p:spPr>
          <a:xfrm>
            <a:off x="1014984" y="649224"/>
            <a:ext cx="91440" cy="91440"/>
          </a:xfrm>
          <a:prstGeom prst="rect">
            <a:avLst/>
          </a:prstGeom>
          <a:solidFill>
            <a:srgbClr val="8B80F9"/>
          </a:solidFill>
          <a:ln w="12700">
            <a:solidFill>
              <a:srgbClr val="8B80F9"/>
            </a:solidFill>
            <a:prstDash val="solid"/>
          </a:ln>
        </p:spPr>
      </p:sp>
      <p:sp>
        <p:nvSpPr>
          <p:cNvPr id="9" name="Text 7"/>
          <p:cNvSpPr txBox="1"/>
          <p:nvPr/>
        </p:nvSpPr>
        <p:spPr>
          <a:xfrm>
            <a:off x="1417320" y="384048"/>
            <a:ext cx="8229600" cy="365760"/>
          </a:xfrm>
          <a:prstGeom prst="rect">
            <a:avLst/>
          </a:prstGeom>
          <a:noFill/>
          <a:ln/>
        </p:spPr>
        <p:txBody>
          <a:bodyPr wrap="square" lIns="0" tIns="0" rIns="0" bIns="0" rtlCol="0" anchor="ctr"/>
          <a:lstStyle/>
          <a:p>
            <a:pPr indent="0" marL="0">
              <a:buNone/>
            </a:pPr>
            <a:r>
              <a:rPr lang="en-US" sz="1300" b="1" spc="300" kern="0" dirty="0">
                <a:solidFill>
                  <a:srgbClr val="46D07E"/>
                </a:solidFill>
                <a:latin typeface="Courier New" pitchFamily="34" charset="0"/>
                <a:ea typeface="Courier New" pitchFamily="34" charset="-122"/>
                <a:cs typeface="Courier New" pitchFamily="34" charset="-120"/>
              </a:rPr>
              <a:t>STEP 3 · THE KERNEL</a:t>
            </a:r>
            <a:endParaRPr lang="en-US" sz="1300" dirty="0"/>
          </a:p>
        </p:txBody>
      </p:sp>
      <p:sp>
        <p:nvSpPr>
          <p:cNvPr id="10" name="Text 8"/>
          <p:cNvSpPr txBox="1"/>
          <p:nvPr/>
        </p:nvSpPr>
        <p:spPr>
          <a:xfrm>
            <a:off x="777240" y="868680"/>
            <a:ext cx="10637215" cy="731520"/>
          </a:xfrm>
          <a:prstGeom prst="rect">
            <a:avLst/>
          </a:prstGeom>
          <a:noFill/>
          <a:ln/>
        </p:spPr>
        <p:txBody>
          <a:bodyPr wrap="square" lIns="0" tIns="0" rIns="0" bIns="0" rtlCol="0" anchor="ctr"/>
          <a:lstStyle/>
          <a:p>
            <a:pPr indent="0" marL="0">
              <a:buNone/>
            </a:pPr>
            <a:r>
              <a:rPr lang="en-US" sz="3400" b="1" dirty="0">
                <a:solidFill>
                  <a:srgbClr val="ECEEF2"/>
                </a:solidFill>
                <a:latin typeface="Arial" pitchFamily="34" charset="0"/>
                <a:ea typeface="Arial" pitchFamily="34" charset="-122"/>
                <a:cs typeface="Arial" pitchFamily="34" charset="-120"/>
              </a:rPr>
              <a:t>What one thread does with its one pixel</a:t>
            </a:r>
            <a:endParaRPr lang="en-US" sz="3400" dirty="0"/>
          </a:p>
        </p:txBody>
      </p:sp>
      <p:sp>
        <p:nvSpPr>
          <p:cNvPr id="11" name="Shape 9"/>
          <p:cNvSpPr/>
          <p:nvPr/>
        </p:nvSpPr>
        <p:spPr>
          <a:xfrm>
            <a:off x="777240" y="1783080"/>
            <a:ext cx="6949440" cy="3200400"/>
          </a:xfrm>
          <a:prstGeom prst="rect">
            <a:avLst/>
          </a:prstGeom>
          <a:solidFill>
            <a:srgbClr val="0A0C12"/>
          </a:solidFill>
          <a:ln w="12700">
            <a:solidFill>
              <a:srgbClr val="272C38"/>
            </a:solidFill>
            <a:prstDash val="solid"/>
          </a:ln>
        </p:spPr>
      </p:sp>
      <p:sp>
        <p:nvSpPr>
          <p:cNvPr id="12" name="Text 10"/>
          <p:cNvSpPr txBox="1"/>
          <p:nvPr/>
        </p:nvSpPr>
        <p:spPr>
          <a:xfrm>
            <a:off x="978408" y="1947672"/>
            <a:ext cx="6547104" cy="2871216"/>
          </a:xfrm>
          <a:prstGeom prst="rect">
            <a:avLst/>
          </a:prstGeom>
          <a:noFill/>
          <a:ln/>
        </p:spPr>
        <p:txBody>
          <a:bodyPr wrap="square" lIns="0" tIns="0" rIns="0" bIns="0" rtlCol="0" anchor="t"/>
          <a:lstStyle/>
          <a:p>
            <a:pPr indent="0" marL="0">
              <a:lnSpc>
                <a:spcPct val="112000"/>
              </a:lnSpc>
              <a:buNone/>
            </a:pPr>
            <a:r>
              <a:rPr lang="en-US" sz="1150" dirty="0">
                <a:solidFill>
                  <a:srgbClr val="6B7480"/>
                </a:solidFill>
                <a:latin typeface="Courier New" pitchFamily="34" charset="0"/>
                <a:ea typeface="Courier New" pitchFamily="34" charset="-122"/>
                <a:cs typeface="Courier New" pitchFamily="34" charset="-120"/>
              </a:rPr>
              <a:t>// the body of imageKernel - its signature line is already in the cell</a:t>
            </a:r>
            <a:pPr indent="0" marL="0">
              <a:lnSpc>
                <a:spcPct val="112000"/>
              </a:lnSpc>
              <a:buNone/>
            </a:pPr>
            <a:r>
              <a:rPr lang="en-US" sz="11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ECEEF2"/>
                </a:solidFill>
                <a:latin typeface="Courier New" pitchFamily="34" charset="0"/>
                <a:ea typeface="Courier New" pitchFamily="34" charset="-122"/>
                <a:cs typeface="Courier New" pitchFamily="34" charset="-120"/>
              </a:rPr>
              <a:t>int col = </a:t>
            </a:r>
            <a:pPr indent="0" marL="0">
              <a:lnSpc>
                <a:spcPct val="112000"/>
              </a:lnSpc>
              <a:buNone/>
            </a:pPr>
            <a:r>
              <a:rPr lang="en-US" sz="1150" dirty="0">
                <a:solidFill>
                  <a:srgbClr val="46D07E"/>
                </a:solidFill>
                <a:latin typeface="Courier New" pitchFamily="34" charset="0"/>
                <a:ea typeface="Courier New" pitchFamily="34" charset="-122"/>
                <a:cs typeface="Courier New" pitchFamily="34" charset="-120"/>
              </a:rPr>
              <a:t>blockIdx.x</a:t>
            </a:r>
            <a:pPr indent="0" marL="0">
              <a:lnSpc>
                <a:spcPct val="112000"/>
              </a:lnSpc>
              <a:buNone/>
            </a:pPr>
            <a:r>
              <a:rPr lang="en-US" sz="1150" dirty="0">
                <a:solidFill>
                  <a:srgbClr val="ECEEF2"/>
                </a:solidFill>
                <a:latin typeface="Courier New" pitchFamily="34" charset="0"/>
                <a:ea typeface="Courier New" pitchFamily="34" charset="-122"/>
                <a:cs typeface="Courier New" pitchFamily="34" charset="-120"/>
              </a:rPr>
              <a:t> * </a:t>
            </a:r>
            <a:pPr indent="0" marL="0">
              <a:lnSpc>
                <a:spcPct val="112000"/>
              </a:lnSpc>
              <a:buNone/>
            </a:pPr>
            <a:r>
              <a:rPr lang="en-US" sz="1150" dirty="0">
                <a:solidFill>
                  <a:srgbClr val="46D07E"/>
                </a:solidFill>
                <a:latin typeface="Courier New" pitchFamily="34" charset="0"/>
                <a:ea typeface="Courier New" pitchFamily="34" charset="-122"/>
                <a:cs typeface="Courier New" pitchFamily="34" charset="-120"/>
              </a:rPr>
              <a:t>blockDim.x</a:t>
            </a:r>
            <a:pPr indent="0" marL="0">
              <a:lnSpc>
                <a:spcPct val="112000"/>
              </a:lnSpc>
              <a:buNone/>
            </a:pPr>
            <a:r>
              <a:rPr lang="en-US" sz="1150" dirty="0">
                <a:solidFill>
                  <a:srgbClr val="ECEEF2"/>
                </a:solidFill>
                <a:latin typeface="Courier New" pitchFamily="34" charset="0"/>
                <a:ea typeface="Courier New" pitchFamily="34" charset="-122"/>
                <a:cs typeface="Courier New" pitchFamily="34" charset="-120"/>
              </a:rPr>
              <a:t> + </a:t>
            </a:r>
            <a:pPr indent="0" marL="0">
              <a:lnSpc>
                <a:spcPct val="112000"/>
              </a:lnSpc>
              <a:buNone/>
            </a:pPr>
            <a:r>
              <a:rPr lang="en-US" sz="1150" dirty="0">
                <a:solidFill>
                  <a:srgbClr val="46D07E"/>
                </a:solidFill>
                <a:latin typeface="Courier New" pitchFamily="34" charset="0"/>
                <a:ea typeface="Courier New" pitchFamily="34" charset="-122"/>
                <a:cs typeface="Courier New" pitchFamily="34" charset="-120"/>
              </a:rPr>
              <a:t>threadIdx.x</a:t>
            </a:r>
            <a:pPr indent="0" marL="0">
              <a:lnSpc>
                <a:spcPct val="112000"/>
              </a:lnSpc>
              <a:buNone/>
            </a:pPr>
            <a:r>
              <a:rPr lang="en-US" sz="1150" dirty="0">
                <a:solidFill>
                  <a:srgbClr val="ECEEF2"/>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ECEEF2"/>
                </a:solidFill>
                <a:latin typeface="Courier New" pitchFamily="34" charset="0"/>
                <a:ea typeface="Courier New" pitchFamily="34" charset="-122"/>
                <a:cs typeface="Courier New" pitchFamily="34" charset="-120"/>
              </a:rPr>
              <a:t>int row = </a:t>
            </a:r>
            <a:pPr indent="0" marL="0">
              <a:lnSpc>
                <a:spcPct val="112000"/>
              </a:lnSpc>
              <a:buNone/>
            </a:pPr>
            <a:r>
              <a:rPr lang="en-US" sz="1150" dirty="0">
                <a:solidFill>
                  <a:srgbClr val="46D07E"/>
                </a:solidFill>
                <a:latin typeface="Courier New" pitchFamily="34" charset="0"/>
                <a:ea typeface="Courier New" pitchFamily="34" charset="-122"/>
                <a:cs typeface="Courier New" pitchFamily="34" charset="-120"/>
              </a:rPr>
              <a:t>blockIdx.y</a:t>
            </a:r>
            <a:pPr indent="0" marL="0">
              <a:lnSpc>
                <a:spcPct val="112000"/>
              </a:lnSpc>
              <a:buNone/>
            </a:pPr>
            <a:r>
              <a:rPr lang="en-US" sz="1150" dirty="0">
                <a:solidFill>
                  <a:srgbClr val="ECEEF2"/>
                </a:solidFill>
                <a:latin typeface="Courier New" pitchFamily="34" charset="0"/>
                <a:ea typeface="Courier New" pitchFamily="34" charset="-122"/>
                <a:cs typeface="Courier New" pitchFamily="34" charset="-120"/>
              </a:rPr>
              <a:t> * </a:t>
            </a:r>
            <a:pPr indent="0" marL="0">
              <a:lnSpc>
                <a:spcPct val="112000"/>
              </a:lnSpc>
              <a:buNone/>
            </a:pPr>
            <a:r>
              <a:rPr lang="en-US" sz="1150" dirty="0">
                <a:solidFill>
                  <a:srgbClr val="46D07E"/>
                </a:solidFill>
                <a:latin typeface="Courier New" pitchFamily="34" charset="0"/>
                <a:ea typeface="Courier New" pitchFamily="34" charset="-122"/>
                <a:cs typeface="Courier New" pitchFamily="34" charset="-120"/>
              </a:rPr>
              <a:t>blockDim.y</a:t>
            </a:r>
            <a:pPr indent="0" marL="0">
              <a:lnSpc>
                <a:spcPct val="112000"/>
              </a:lnSpc>
              <a:buNone/>
            </a:pPr>
            <a:r>
              <a:rPr lang="en-US" sz="1150" dirty="0">
                <a:solidFill>
                  <a:srgbClr val="ECEEF2"/>
                </a:solidFill>
                <a:latin typeface="Courier New" pitchFamily="34" charset="0"/>
                <a:ea typeface="Courier New" pitchFamily="34" charset="-122"/>
                <a:cs typeface="Courier New" pitchFamily="34" charset="-120"/>
              </a:rPr>
              <a:t> + </a:t>
            </a:r>
            <a:pPr indent="0" marL="0">
              <a:lnSpc>
                <a:spcPct val="112000"/>
              </a:lnSpc>
              <a:buNone/>
            </a:pPr>
            <a:r>
              <a:rPr lang="en-US" sz="1150" dirty="0">
                <a:solidFill>
                  <a:srgbClr val="46D07E"/>
                </a:solidFill>
                <a:latin typeface="Courier New" pitchFamily="34" charset="0"/>
                <a:ea typeface="Courier New" pitchFamily="34" charset="-122"/>
                <a:cs typeface="Courier New" pitchFamily="34" charset="-120"/>
              </a:rPr>
              <a:t>threadIdx.y</a:t>
            </a:r>
            <a:pPr indent="0" marL="0">
              <a:lnSpc>
                <a:spcPct val="112000"/>
              </a:lnSpc>
              <a:buNone/>
            </a:pPr>
            <a:r>
              <a:rPr lang="en-US" sz="1150" dirty="0">
                <a:solidFill>
                  <a:srgbClr val="ECEEF2"/>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ECEEF2"/>
                </a:solidFill>
                <a:latin typeface="Courier New" pitchFamily="34" charset="0"/>
                <a:ea typeface="Courier New" pitchFamily="34" charset="-122"/>
                <a:cs typeface="Courier New" pitchFamily="34" charset="-120"/>
              </a:rPr>
              <a:t>if (col &lt; w &amp;&amp; row &lt; h) {</a:t>
            </a:r>
            <a:pPr indent="0" marL="0">
              <a:lnSpc>
                <a:spcPct val="112000"/>
              </a:lnSpc>
              <a:buNone/>
            </a:pPr>
            <a:r>
              <a:rPr lang="en-US" sz="11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ECEEF2"/>
                </a:solidFill>
                <a:latin typeface="Courier New" pitchFamily="34" charset="0"/>
                <a:ea typeface="Courier New" pitchFamily="34" charset="-122"/>
                <a:cs typeface="Courier New" pitchFamily="34" charset="-120"/>
              </a:rPr>
              <a:t>    int i = (row * w + col) * 3;</a:t>
            </a:r>
            <a:pPr indent="0" marL="0">
              <a:lnSpc>
                <a:spcPct val="112000"/>
              </a:lnSpc>
              <a:buNone/>
            </a:pPr>
            <a:r>
              <a:rPr lang="en-US" sz="11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ECEEF2"/>
                </a:solidFill>
                <a:latin typeface="Courier New" pitchFamily="34" charset="0"/>
                <a:ea typeface="Courier New" pitchFamily="34" charset="-122"/>
                <a:cs typeface="Courier New" pitchFamily="34" charset="-120"/>
              </a:rPr>
              <a:t>    unsigned char grey = (unsigned char)(0.21f * in[i + 0] +</a:t>
            </a:r>
            <a:pPr indent="0" marL="0">
              <a:lnSpc>
                <a:spcPct val="112000"/>
              </a:lnSpc>
              <a:buNone/>
            </a:pPr>
            <a:r>
              <a:rPr lang="en-US" sz="11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ECEEF2"/>
                </a:solidFill>
                <a:latin typeface="Courier New" pitchFamily="34" charset="0"/>
                <a:ea typeface="Courier New" pitchFamily="34" charset="-122"/>
                <a:cs typeface="Courier New" pitchFamily="34" charset="-120"/>
              </a:rPr>
              <a:t>                                         0.72f * in[i + 1] +</a:t>
            </a:r>
            <a:pPr indent="0" marL="0">
              <a:lnSpc>
                <a:spcPct val="112000"/>
              </a:lnSpc>
              <a:buNone/>
            </a:pPr>
            <a:r>
              <a:rPr lang="en-US" sz="11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ECEEF2"/>
                </a:solidFill>
                <a:latin typeface="Courier New" pitchFamily="34" charset="0"/>
                <a:ea typeface="Courier New" pitchFamily="34" charset="-122"/>
                <a:cs typeface="Courier New" pitchFamily="34" charset="-120"/>
              </a:rPr>
              <a:t>                                         0.07f * in[i + 2]);</a:t>
            </a:r>
            <a:pPr indent="0" marL="0">
              <a:lnSpc>
                <a:spcPct val="112000"/>
              </a:lnSpc>
              <a:buNone/>
            </a:pPr>
            <a:r>
              <a:rPr lang="en-US" sz="11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ECEEF2"/>
                </a:solidFill>
                <a:latin typeface="Courier New" pitchFamily="34" charset="0"/>
                <a:ea typeface="Courier New" pitchFamily="34" charset="-122"/>
                <a:cs typeface="Courier New" pitchFamily="34" charset="-120"/>
              </a:rPr>
              <a:t>    out[i + 0] = grey;</a:t>
            </a:r>
            <a:pPr indent="0" marL="0">
              <a:lnSpc>
                <a:spcPct val="112000"/>
              </a:lnSpc>
              <a:buNone/>
            </a:pPr>
            <a:r>
              <a:rPr lang="en-US" sz="11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ECEEF2"/>
                </a:solidFill>
                <a:latin typeface="Courier New" pitchFamily="34" charset="0"/>
                <a:ea typeface="Courier New" pitchFamily="34" charset="-122"/>
                <a:cs typeface="Courier New" pitchFamily="34" charset="-120"/>
              </a:rPr>
              <a:t>    out[i + 1] = grey;</a:t>
            </a:r>
            <a:pPr indent="0" marL="0">
              <a:lnSpc>
                <a:spcPct val="112000"/>
              </a:lnSpc>
              <a:buNone/>
            </a:pPr>
            <a:r>
              <a:rPr lang="en-US" sz="11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ECEEF2"/>
                </a:solidFill>
                <a:latin typeface="Courier New" pitchFamily="34" charset="0"/>
                <a:ea typeface="Courier New" pitchFamily="34" charset="-122"/>
                <a:cs typeface="Courier New" pitchFamily="34" charset="-120"/>
              </a:rPr>
              <a:t>    out[i + 2] = grey;</a:t>
            </a:r>
            <a:pPr indent="0" marL="0">
              <a:lnSpc>
                <a:spcPct val="112000"/>
              </a:lnSpc>
              <a:buNone/>
            </a:pPr>
            <a:r>
              <a:rPr lang="en-US" sz="11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ECEEF2"/>
                </a:solidFill>
                <a:latin typeface="Courier New" pitchFamily="34" charset="0"/>
                <a:ea typeface="Courier New" pitchFamily="34" charset="-122"/>
                <a:cs typeface="Courier New" pitchFamily="34" charset="-120"/>
              </a:rPr>
              <a:t>}</a:t>
            </a:r>
            <a:endParaRPr lang="en-US" sz="1150" dirty="0"/>
          </a:p>
        </p:txBody>
      </p:sp>
      <p:sp>
        <p:nvSpPr>
          <p:cNvPr id="13" name="Shape 11"/>
          <p:cNvSpPr/>
          <p:nvPr/>
        </p:nvSpPr>
        <p:spPr>
          <a:xfrm>
            <a:off x="8001000" y="1783080"/>
            <a:ext cx="3413455" cy="3200400"/>
          </a:xfrm>
          <a:prstGeom prst="rect">
            <a:avLst/>
          </a:prstGeom>
          <a:solidFill>
            <a:srgbClr val="1B1A33"/>
          </a:solidFill>
          <a:ln w="15875">
            <a:solidFill>
              <a:srgbClr val="6C63D9"/>
            </a:solidFill>
            <a:prstDash val="solid"/>
          </a:ln>
        </p:spPr>
      </p:sp>
      <p:sp>
        <p:nvSpPr>
          <p:cNvPr id="14" name="Text 12"/>
          <p:cNvSpPr txBox="1"/>
          <p:nvPr/>
        </p:nvSpPr>
        <p:spPr>
          <a:xfrm>
            <a:off x="8257032" y="1984248"/>
            <a:ext cx="2956255" cy="274320"/>
          </a:xfrm>
          <a:prstGeom prst="rect">
            <a:avLst/>
          </a:prstGeom>
          <a:noFill/>
          <a:ln/>
        </p:spPr>
        <p:txBody>
          <a:bodyPr wrap="square" lIns="0" tIns="0" rIns="0" bIns="0" rtlCol="0" anchor="ctr"/>
          <a:lstStyle/>
          <a:p>
            <a:pPr indent="0" marL="0">
              <a:buNone/>
            </a:pPr>
            <a:r>
              <a:rPr lang="en-US" sz="1200" b="1" spc="200" kern="0" dirty="0">
                <a:solidFill>
                  <a:srgbClr val="8B80F9"/>
                </a:solidFill>
                <a:latin typeface="Arial" pitchFamily="34" charset="0"/>
                <a:ea typeface="Arial" pitchFamily="34" charset="-122"/>
                <a:cs typeface="Arial" pitchFamily="34" charset="-120"/>
              </a:rPr>
              <a:t>READ IT AS</a:t>
            </a:r>
            <a:endParaRPr lang="en-US" sz="1200" dirty="0"/>
          </a:p>
        </p:txBody>
      </p:sp>
      <p:sp>
        <p:nvSpPr>
          <p:cNvPr id="15" name="Text 13"/>
          <p:cNvSpPr txBox="1"/>
          <p:nvPr/>
        </p:nvSpPr>
        <p:spPr>
          <a:xfrm>
            <a:off x="8257032" y="2331720"/>
            <a:ext cx="2956255" cy="2468880"/>
          </a:xfrm>
          <a:prstGeom prst="rect">
            <a:avLst/>
          </a:prstGeom>
          <a:noFill/>
          <a:ln/>
        </p:spPr>
        <p:txBody>
          <a:bodyPr wrap="square" lIns="0" tIns="0" rIns="0" bIns="0" rtlCol="0" anchor="t"/>
          <a:lstStyle/>
          <a:p>
            <a:pPr indent="0" marL="0">
              <a:lnSpc>
                <a:spcPct val="115000"/>
              </a:lnSpc>
              <a:spcAft>
                <a:spcPts val="500"/>
              </a:spcAft>
              <a:buNone/>
            </a:pPr>
            <a:r>
              <a:rPr lang="en-US" sz="1350" dirty="0">
                <a:solidFill>
                  <a:srgbClr val="ECEEF2"/>
                </a:solidFill>
                <a:latin typeface="Arial" pitchFamily="34" charset="0"/>
                <a:ea typeface="Arial" pitchFamily="34" charset="-122"/>
                <a:cs typeface="Arial" pitchFamily="34" charset="-120"/>
              </a:rPr>
              <a:t>Which pixel am I? blockIdx × blockDim + threadIdx, once across, once down.</a:t>
            </a:r>
            <a:endParaRPr lang="en-US" sz="1350" dirty="0"/>
          </a:p>
          <a:p>
            <a:pPr indent="0" marL="0">
              <a:lnSpc>
                <a:spcPct val="115000"/>
              </a:lnSpc>
              <a:spcAft>
                <a:spcPts val="500"/>
              </a:spcAft>
              <a:buNone/>
            </a:pPr>
            <a:r>
              <a:rPr lang="en-US" sz="1350" dirty="0">
                <a:solidFill>
                  <a:srgbClr val="ECEEF2"/>
                </a:solidFill>
                <a:latin typeface="Arial" pitchFamily="34" charset="0"/>
                <a:ea typeface="Arial" pitchFamily="34" charset="-122"/>
                <a:cs typeface="Arial" pitchFamily="34" charset="-120"/>
              </a:rPr>
              <a:t>Am I on the picture? Rounding up made spare threads; they sit still.</a:t>
            </a:r>
            <a:endParaRPr lang="en-US" sz="1350" dirty="0"/>
          </a:p>
          <a:p>
            <a:pPr indent="0" marL="0">
              <a:lnSpc>
                <a:spcPct val="115000"/>
              </a:lnSpc>
              <a:spcAft>
                <a:spcPts val="500"/>
              </a:spcAft>
              <a:buNone/>
            </a:pPr>
            <a:r>
              <a:rPr lang="en-US" sz="1350" dirty="0">
                <a:solidFill>
                  <a:srgbClr val="ECEEF2"/>
                </a:solidFill>
                <a:latin typeface="Arial" pitchFamily="34" charset="0"/>
                <a:ea typeface="Arial" pitchFamily="34" charset="-122"/>
                <a:cs typeface="Arial" pitchFamily="34" charset="-120"/>
              </a:rPr>
              <a:t>Where does my pixel live? (row × w + col) × 3 — bytes, not pixels.</a:t>
            </a:r>
            <a:endParaRPr lang="en-US" sz="1350" dirty="0"/>
          </a:p>
          <a:p>
            <a:pPr indent="0" marL="0">
              <a:lnSpc>
                <a:spcPct val="115000"/>
              </a:lnSpc>
              <a:spcAft>
                <a:spcPts val="500"/>
              </a:spcAft>
              <a:buNone/>
            </a:pPr>
            <a:r>
              <a:rPr lang="en-US" sz="1350" dirty="0">
                <a:solidFill>
                  <a:srgbClr val="ECEEF2"/>
                </a:solidFill>
                <a:latin typeface="Arial" pitchFamily="34" charset="0"/>
                <a:ea typeface="Arial" pitchFamily="34" charset="-122"/>
                <a:cs typeface="Arial" pitchFamily="34" charset="-120"/>
              </a:rPr>
              <a:t>Then the only line that's about grey.</a:t>
            </a:r>
            <a:endParaRPr lang="en-US" sz="1350" dirty="0"/>
          </a:p>
        </p:txBody>
      </p:sp>
      <p:sp>
        <p:nvSpPr>
          <p:cNvPr id="16" name="Text 14"/>
          <p:cNvSpPr txBox="1"/>
          <p:nvPr/>
        </p:nvSpPr>
        <p:spPr>
          <a:xfrm>
            <a:off x="5928055" y="6556248"/>
            <a:ext cx="5486400" cy="228600"/>
          </a:xfrm>
          <a:prstGeom prst="rect">
            <a:avLst/>
          </a:prstGeom>
          <a:noFill/>
          <a:ln/>
        </p:spPr>
        <p:txBody>
          <a:bodyPr wrap="square" lIns="0" tIns="0" rIns="0" bIns="0" rtlCol="0" anchor="ctr"/>
          <a:lstStyle/>
          <a:p>
            <a:pPr algn="r" indent="0" marL="0">
              <a:buNone/>
            </a:pPr>
            <a:r>
              <a:rPr lang="en-US" sz="800" dirty="0">
                <a:solidFill>
                  <a:srgbClr val="6B7480"/>
                </a:solidFill>
                <a:latin typeface="Courier New" pitchFamily="34" charset="0"/>
                <a:ea typeface="Courier New" pitchFamily="34" charset="-122"/>
                <a:cs typeface="Courier New" pitchFamily="34" charset="-120"/>
              </a:rPr>
              <a:t>insert: after STEP 3 · the launch</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9"/>
        </a:solidFill>
      </p:bgPr>
    </p:bg>
    <p:spTree>
      <p:nvGrpSpPr>
        <p:cNvPr id="1" name=""/>
        <p:cNvGrpSpPr/>
        <p:nvPr/>
      </p:nvGrpSpPr>
      <p:grpSpPr>
        <a:xfrm>
          <a:off x="0" y="0"/>
          <a:ext cx="0" cy="0"/>
          <a:chOff x="0" y="0"/>
          <a:chExt cx="0" cy="0"/>
        </a:xfrm>
      </p:grpSpPr>
      <p:sp>
        <p:nvSpPr>
          <p:cNvPr id="2" name="Shape 0"/>
          <p:cNvSpPr/>
          <p:nvPr/>
        </p:nvSpPr>
        <p:spPr>
          <a:xfrm>
            <a:off x="777240" y="411480"/>
            <a:ext cx="91440" cy="91440"/>
          </a:xfrm>
          <a:prstGeom prst="rect">
            <a:avLst/>
          </a:prstGeom>
          <a:solidFill>
            <a:srgbClr val="8B80F9"/>
          </a:solidFill>
          <a:ln w="12700">
            <a:solidFill>
              <a:srgbClr val="8B80F9"/>
            </a:solidFill>
            <a:prstDash val="solid"/>
          </a:ln>
        </p:spPr>
      </p:sp>
      <p:sp>
        <p:nvSpPr>
          <p:cNvPr id="3" name="Shape 1"/>
          <p:cNvSpPr/>
          <p:nvPr/>
        </p:nvSpPr>
        <p:spPr>
          <a:xfrm>
            <a:off x="896112" y="411480"/>
            <a:ext cx="91440" cy="91440"/>
          </a:xfrm>
          <a:prstGeom prst="rect">
            <a:avLst/>
          </a:prstGeom>
          <a:solidFill>
            <a:srgbClr val="8B80F9"/>
          </a:solidFill>
          <a:ln w="12700">
            <a:solidFill>
              <a:srgbClr val="8B80F9"/>
            </a:solidFill>
            <a:prstDash val="solid"/>
          </a:ln>
        </p:spPr>
      </p:sp>
      <p:sp>
        <p:nvSpPr>
          <p:cNvPr id="4" name="Shape 2"/>
          <p:cNvSpPr/>
          <p:nvPr/>
        </p:nvSpPr>
        <p:spPr>
          <a:xfrm>
            <a:off x="1014984" y="411480"/>
            <a:ext cx="91440" cy="91440"/>
          </a:xfrm>
          <a:prstGeom prst="rect">
            <a:avLst/>
          </a:prstGeom>
          <a:solidFill>
            <a:srgbClr val="8B80F9"/>
          </a:solidFill>
          <a:ln w="12700">
            <a:solidFill>
              <a:srgbClr val="8B80F9"/>
            </a:solidFill>
            <a:prstDash val="solid"/>
          </a:ln>
        </p:spPr>
      </p:sp>
      <p:sp>
        <p:nvSpPr>
          <p:cNvPr id="5" name="Shape 3"/>
          <p:cNvSpPr/>
          <p:nvPr/>
        </p:nvSpPr>
        <p:spPr>
          <a:xfrm>
            <a:off x="777240" y="530352"/>
            <a:ext cx="91440" cy="91440"/>
          </a:xfrm>
          <a:prstGeom prst="rect">
            <a:avLst/>
          </a:prstGeom>
          <a:solidFill>
            <a:srgbClr val="8B80F9"/>
          </a:solidFill>
          <a:ln w="12700">
            <a:solidFill>
              <a:srgbClr val="8B80F9"/>
            </a:solidFill>
            <a:prstDash val="solid"/>
          </a:ln>
        </p:spPr>
      </p:sp>
      <p:sp>
        <p:nvSpPr>
          <p:cNvPr id="6" name="Shape 4"/>
          <p:cNvSpPr/>
          <p:nvPr/>
        </p:nvSpPr>
        <p:spPr>
          <a:xfrm>
            <a:off x="896112" y="530352"/>
            <a:ext cx="91440" cy="91440"/>
          </a:xfrm>
          <a:prstGeom prst="rect">
            <a:avLst/>
          </a:prstGeom>
          <a:solidFill>
            <a:srgbClr val="8B80F9"/>
          </a:solidFill>
          <a:ln w="12700">
            <a:solidFill>
              <a:srgbClr val="8B80F9"/>
            </a:solidFill>
            <a:prstDash val="solid"/>
          </a:ln>
        </p:spPr>
      </p:sp>
      <p:sp>
        <p:nvSpPr>
          <p:cNvPr id="7" name="Shape 5"/>
          <p:cNvSpPr/>
          <p:nvPr/>
        </p:nvSpPr>
        <p:spPr>
          <a:xfrm>
            <a:off x="777240" y="649224"/>
            <a:ext cx="91440" cy="91440"/>
          </a:xfrm>
          <a:prstGeom prst="rect">
            <a:avLst/>
          </a:prstGeom>
          <a:solidFill>
            <a:srgbClr val="8B80F9"/>
          </a:solidFill>
          <a:ln w="12700">
            <a:solidFill>
              <a:srgbClr val="8B80F9"/>
            </a:solidFill>
            <a:prstDash val="solid"/>
          </a:ln>
        </p:spPr>
      </p:sp>
      <p:sp>
        <p:nvSpPr>
          <p:cNvPr id="8" name="Shape 6"/>
          <p:cNvSpPr/>
          <p:nvPr/>
        </p:nvSpPr>
        <p:spPr>
          <a:xfrm>
            <a:off x="1014984" y="649224"/>
            <a:ext cx="91440" cy="91440"/>
          </a:xfrm>
          <a:prstGeom prst="rect">
            <a:avLst/>
          </a:prstGeom>
          <a:solidFill>
            <a:srgbClr val="8B80F9"/>
          </a:solidFill>
          <a:ln w="12700">
            <a:solidFill>
              <a:srgbClr val="8B80F9"/>
            </a:solidFill>
            <a:prstDash val="solid"/>
          </a:ln>
        </p:spPr>
      </p:sp>
      <p:sp>
        <p:nvSpPr>
          <p:cNvPr id="9" name="Text 7"/>
          <p:cNvSpPr txBox="1"/>
          <p:nvPr/>
        </p:nvSpPr>
        <p:spPr>
          <a:xfrm>
            <a:off x="1417320" y="384048"/>
            <a:ext cx="8229600" cy="365760"/>
          </a:xfrm>
          <a:prstGeom prst="rect">
            <a:avLst/>
          </a:prstGeom>
          <a:noFill/>
          <a:ln/>
        </p:spPr>
        <p:txBody>
          <a:bodyPr wrap="square" lIns="0" tIns="0" rIns="0" bIns="0" rtlCol="0" anchor="ctr"/>
          <a:lstStyle/>
          <a:p>
            <a:pPr indent="0" marL="0">
              <a:buNone/>
            </a:pPr>
            <a:r>
              <a:rPr lang="en-US" sz="1300" b="1" spc="300" kern="0" dirty="0">
                <a:solidFill>
                  <a:srgbClr val="46D07E"/>
                </a:solidFill>
                <a:latin typeface="Courier New" pitchFamily="34" charset="0"/>
                <a:ea typeface="Courier New" pitchFamily="34" charset="-122"/>
                <a:cs typeface="Courier New" pitchFamily="34" charset="-120"/>
              </a:rPr>
              <a:t>STEP 4 · cudaMemcpy ←</a:t>
            </a:r>
            <a:endParaRPr lang="en-US" sz="1300" dirty="0"/>
          </a:p>
        </p:txBody>
      </p:sp>
      <p:sp>
        <p:nvSpPr>
          <p:cNvPr id="10" name="Text 8"/>
          <p:cNvSpPr txBox="1"/>
          <p:nvPr/>
        </p:nvSpPr>
        <p:spPr>
          <a:xfrm>
            <a:off x="777240" y="868680"/>
            <a:ext cx="10637215" cy="731520"/>
          </a:xfrm>
          <a:prstGeom prst="rect">
            <a:avLst/>
          </a:prstGeom>
          <a:noFill/>
          <a:ln/>
        </p:spPr>
        <p:txBody>
          <a:bodyPr wrap="square" lIns="0" tIns="0" rIns="0" bIns="0" rtlCol="0" anchor="ctr"/>
          <a:lstStyle/>
          <a:p>
            <a:pPr indent="0" marL="0">
              <a:buNone/>
            </a:pPr>
            <a:r>
              <a:rPr lang="en-US" sz="3400" b="1" dirty="0">
                <a:solidFill>
                  <a:srgbClr val="ECEEF2"/>
                </a:solidFill>
                <a:latin typeface="Arial" pitchFamily="34" charset="0"/>
                <a:ea typeface="Arial" pitchFamily="34" charset="-122"/>
                <a:cs typeface="Arial" pitchFamily="34" charset="-120"/>
              </a:rPr>
              <a:t>Bring the answer home</a:t>
            </a:r>
            <a:endParaRPr lang="en-US" sz="3400" dirty="0"/>
          </a:p>
        </p:txBody>
      </p:sp>
      <p:sp>
        <p:nvSpPr>
          <p:cNvPr id="11" name="Shape 9"/>
          <p:cNvSpPr/>
          <p:nvPr/>
        </p:nvSpPr>
        <p:spPr>
          <a:xfrm>
            <a:off x="777240" y="1783080"/>
            <a:ext cx="6537960" cy="1280160"/>
          </a:xfrm>
          <a:prstGeom prst="rect">
            <a:avLst/>
          </a:prstGeom>
          <a:solidFill>
            <a:srgbClr val="0A0C12"/>
          </a:solidFill>
          <a:ln w="12700">
            <a:solidFill>
              <a:srgbClr val="272C38"/>
            </a:solidFill>
            <a:prstDash val="solid"/>
          </a:ln>
        </p:spPr>
      </p:sp>
      <p:sp>
        <p:nvSpPr>
          <p:cNvPr id="12" name="Text 10"/>
          <p:cNvSpPr txBox="1"/>
          <p:nvPr/>
        </p:nvSpPr>
        <p:spPr>
          <a:xfrm>
            <a:off x="978408" y="1947672"/>
            <a:ext cx="6135624" cy="950976"/>
          </a:xfrm>
          <a:prstGeom prst="rect">
            <a:avLst/>
          </a:prstGeom>
          <a:noFill/>
          <a:ln/>
        </p:spPr>
        <p:txBody>
          <a:bodyPr wrap="square" lIns="0" tIns="0" rIns="0" bIns="0" rtlCol="0" anchor="t"/>
          <a:lstStyle/>
          <a:p>
            <a:pPr indent="0" marL="0">
              <a:lnSpc>
                <a:spcPct val="112000"/>
              </a:lnSpc>
              <a:buNone/>
            </a:pPr>
            <a:r>
              <a:rPr lang="en-US" sz="1300" dirty="0">
                <a:solidFill>
                  <a:srgbClr val="46D07E"/>
                </a:solidFill>
                <a:latin typeface="Courier New" pitchFamily="34" charset="0"/>
                <a:ea typeface="Courier New" pitchFamily="34" charset="-122"/>
                <a:cs typeface="Courier New" pitchFamily="34" charset="-120"/>
              </a:rPr>
              <a:t>cudaMemcpy</a:t>
            </a:r>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(out.data, out_d, img.bytes, </a:t>
            </a:r>
            <a:pPr indent="0" marL="0">
              <a:lnSpc>
                <a:spcPct val="112000"/>
              </a:lnSpc>
              <a:buNone/>
            </a:pPr>
            <a:r>
              <a:rPr lang="en-US" sz="1300" dirty="0">
                <a:solidFill>
                  <a:srgbClr val="46D07E"/>
                </a:solidFill>
                <a:latin typeface="Courier New" pitchFamily="34" charset="0"/>
                <a:ea typeface="Courier New" pitchFamily="34" charset="-122"/>
                <a:cs typeface="Courier New" pitchFamily="34" charset="-120"/>
              </a:rPr>
              <a:t>cudaMemcpy</a:t>
            </a:r>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DeviceToHost);</a:t>
            </a:r>
            <a:pPr indent="0" marL="0">
              <a:lnSpc>
                <a:spcPct val="112000"/>
              </a:lnSpc>
              <a:buNone/>
            </a:pPr>
            <a:r>
              <a:rPr lang="en-US" sz="130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saveImage(out, "build/out.ppm");          // given</a:t>
            </a:r>
            <a:pPr indent="0" marL="0">
              <a:lnSpc>
                <a:spcPct val="112000"/>
              </a:lnSpc>
              <a:buNone/>
            </a:pPr>
            <a:r>
              <a:rPr lang="en-US" sz="130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saveImage(out, "build/out.ppm");   // given</a:t>
            </a:r>
            <a:endParaRPr lang="en-US" sz="1300" dirty="0"/>
          </a:p>
        </p:txBody>
      </p:sp>
      <p:sp>
        <p:nvSpPr>
          <p:cNvPr id="13" name="Shape 11"/>
          <p:cNvSpPr/>
          <p:nvPr/>
        </p:nvSpPr>
        <p:spPr>
          <a:xfrm>
            <a:off x="7589520" y="1783080"/>
            <a:ext cx="3824935" cy="2743200"/>
          </a:xfrm>
          <a:prstGeom prst="rect">
            <a:avLst/>
          </a:prstGeom>
          <a:solidFill>
            <a:srgbClr val="1B1A33"/>
          </a:solidFill>
          <a:ln w="15875">
            <a:solidFill>
              <a:srgbClr val="6C63D9"/>
            </a:solidFill>
            <a:prstDash val="solid"/>
          </a:ln>
        </p:spPr>
      </p:sp>
      <p:sp>
        <p:nvSpPr>
          <p:cNvPr id="14" name="Text 12"/>
          <p:cNvSpPr txBox="1"/>
          <p:nvPr/>
        </p:nvSpPr>
        <p:spPr>
          <a:xfrm>
            <a:off x="7845552" y="1984248"/>
            <a:ext cx="3367735" cy="274320"/>
          </a:xfrm>
          <a:prstGeom prst="rect">
            <a:avLst/>
          </a:prstGeom>
          <a:noFill/>
          <a:ln/>
        </p:spPr>
        <p:txBody>
          <a:bodyPr wrap="square" lIns="0" tIns="0" rIns="0" bIns="0" rtlCol="0" anchor="ctr"/>
          <a:lstStyle/>
          <a:p>
            <a:pPr indent="0" marL="0">
              <a:buNone/>
            </a:pPr>
            <a:r>
              <a:rPr lang="en-US" sz="1200" b="1" spc="200" kern="0" dirty="0">
                <a:solidFill>
                  <a:srgbClr val="8B80F9"/>
                </a:solidFill>
                <a:latin typeface="Arial" pitchFamily="34" charset="0"/>
                <a:ea typeface="Arial" pitchFamily="34" charset="-122"/>
                <a:cs typeface="Arial" pitchFamily="34" charset="-120"/>
              </a:rPr>
              <a:t>READ IT AS</a:t>
            </a:r>
            <a:endParaRPr lang="en-US" sz="1200" dirty="0"/>
          </a:p>
        </p:txBody>
      </p:sp>
      <p:sp>
        <p:nvSpPr>
          <p:cNvPr id="15" name="Text 13"/>
          <p:cNvSpPr txBox="1"/>
          <p:nvPr/>
        </p:nvSpPr>
        <p:spPr>
          <a:xfrm>
            <a:off x="7845552" y="2331720"/>
            <a:ext cx="3367735" cy="2011680"/>
          </a:xfrm>
          <a:prstGeom prst="rect">
            <a:avLst/>
          </a:prstGeom>
          <a:noFill/>
          <a:ln/>
        </p:spPr>
        <p:txBody>
          <a:bodyPr wrap="square" lIns="0" tIns="0" rIns="0" bIns="0" rtlCol="0" anchor="t"/>
          <a:lstStyle/>
          <a:p>
            <a:pPr indent="0" marL="0">
              <a:lnSpc>
                <a:spcPct val="115000"/>
              </a:lnSpc>
              <a:spcAft>
                <a:spcPts val="500"/>
              </a:spcAft>
              <a:buNone/>
            </a:pPr>
            <a:r>
              <a:rPr lang="en-US" sz="1400" dirty="0">
                <a:solidFill>
                  <a:srgbClr val="ECEEF2"/>
                </a:solidFill>
                <a:latin typeface="Arial" pitchFamily="34" charset="0"/>
                <a:ea typeface="Arial" pitchFamily="34" charset="-122"/>
                <a:cs typeface="Arial" pitchFamily="34" charset="-120"/>
              </a:rPr>
              <a:t>The same call, reversed. Destination is now the CPU's out.data.</a:t>
            </a:r>
            <a:endParaRPr lang="en-US" sz="1400" dirty="0"/>
          </a:p>
          <a:p>
            <a:pPr indent="0" marL="0">
              <a:lnSpc>
                <a:spcPct val="115000"/>
              </a:lnSpc>
              <a:spcAft>
                <a:spcPts val="500"/>
              </a:spcAft>
              <a:buNone/>
            </a:pPr>
            <a:r>
              <a:rPr lang="en-US" sz="1400" dirty="0">
                <a:solidFill>
                  <a:srgbClr val="ECEEF2"/>
                </a:solidFill>
                <a:latin typeface="Arial" pitchFamily="34" charset="0"/>
                <a:ea typeface="Arial" pitchFamily="34" charset="-122"/>
                <a:cs typeface="Arial" pitchFamily="34" charset="-120"/>
              </a:rPr>
              <a:t>Source is out_d — where the GPU wrote the grey pixels.</a:t>
            </a:r>
            <a:endParaRPr lang="en-US" sz="1400" dirty="0"/>
          </a:p>
          <a:p>
            <a:pPr indent="0" marL="0">
              <a:lnSpc>
                <a:spcPct val="115000"/>
              </a:lnSpc>
              <a:spcAft>
                <a:spcPts val="500"/>
              </a:spcAft>
              <a:buNone/>
            </a:pPr>
            <a:r>
              <a:rPr lang="en-US" sz="1400" dirty="0">
                <a:solidFill>
                  <a:srgbClr val="ECEEF2"/>
                </a:solidFill>
                <a:latin typeface="Arial" pitchFamily="34" charset="0"/>
                <a:ea typeface="Arial" pitchFamily="34" charset="-122"/>
                <a:cs typeface="Arial" pitchFamily="34" charset="-120"/>
              </a:rPr>
              <a:t>cudaMemcpyDeviceToHost — GPU to CPU this time.</a:t>
            </a:r>
            <a:endParaRPr lang="en-US" sz="1400" dirty="0"/>
          </a:p>
        </p:txBody>
      </p:sp>
      <p:sp>
        <p:nvSpPr>
          <p:cNvPr id="16" name="Shape 14"/>
          <p:cNvSpPr/>
          <p:nvPr/>
        </p:nvSpPr>
        <p:spPr>
          <a:xfrm>
            <a:off x="777240" y="4800600"/>
            <a:ext cx="10637215" cy="777240"/>
          </a:xfrm>
          <a:prstGeom prst="rect">
            <a:avLst/>
          </a:prstGeom>
          <a:solidFill>
            <a:srgbClr val="2A2210"/>
          </a:solidFill>
          <a:ln w="15875">
            <a:solidFill>
              <a:srgbClr val="F5B301"/>
            </a:solidFill>
            <a:prstDash val="solid"/>
          </a:ln>
        </p:spPr>
      </p:sp>
      <p:sp>
        <p:nvSpPr>
          <p:cNvPr id="17" name="Text 15"/>
          <p:cNvSpPr txBox="1"/>
          <p:nvPr/>
        </p:nvSpPr>
        <p:spPr>
          <a:xfrm>
            <a:off x="1005840" y="4800600"/>
            <a:ext cx="365760" cy="777240"/>
          </a:xfrm>
          <a:prstGeom prst="rect">
            <a:avLst/>
          </a:prstGeom>
          <a:noFill/>
          <a:ln/>
        </p:spPr>
        <p:txBody>
          <a:bodyPr wrap="square" lIns="0" tIns="0" rIns="0" bIns="0" rtlCol="0" anchor="ctr"/>
          <a:lstStyle/>
          <a:p>
            <a:pPr indent="0" marL="0">
              <a:buNone/>
            </a:pPr>
            <a:r>
              <a:rPr lang="en-US" sz="2200" b="1" dirty="0">
                <a:solidFill>
                  <a:srgbClr val="F5B301"/>
                </a:solidFill>
                <a:latin typeface="Arial" pitchFamily="34" charset="0"/>
                <a:ea typeface="Arial" pitchFamily="34" charset="-122"/>
                <a:cs typeface="Arial" pitchFamily="34" charset="-120"/>
              </a:rPr>
              <a:t>!</a:t>
            </a:r>
            <a:endParaRPr lang="en-US" sz="2200" dirty="0"/>
          </a:p>
        </p:txBody>
      </p:sp>
      <p:sp>
        <p:nvSpPr>
          <p:cNvPr id="18" name="Text 16"/>
          <p:cNvSpPr txBox="1"/>
          <p:nvPr/>
        </p:nvSpPr>
        <p:spPr>
          <a:xfrm>
            <a:off x="1463040" y="4800600"/>
            <a:ext cx="9722815" cy="777240"/>
          </a:xfrm>
          <a:prstGeom prst="rect">
            <a:avLst/>
          </a:prstGeom>
          <a:noFill/>
          <a:ln/>
        </p:spPr>
        <p:txBody>
          <a:bodyPr wrap="square" lIns="0" tIns="0" rIns="0" bIns="0" rtlCol="0" anchor="ctr"/>
          <a:lstStyle/>
          <a:p>
            <a:pPr indent="0" marL="0">
              <a:lnSpc>
                <a:spcPct val="115000"/>
              </a:lnSpc>
              <a:buNone/>
            </a:pPr>
            <a:r>
              <a:rPr lang="en-US" sz="1350" dirty="0">
                <a:solidFill>
                  <a:srgbClr val="ECEEF2"/>
                </a:solidFill>
                <a:latin typeface="Arial" pitchFamily="34" charset="0"/>
                <a:ea typeface="Arial" pitchFamily="34" charset="-122"/>
                <a:cs typeface="Arial" pitchFamily="34" charset="-120"/>
              </a:rPr>
              <a:t>Skip this line and NOTHING crashes. The GPU did the work; the CPU never went to collect it. You get a black picture and no error. The check will say 'STEP 4'.</a:t>
            </a:r>
            <a:endParaRPr lang="en-US" sz="1350" dirty="0"/>
          </a:p>
        </p:txBody>
      </p:sp>
      <p:sp>
        <p:nvSpPr>
          <p:cNvPr id="19" name="Text 17"/>
          <p:cNvSpPr txBox="1"/>
          <p:nvPr/>
        </p:nvSpPr>
        <p:spPr>
          <a:xfrm>
            <a:off x="5928055" y="6556248"/>
            <a:ext cx="5486400" cy="228600"/>
          </a:xfrm>
          <a:prstGeom prst="rect">
            <a:avLst/>
          </a:prstGeom>
          <a:noFill/>
          <a:ln/>
        </p:spPr>
        <p:txBody>
          <a:bodyPr wrap="square" lIns="0" tIns="0" rIns="0" bIns="0" rtlCol="0" anchor="ctr"/>
          <a:lstStyle/>
          <a:p>
            <a:pPr algn="r" indent="0" marL="0">
              <a:buNone/>
            </a:pPr>
            <a:r>
              <a:rPr lang="en-US" sz="800" dirty="0">
                <a:solidFill>
                  <a:srgbClr val="6B7480"/>
                </a:solidFill>
                <a:latin typeface="Courier New" pitchFamily="34" charset="0"/>
                <a:ea typeface="Courier New" pitchFamily="34" charset="-122"/>
                <a:cs typeface="Courier New" pitchFamily="34" charset="-120"/>
              </a:rPr>
              <a:t>insert: after STEP 3 · the kernel</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9"/>
        </a:solidFill>
      </p:bgPr>
    </p:bg>
    <p:spTree>
      <p:nvGrpSpPr>
        <p:cNvPr id="1" name=""/>
        <p:cNvGrpSpPr/>
        <p:nvPr/>
      </p:nvGrpSpPr>
      <p:grpSpPr>
        <a:xfrm>
          <a:off x="0" y="0"/>
          <a:ext cx="0" cy="0"/>
          <a:chOff x="0" y="0"/>
          <a:chExt cx="0" cy="0"/>
        </a:xfrm>
      </p:grpSpPr>
      <p:sp>
        <p:nvSpPr>
          <p:cNvPr id="2" name="Shape 0"/>
          <p:cNvSpPr/>
          <p:nvPr/>
        </p:nvSpPr>
        <p:spPr>
          <a:xfrm>
            <a:off x="777240" y="411480"/>
            <a:ext cx="91440" cy="91440"/>
          </a:xfrm>
          <a:prstGeom prst="rect">
            <a:avLst/>
          </a:prstGeom>
          <a:solidFill>
            <a:srgbClr val="8B80F9"/>
          </a:solidFill>
          <a:ln w="12700">
            <a:solidFill>
              <a:srgbClr val="8B80F9"/>
            </a:solidFill>
            <a:prstDash val="solid"/>
          </a:ln>
        </p:spPr>
      </p:sp>
      <p:sp>
        <p:nvSpPr>
          <p:cNvPr id="3" name="Shape 1"/>
          <p:cNvSpPr/>
          <p:nvPr/>
        </p:nvSpPr>
        <p:spPr>
          <a:xfrm>
            <a:off x="896112" y="411480"/>
            <a:ext cx="91440" cy="91440"/>
          </a:xfrm>
          <a:prstGeom prst="rect">
            <a:avLst/>
          </a:prstGeom>
          <a:solidFill>
            <a:srgbClr val="8B80F9"/>
          </a:solidFill>
          <a:ln w="12700">
            <a:solidFill>
              <a:srgbClr val="8B80F9"/>
            </a:solidFill>
            <a:prstDash val="solid"/>
          </a:ln>
        </p:spPr>
      </p:sp>
      <p:sp>
        <p:nvSpPr>
          <p:cNvPr id="4" name="Shape 2"/>
          <p:cNvSpPr/>
          <p:nvPr/>
        </p:nvSpPr>
        <p:spPr>
          <a:xfrm>
            <a:off x="1014984" y="411480"/>
            <a:ext cx="91440" cy="91440"/>
          </a:xfrm>
          <a:prstGeom prst="rect">
            <a:avLst/>
          </a:prstGeom>
          <a:solidFill>
            <a:srgbClr val="8B80F9"/>
          </a:solidFill>
          <a:ln w="12700">
            <a:solidFill>
              <a:srgbClr val="8B80F9"/>
            </a:solidFill>
            <a:prstDash val="solid"/>
          </a:ln>
        </p:spPr>
      </p:sp>
      <p:sp>
        <p:nvSpPr>
          <p:cNvPr id="5" name="Shape 3"/>
          <p:cNvSpPr/>
          <p:nvPr/>
        </p:nvSpPr>
        <p:spPr>
          <a:xfrm>
            <a:off x="777240" y="530352"/>
            <a:ext cx="91440" cy="91440"/>
          </a:xfrm>
          <a:prstGeom prst="rect">
            <a:avLst/>
          </a:prstGeom>
          <a:solidFill>
            <a:srgbClr val="8B80F9"/>
          </a:solidFill>
          <a:ln w="12700">
            <a:solidFill>
              <a:srgbClr val="8B80F9"/>
            </a:solidFill>
            <a:prstDash val="solid"/>
          </a:ln>
        </p:spPr>
      </p:sp>
      <p:sp>
        <p:nvSpPr>
          <p:cNvPr id="6" name="Shape 4"/>
          <p:cNvSpPr/>
          <p:nvPr/>
        </p:nvSpPr>
        <p:spPr>
          <a:xfrm>
            <a:off x="896112" y="530352"/>
            <a:ext cx="91440" cy="91440"/>
          </a:xfrm>
          <a:prstGeom prst="rect">
            <a:avLst/>
          </a:prstGeom>
          <a:solidFill>
            <a:srgbClr val="8B80F9"/>
          </a:solidFill>
          <a:ln w="12700">
            <a:solidFill>
              <a:srgbClr val="8B80F9"/>
            </a:solidFill>
            <a:prstDash val="solid"/>
          </a:ln>
        </p:spPr>
      </p:sp>
      <p:sp>
        <p:nvSpPr>
          <p:cNvPr id="7" name="Shape 5"/>
          <p:cNvSpPr/>
          <p:nvPr/>
        </p:nvSpPr>
        <p:spPr>
          <a:xfrm>
            <a:off x="777240" y="649224"/>
            <a:ext cx="91440" cy="91440"/>
          </a:xfrm>
          <a:prstGeom prst="rect">
            <a:avLst/>
          </a:prstGeom>
          <a:solidFill>
            <a:srgbClr val="8B80F9"/>
          </a:solidFill>
          <a:ln w="12700">
            <a:solidFill>
              <a:srgbClr val="8B80F9"/>
            </a:solidFill>
            <a:prstDash val="solid"/>
          </a:ln>
        </p:spPr>
      </p:sp>
      <p:sp>
        <p:nvSpPr>
          <p:cNvPr id="8" name="Shape 6"/>
          <p:cNvSpPr/>
          <p:nvPr/>
        </p:nvSpPr>
        <p:spPr>
          <a:xfrm>
            <a:off x="1014984" y="649224"/>
            <a:ext cx="91440" cy="91440"/>
          </a:xfrm>
          <a:prstGeom prst="rect">
            <a:avLst/>
          </a:prstGeom>
          <a:solidFill>
            <a:srgbClr val="8B80F9"/>
          </a:solidFill>
          <a:ln w="12700">
            <a:solidFill>
              <a:srgbClr val="8B80F9"/>
            </a:solidFill>
            <a:prstDash val="solid"/>
          </a:ln>
        </p:spPr>
      </p:sp>
      <p:sp>
        <p:nvSpPr>
          <p:cNvPr id="9" name="Text 7"/>
          <p:cNvSpPr txBox="1"/>
          <p:nvPr/>
        </p:nvSpPr>
        <p:spPr>
          <a:xfrm>
            <a:off x="1417320" y="384048"/>
            <a:ext cx="8229600" cy="365760"/>
          </a:xfrm>
          <a:prstGeom prst="rect">
            <a:avLst/>
          </a:prstGeom>
          <a:noFill/>
          <a:ln/>
        </p:spPr>
        <p:txBody>
          <a:bodyPr wrap="square" lIns="0" tIns="0" rIns="0" bIns="0" rtlCol="0" anchor="ctr"/>
          <a:lstStyle/>
          <a:p>
            <a:pPr indent="0" marL="0">
              <a:buNone/>
            </a:pPr>
            <a:r>
              <a:rPr lang="en-US" sz="1300" b="1" spc="300" kern="0" dirty="0">
                <a:solidFill>
                  <a:srgbClr val="46D07E"/>
                </a:solidFill>
                <a:latin typeface="Courier New" pitchFamily="34" charset="0"/>
                <a:ea typeface="Courier New" pitchFamily="34" charset="-122"/>
                <a:cs typeface="Courier New" pitchFamily="34" charset="-120"/>
              </a:rPr>
              <a:t>STEP 5 · cudaFree</a:t>
            </a:r>
            <a:endParaRPr lang="en-US" sz="1300" dirty="0"/>
          </a:p>
        </p:txBody>
      </p:sp>
      <p:sp>
        <p:nvSpPr>
          <p:cNvPr id="10" name="Text 8"/>
          <p:cNvSpPr txBox="1"/>
          <p:nvPr/>
        </p:nvSpPr>
        <p:spPr>
          <a:xfrm>
            <a:off x="777240" y="868680"/>
            <a:ext cx="10637215" cy="731520"/>
          </a:xfrm>
          <a:prstGeom prst="rect">
            <a:avLst/>
          </a:prstGeom>
          <a:noFill/>
          <a:ln/>
        </p:spPr>
        <p:txBody>
          <a:bodyPr wrap="square" lIns="0" tIns="0" rIns="0" bIns="0" rtlCol="0" anchor="ctr"/>
          <a:lstStyle/>
          <a:p>
            <a:pPr indent="0" marL="0">
              <a:buNone/>
            </a:pPr>
            <a:r>
              <a:rPr lang="en-US" sz="3400" b="1" dirty="0">
                <a:solidFill>
                  <a:srgbClr val="ECEEF2"/>
                </a:solidFill>
                <a:latin typeface="Arial" pitchFamily="34" charset="0"/>
                <a:ea typeface="Arial" pitchFamily="34" charset="-122"/>
                <a:cs typeface="Arial" pitchFamily="34" charset="-120"/>
              </a:rPr>
              <a:t>Give the memory back</a:t>
            </a:r>
            <a:endParaRPr lang="en-US" sz="3400" dirty="0"/>
          </a:p>
        </p:txBody>
      </p:sp>
      <p:sp>
        <p:nvSpPr>
          <p:cNvPr id="11" name="Shape 9"/>
          <p:cNvSpPr/>
          <p:nvPr/>
        </p:nvSpPr>
        <p:spPr>
          <a:xfrm>
            <a:off x="777240" y="1783080"/>
            <a:ext cx="6537960" cy="1508760"/>
          </a:xfrm>
          <a:prstGeom prst="rect">
            <a:avLst/>
          </a:prstGeom>
          <a:solidFill>
            <a:srgbClr val="0A0C12"/>
          </a:solidFill>
          <a:ln w="12700">
            <a:solidFill>
              <a:srgbClr val="272C38"/>
            </a:solidFill>
            <a:prstDash val="solid"/>
          </a:ln>
        </p:spPr>
      </p:sp>
      <p:sp>
        <p:nvSpPr>
          <p:cNvPr id="12" name="Text 10"/>
          <p:cNvSpPr txBox="1"/>
          <p:nvPr/>
        </p:nvSpPr>
        <p:spPr>
          <a:xfrm>
            <a:off x="978408" y="1947672"/>
            <a:ext cx="6135624" cy="1179576"/>
          </a:xfrm>
          <a:prstGeom prst="rect">
            <a:avLst/>
          </a:prstGeom>
          <a:noFill/>
          <a:ln/>
        </p:spPr>
        <p:txBody>
          <a:bodyPr wrap="square" lIns="0" tIns="0" rIns="0" bIns="0" rtlCol="0" anchor="t"/>
          <a:lstStyle/>
          <a:p>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46D07E"/>
                </a:solidFill>
                <a:latin typeface="Courier New" pitchFamily="34" charset="0"/>
                <a:ea typeface="Courier New" pitchFamily="34" charset="-122"/>
                <a:cs typeface="Courier New" pitchFamily="34" charset="-120"/>
              </a:rPr>
              <a:t>cudaFree</a:t>
            </a:r>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(in_d);</a:t>
            </a:r>
            <a:pPr indent="0" marL="0">
              <a:lnSpc>
                <a:spcPct val="112000"/>
              </a:lnSpc>
              <a:buNone/>
            </a:pPr>
            <a:r>
              <a:rPr lang="en-US" sz="130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46D07E"/>
                </a:solidFill>
                <a:latin typeface="Courier New" pitchFamily="34" charset="0"/>
                <a:ea typeface="Courier New" pitchFamily="34" charset="-122"/>
                <a:cs typeface="Courier New" pitchFamily="34" charset="-120"/>
              </a:rPr>
              <a:t>cudaFree</a:t>
            </a:r>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(out_d);</a:t>
            </a:r>
            <a:pPr indent="0" marL="0">
              <a:lnSpc>
                <a:spcPct val="112000"/>
              </a:lnSpc>
              <a:buNone/>
            </a:pPr>
            <a:r>
              <a:rPr lang="en-US" sz="130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    freeImage(img);                           // given</a:t>
            </a:r>
            <a:pPr indent="0" marL="0">
              <a:lnSpc>
                <a:spcPct val="112000"/>
              </a:lnSpc>
              <a:buNone/>
            </a:pPr>
            <a:r>
              <a:rPr lang="en-US" sz="130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    freeImage(out);</a:t>
            </a:r>
            <a:pPr indent="0" marL="0">
              <a:lnSpc>
                <a:spcPct val="112000"/>
              </a:lnSpc>
              <a:buNone/>
            </a:pPr>
            <a:r>
              <a:rPr lang="en-US" sz="130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    return 0;</a:t>
            </a:r>
            <a:pPr indent="0" marL="0">
              <a:lnSpc>
                <a:spcPct val="112000"/>
              </a:lnSpc>
              <a:buNone/>
            </a:pPr>
            <a:r>
              <a:rPr lang="en-US" sz="130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freeImage(img);                   // given</a:t>
            </a:r>
            <a:pPr indent="0" marL="0">
              <a:lnSpc>
                <a:spcPct val="112000"/>
              </a:lnSpc>
              <a:buNone/>
            </a:pPr>
            <a:r>
              <a:rPr lang="en-US" sz="130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ECEEF2"/>
                </a:solidFill>
                <a:latin typeface="Courier New" pitchFamily="34" charset="0"/>
                <a:ea typeface="Courier New" pitchFamily="34" charset="-122"/>
                <a:cs typeface="Courier New" pitchFamily="34" charset="-120"/>
              </a:rPr>
              <a:t>freeImage(out);                   // given</a:t>
            </a:r>
            <a:endParaRPr lang="en-US" sz="1300" dirty="0"/>
          </a:p>
        </p:txBody>
      </p:sp>
      <p:sp>
        <p:nvSpPr>
          <p:cNvPr id="13" name="Shape 11"/>
          <p:cNvSpPr/>
          <p:nvPr/>
        </p:nvSpPr>
        <p:spPr>
          <a:xfrm>
            <a:off x="7589520" y="1783080"/>
            <a:ext cx="3824935" cy="2377440"/>
          </a:xfrm>
          <a:prstGeom prst="rect">
            <a:avLst/>
          </a:prstGeom>
          <a:solidFill>
            <a:srgbClr val="1B1A33"/>
          </a:solidFill>
          <a:ln w="15875">
            <a:solidFill>
              <a:srgbClr val="6C63D9"/>
            </a:solidFill>
            <a:prstDash val="solid"/>
          </a:ln>
        </p:spPr>
      </p:sp>
      <p:sp>
        <p:nvSpPr>
          <p:cNvPr id="14" name="Text 12"/>
          <p:cNvSpPr txBox="1"/>
          <p:nvPr/>
        </p:nvSpPr>
        <p:spPr>
          <a:xfrm>
            <a:off x="7845552" y="1984248"/>
            <a:ext cx="3367735" cy="274320"/>
          </a:xfrm>
          <a:prstGeom prst="rect">
            <a:avLst/>
          </a:prstGeom>
          <a:noFill/>
          <a:ln/>
        </p:spPr>
        <p:txBody>
          <a:bodyPr wrap="square" lIns="0" tIns="0" rIns="0" bIns="0" rtlCol="0" anchor="ctr"/>
          <a:lstStyle/>
          <a:p>
            <a:pPr indent="0" marL="0">
              <a:buNone/>
            </a:pPr>
            <a:r>
              <a:rPr lang="en-US" sz="1200" b="1" spc="200" kern="0" dirty="0">
                <a:solidFill>
                  <a:srgbClr val="8B80F9"/>
                </a:solidFill>
                <a:latin typeface="Arial" pitchFamily="34" charset="0"/>
                <a:ea typeface="Arial" pitchFamily="34" charset="-122"/>
                <a:cs typeface="Arial" pitchFamily="34" charset="-120"/>
              </a:rPr>
              <a:t>READ IT AS</a:t>
            </a:r>
            <a:endParaRPr lang="en-US" sz="1200" dirty="0"/>
          </a:p>
        </p:txBody>
      </p:sp>
      <p:sp>
        <p:nvSpPr>
          <p:cNvPr id="15" name="Text 13"/>
          <p:cNvSpPr txBox="1"/>
          <p:nvPr/>
        </p:nvSpPr>
        <p:spPr>
          <a:xfrm>
            <a:off x="7845552" y="2331720"/>
            <a:ext cx="3367735" cy="1645920"/>
          </a:xfrm>
          <a:prstGeom prst="rect">
            <a:avLst/>
          </a:prstGeom>
          <a:noFill/>
          <a:ln/>
        </p:spPr>
        <p:txBody>
          <a:bodyPr wrap="square" lIns="0" tIns="0" rIns="0" bIns="0" rtlCol="0" anchor="t"/>
          <a:lstStyle/>
          <a:p>
            <a:pPr indent="0" marL="0">
              <a:lnSpc>
                <a:spcPct val="115000"/>
              </a:lnSpc>
              <a:spcAft>
                <a:spcPts val="500"/>
              </a:spcAft>
              <a:buNone/>
            </a:pPr>
            <a:r>
              <a:rPr lang="en-US" sz="1400" dirty="0">
                <a:solidFill>
                  <a:srgbClr val="ECEEF2"/>
                </a:solidFill>
                <a:latin typeface="Arial" pitchFamily="34" charset="0"/>
                <a:ea typeface="Arial" pitchFamily="34" charset="-122"/>
                <a:cs typeface="Arial" pitchFamily="34" charset="-120"/>
              </a:rPr>
              <a:t>One cudaFree per cudaMalloc. Nothing collects GPU memory for you.</a:t>
            </a:r>
            <a:endParaRPr lang="en-US" sz="1400" dirty="0"/>
          </a:p>
          <a:p>
            <a:pPr indent="0" marL="0">
              <a:lnSpc>
                <a:spcPct val="115000"/>
              </a:lnSpc>
              <a:spcAft>
                <a:spcPts val="500"/>
              </a:spcAft>
              <a:buNone/>
            </a:pPr>
            <a:r>
              <a:rPr lang="en-US" sz="1400" dirty="0">
                <a:solidFill>
                  <a:srgbClr val="ECEEF2"/>
                </a:solidFill>
                <a:latin typeface="Arial" pitchFamily="34" charset="0"/>
                <a:ea typeface="Arial" pitchFamily="34" charset="-122"/>
                <a:cs typeface="Arial" pitchFamily="34" charset="-120"/>
              </a:rPr>
              <a:t>The two freeImage lines are the CPU side — given, not CUDA.</a:t>
            </a:r>
            <a:endParaRPr lang="en-US" sz="1400" dirty="0"/>
          </a:p>
        </p:txBody>
      </p:sp>
      <p:sp>
        <p:nvSpPr>
          <p:cNvPr id="16" name="Shape 14"/>
          <p:cNvSpPr/>
          <p:nvPr/>
        </p:nvSpPr>
        <p:spPr>
          <a:xfrm>
            <a:off x="777240" y="5806440"/>
            <a:ext cx="10637215" cy="566928"/>
          </a:xfrm>
          <a:prstGeom prst="rect">
            <a:avLst/>
          </a:prstGeom>
          <a:solidFill>
            <a:srgbClr val="0F2A1C"/>
          </a:solidFill>
          <a:ln w="15875">
            <a:solidFill>
              <a:srgbClr val="46D07E"/>
            </a:solidFill>
            <a:prstDash val="solid"/>
          </a:ln>
        </p:spPr>
      </p:sp>
      <p:sp>
        <p:nvSpPr>
          <p:cNvPr id="17" name="Text 15"/>
          <p:cNvSpPr txBox="1"/>
          <p:nvPr/>
        </p:nvSpPr>
        <p:spPr>
          <a:xfrm>
            <a:off x="1051560" y="5806440"/>
            <a:ext cx="10180015" cy="566928"/>
          </a:xfrm>
          <a:prstGeom prst="rect">
            <a:avLst/>
          </a:prstGeom>
          <a:noFill/>
          <a:ln/>
        </p:spPr>
        <p:txBody>
          <a:bodyPr wrap="square" lIns="0" tIns="0" rIns="0" bIns="0" rtlCol="0" anchor="ctr"/>
          <a:lstStyle/>
          <a:p>
            <a:pPr indent="0" marL="0">
              <a:buNone/>
            </a:pPr>
            <a:r>
              <a:rPr lang="en-US" sz="1500" b="1" dirty="0">
                <a:solidFill>
                  <a:srgbClr val="46D07E"/>
                </a:solidFill>
                <a:latin typeface="Arial" pitchFamily="34" charset="0"/>
                <a:ea typeface="Arial" pitchFamily="34" charset="-122"/>
                <a:cs typeface="Arial" pitchFamily="34" charset="-120"/>
              </a:rPr>
              <a:t>✓  Run the cell, then lab.run().  Expect: ✅ Greyscale, and correct — then lab.show().</a:t>
            </a:r>
            <a:endParaRPr lang="en-US" sz="1500" dirty="0"/>
          </a:p>
        </p:txBody>
      </p:sp>
      <p:sp>
        <p:nvSpPr>
          <p:cNvPr id="18" name="Text 16"/>
          <p:cNvSpPr txBox="1"/>
          <p:nvPr/>
        </p:nvSpPr>
        <p:spPr>
          <a:xfrm>
            <a:off x="5928055" y="6556248"/>
            <a:ext cx="5486400" cy="228600"/>
          </a:xfrm>
          <a:prstGeom prst="rect">
            <a:avLst/>
          </a:prstGeom>
          <a:noFill/>
          <a:ln/>
        </p:spPr>
        <p:txBody>
          <a:bodyPr wrap="square" lIns="0" tIns="0" rIns="0" bIns="0" rtlCol="0" anchor="ctr"/>
          <a:lstStyle/>
          <a:p>
            <a:pPr algn="r" indent="0" marL="0">
              <a:buNone/>
            </a:pPr>
            <a:r>
              <a:rPr lang="en-US" sz="800" dirty="0">
                <a:solidFill>
                  <a:srgbClr val="6B7480"/>
                </a:solidFill>
                <a:latin typeface="Courier New" pitchFamily="34" charset="0"/>
                <a:ea typeface="Courier New" pitchFamily="34" charset="-122"/>
                <a:cs typeface="Courier New" pitchFamily="34" charset="-120"/>
              </a:rPr>
              <a:t>insert: after STEP 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9"/>
        </a:solidFill>
      </p:bgPr>
    </p:bg>
    <p:spTree>
      <p:nvGrpSpPr>
        <p:cNvPr id="1" name=""/>
        <p:cNvGrpSpPr/>
        <p:nvPr/>
      </p:nvGrpSpPr>
      <p:grpSpPr>
        <a:xfrm>
          <a:off x="0" y="0"/>
          <a:ext cx="0" cy="0"/>
          <a:chOff x="0" y="0"/>
          <a:chExt cx="0" cy="0"/>
        </a:xfrm>
      </p:grpSpPr>
      <p:sp>
        <p:nvSpPr>
          <p:cNvPr id="2" name="Shape 0"/>
          <p:cNvSpPr/>
          <p:nvPr/>
        </p:nvSpPr>
        <p:spPr>
          <a:xfrm>
            <a:off x="777240" y="411480"/>
            <a:ext cx="91440" cy="91440"/>
          </a:xfrm>
          <a:prstGeom prst="rect">
            <a:avLst/>
          </a:prstGeom>
          <a:solidFill>
            <a:srgbClr val="8B80F9"/>
          </a:solidFill>
          <a:ln w="12700">
            <a:solidFill>
              <a:srgbClr val="8B80F9"/>
            </a:solidFill>
            <a:prstDash val="solid"/>
          </a:ln>
        </p:spPr>
      </p:sp>
      <p:sp>
        <p:nvSpPr>
          <p:cNvPr id="3" name="Shape 1"/>
          <p:cNvSpPr/>
          <p:nvPr/>
        </p:nvSpPr>
        <p:spPr>
          <a:xfrm>
            <a:off x="896112" y="411480"/>
            <a:ext cx="91440" cy="91440"/>
          </a:xfrm>
          <a:prstGeom prst="rect">
            <a:avLst/>
          </a:prstGeom>
          <a:solidFill>
            <a:srgbClr val="8B80F9"/>
          </a:solidFill>
          <a:ln w="12700">
            <a:solidFill>
              <a:srgbClr val="8B80F9"/>
            </a:solidFill>
            <a:prstDash val="solid"/>
          </a:ln>
        </p:spPr>
      </p:sp>
      <p:sp>
        <p:nvSpPr>
          <p:cNvPr id="4" name="Shape 2"/>
          <p:cNvSpPr/>
          <p:nvPr/>
        </p:nvSpPr>
        <p:spPr>
          <a:xfrm>
            <a:off x="1014984" y="411480"/>
            <a:ext cx="91440" cy="91440"/>
          </a:xfrm>
          <a:prstGeom prst="rect">
            <a:avLst/>
          </a:prstGeom>
          <a:solidFill>
            <a:srgbClr val="8B80F9"/>
          </a:solidFill>
          <a:ln w="12700">
            <a:solidFill>
              <a:srgbClr val="8B80F9"/>
            </a:solidFill>
            <a:prstDash val="solid"/>
          </a:ln>
        </p:spPr>
      </p:sp>
      <p:sp>
        <p:nvSpPr>
          <p:cNvPr id="5" name="Shape 3"/>
          <p:cNvSpPr/>
          <p:nvPr/>
        </p:nvSpPr>
        <p:spPr>
          <a:xfrm>
            <a:off x="777240" y="530352"/>
            <a:ext cx="91440" cy="91440"/>
          </a:xfrm>
          <a:prstGeom prst="rect">
            <a:avLst/>
          </a:prstGeom>
          <a:solidFill>
            <a:srgbClr val="8B80F9"/>
          </a:solidFill>
          <a:ln w="12700">
            <a:solidFill>
              <a:srgbClr val="8B80F9"/>
            </a:solidFill>
            <a:prstDash val="solid"/>
          </a:ln>
        </p:spPr>
      </p:sp>
      <p:sp>
        <p:nvSpPr>
          <p:cNvPr id="6" name="Shape 4"/>
          <p:cNvSpPr/>
          <p:nvPr/>
        </p:nvSpPr>
        <p:spPr>
          <a:xfrm>
            <a:off x="896112" y="530352"/>
            <a:ext cx="91440" cy="91440"/>
          </a:xfrm>
          <a:prstGeom prst="rect">
            <a:avLst/>
          </a:prstGeom>
          <a:solidFill>
            <a:srgbClr val="8B80F9"/>
          </a:solidFill>
          <a:ln w="12700">
            <a:solidFill>
              <a:srgbClr val="8B80F9"/>
            </a:solidFill>
            <a:prstDash val="solid"/>
          </a:ln>
        </p:spPr>
      </p:sp>
      <p:sp>
        <p:nvSpPr>
          <p:cNvPr id="7" name="Shape 5"/>
          <p:cNvSpPr/>
          <p:nvPr/>
        </p:nvSpPr>
        <p:spPr>
          <a:xfrm>
            <a:off x="777240" y="649224"/>
            <a:ext cx="91440" cy="91440"/>
          </a:xfrm>
          <a:prstGeom prst="rect">
            <a:avLst/>
          </a:prstGeom>
          <a:solidFill>
            <a:srgbClr val="8B80F9"/>
          </a:solidFill>
          <a:ln w="12700">
            <a:solidFill>
              <a:srgbClr val="8B80F9"/>
            </a:solidFill>
            <a:prstDash val="solid"/>
          </a:ln>
        </p:spPr>
      </p:sp>
      <p:sp>
        <p:nvSpPr>
          <p:cNvPr id="8" name="Shape 6"/>
          <p:cNvSpPr/>
          <p:nvPr/>
        </p:nvSpPr>
        <p:spPr>
          <a:xfrm>
            <a:off x="1014984" y="649224"/>
            <a:ext cx="91440" cy="91440"/>
          </a:xfrm>
          <a:prstGeom prst="rect">
            <a:avLst/>
          </a:prstGeom>
          <a:solidFill>
            <a:srgbClr val="8B80F9"/>
          </a:solidFill>
          <a:ln w="12700">
            <a:solidFill>
              <a:srgbClr val="8B80F9"/>
            </a:solidFill>
            <a:prstDash val="solid"/>
          </a:ln>
        </p:spPr>
      </p:sp>
      <p:sp>
        <p:nvSpPr>
          <p:cNvPr id="9" name="Text 7"/>
          <p:cNvSpPr txBox="1"/>
          <p:nvPr/>
        </p:nvSpPr>
        <p:spPr>
          <a:xfrm>
            <a:off x="1417320" y="384048"/>
            <a:ext cx="8229600" cy="365760"/>
          </a:xfrm>
          <a:prstGeom prst="rect">
            <a:avLst/>
          </a:prstGeom>
          <a:noFill/>
          <a:ln/>
        </p:spPr>
        <p:txBody>
          <a:bodyPr wrap="square" lIns="0" tIns="0" rIns="0" bIns="0" rtlCol="0" anchor="ctr"/>
          <a:lstStyle/>
          <a:p>
            <a:pPr indent="0" marL="0">
              <a:buNone/>
            </a:pPr>
            <a:r>
              <a:rPr lang="en-US" sz="1300" b="1" spc="300" kern="0" dirty="0">
                <a:solidFill>
                  <a:srgbClr val="46D07E"/>
                </a:solidFill>
                <a:latin typeface="Courier New" pitchFamily="34" charset="0"/>
                <a:ea typeface="Courier New" pitchFamily="34" charset="-122"/>
                <a:cs typeface="Courier New" pitchFamily="34" charset="-120"/>
              </a:rPr>
              <a:t>BUILD 2 · STEP 3 AGAIN</a:t>
            </a:r>
            <a:endParaRPr lang="en-US" sz="1300" dirty="0"/>
          </a:p>
        </p:txBody>
      </p:sp>
      <p:sp>
        <p:nvSpPr>
          <p:cNvPr id="10" name="Text 8"/>
          <p:cNvSpPr txBox="1"/>
          <p:nvPr/>
        </p:nvSpPr>
        <p:spPr>
          <a:xfrm>
            <a:off x="777240" y="868680"/>
            <a:ext cx="10637215" cy="731520"/>
          </a:xfrm>
          <a:prstGeom prst="rect">
            <a:avLst/>
          </a:prstGeom>
          <a:noFill/>
          <a:ln/>
        </p:spPr>
        <p:txBody>
          <a:bodyPr wrap="square" lIns="0" tIns="0" rIns="0" bIns="0" rtlCol="0" anchor="ctr"/>
          <a:lstStyle/>
          <a:p>
            <a:pPr indent="0" marL="0">
              <a:buNone/>
            </a:pPr>
            <a:r>
              <a:rPr lang="en-US" sz="3400" b="1" dirty="0">
                <a:solidFill>
                  <a:srgbClr val="ECEEF2"/>
                </a:solidFill>
                <a:latin typeface="Arial" pitchFamily="34" charset="0"/>
                <a:ea typeface="Arial" pitchFamily="34" charset="-122"/>
                <a:cs typeface="Arial" pitchFamily="34" charset="-120"/>
              </a:rPr>
              <a:t>Same file. Change only the kernel.</a:t>
            </a:r>
            <a:endParaRPr lang="en-US" sz="3400" dirty="0"/>
          </a:p>
        </p:txBody>
      </p:sp>
      <p:sp>
        <p:nvSpPr>
          <p:cNvPr id="11" name="Shape 9"/>
          <p:cNvSpPr/>
          <p:nvPr/>
        </p:nvSpPr>
        <p:spPr>
          <a:xfrm>
            <a:off x="777240" y="1783080"/>
            <a:ext cx="7223760" cy="3977640"/>
          </a:xfrm>
          <a:prstGeom prst="rect">
            <a:avLst/>
          </a:prstGeom>
          <a:solidFill>
            <a:srgbClr val="0A0C12"/>
          </a:solidFill>
          <a:ln w="12700">
            <a:solidFill>
              <a:srgbClr val="272C38"/>
            </a:solidFill>
            <a:prstDash val="solid"/>
          </a:ln>
        </p:spPr>
      </p:sp>
      <p:sp>
        <p:nvSpPr>
          <p:cNvPr id="12" name="Text 10"/>
          <p:cNvSpPr txBox="1"/>
          <p:nvPr/>
        </p:nvSpPr>
        <p:spPr>
          <a:xfrm>
            <a:off x="978408" y="1947672"/>
            <a:ext cx="6821424" cy="3648456"/>
          </a:xfrm>
          <a:prstGeom prst="rect">
            <a:avLst/>
          </a:prstGeom>
          <a:noFill/>
          <a:ln/>
        </p:spPr>
        <p:txBody>
          <a:bodyPr wrap="square" lIns="0" tIns="0" rIns="0" bIns="0" rtlCol="0" anchor="t"/>
          <a:lstStyle/>
          <a:p>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#define </a:t>
            </a:r>
            <a:pPr indent="0" marL="0">
              <a:lnSpc>
                <a:spcPct val="112000"/>
              </a:lnSpc>
              <a:buNone/>
            </a:pPr>
            <a:r>
              <a:rPr lang="en-US" sz="1050" dirty="0">
                <a:solidFill>
                  <a:srgbClr val="46D07E"/>
                </a:solidFill>
                <a:latin typeface="Courier New" pitchFamily="34" charset="0"/>
                <a:ea typeface="Courier New" pitchFamily="34" charset="-122"/>
                <a:cs typeface="Courier New" pitchFamily="34" charset="-120"/>
              </a:rPr>
              <a:t>BLUR_SIZE</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 3          // under the #include, at the top</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7480"/>
                </a:solidFill>
                <a:latin typeface="Courier New" pitchFamily="34" charset="0"/>
                <a:ea typeface="Courier New" pitchFamily="34" charset="-122"/>
                <a:cs typeface="Courier New" pitchFamily="34" charset="-120"/>
              </a:rPr>
              <a:t>// ...then replace everything INSIDE  if (col &lt; w &amp;&amp; row &lt; h) {  with:</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int r = 0, g = 0, b = 0;</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int n = 0;</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for (int dr = -</a:t>
            </a:r>
            <a:pPr indent="0" marL="0">
              <a:lnSpc>
                <a:spcPct val="112000"/>
              </a:lnSpc>
              <a:buNone/>
            </a:pPr>
            <a:r>
              <a:rPr lang="en-US" sz="1050" dirty="0">
                <a:solidFill>
                  <a:srgbClr val="46D07E"/>
                </a:solidFill>
                <a:latin typeface="Courier New" pitchFamily="34" charset="0"/>
                <a:ea typeface="Courier New" pitchFamily="34" charset="-122"/>
                <a:cs typeface="Courier New" pitchFamily="34" charset="-120"/>
              </a:rPr>
              <a:t>BLUR_SIZE</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 dr &lt;= </a:t>
            </a:r>
            <a:pPr indent="0" marL="0">
              <a:lnSpc>
                <a:spcPct val="112000"/>
              </a:lnSpc>
              <a:buNone/>
            </a:pPr>
            <a:r>
              <a:rPr lang="en-US" sz="1050" dirty="0">
                <a:solidFill>
                  <a:srgbClr val="46D07E"/>
                </a:solidFill>
                <a:latin typeface="Courier New" pitchFamily="34" charset="0"/>
                <a:ea typeface="Courier New" pitchFamily="34" charset="-122"/>
                <a:cs typeface="Courier New" pitchFamily="34" charset="-120"/>
              </a:rPr>
              <a:t>BLUR_SIZE</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 ++dr) {</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    for (int dc = -</a:t>
            </a:r>
            <a:pPr indent="0" marL="0">
              <a:lnSpc>
                <a:spcPct val="112000"/>
              </a:lnSpc>
              <a:buNone/>
            </a:pPr>
            <a:r>
              <a:rPr lang="en-US" sz="1050" dirty="0">
                <a:solidFill>
                  <a:srgbClr val="46D07E"/>
                </a:solidFill>
                <a:latin typeface="Courier New" pitchFamily="34" charset="0"/>
                <a:ea typeface="Courier New" pitchFamily="34" charset="-122"/>
                <a:cs typeface="Courier New" pitchFamily="34" charset="-120"/>
              </a:rPr>
              <a:t>BLUR_SIZE</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 dc &lt;= </a:t>
            </a:r>
            <a:pPr indent="0" marL="0">
              <a:lnSpc>
                <a:spcPct val="112000"/>
              </a:lnSpc>
              <a:buNone/>
            </a:pPr>
            <a:r>
              <a:rPr lang="en-US" sz="1050" dirty="0">
                <a:solidFill>
                  <a:srgbClr val="46D07E"/>
                </a:solidFill>
                <a:latin typeface="Courier New" pitchFamily="34" charset="0"/>
                <a:ea typeface="Courier New" pitchFamily="34" charset="-122"/>
                <a:cs typeface="Courier New" pitchFamily="34" charset="-120"/>
              </a:rPr>
              <a:t>BLUR_SIZE</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 ++dc) {</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        int nrow = row + dr;</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        int ncol = col + dc;</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        if (nrow &gt;= 0 &amp;&amp; nrow &lt; h &amp;&amp; ncol &gt;= 0 &amp;&amp; ncol &lt; w) {</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            int i = (nrow * w + ncol) * 3;</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            r += in[i + 0];</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            g += in[i + 1];</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            b += in[i + 2];</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            ++n;</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int o = (row * w + col) * 3;</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out[o + 0] = (unsigned char)((float)r / n);</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out[o + 1] = (unsigned char)((float)g / n);</a:t>
            </a:r>
            <a:pPr indent="0" marL="0">
              <a:lnSpc>
                <a:spcPct val="112000"/>
              </a:lnSpc>
              <a:buNone/>
            </a:pPr>
            <a:r>
              <a:rPr lang="en-US" sz="1050" dirty="0">
                <a:solidFill>
                  <a:srgbClr val="000000"/>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ECEEF2"/>
                </a:solidFill>
                <a:latin typeface="Courier New" pitchFamily="34" charset="0"/>
                <a:ea typeface="Courier New" pitchFamily="34" charset="-122"/>
                <a:cs typeface="Courier New" pitchFamily="34" charset="-120"/>
              </a:rPr>
              <a:t>out[o + 2] = (unsigned char)((float)b / n);</a:t>
            </a:r>
            <a:endParaRPr lang="en-US" sz="1050" dirty="0"/>
          </a:p>
        </p:txBody>
      </p:sp>
      <p:sp>
        <p:nvSpPr>
          <p:cNvPr id="13" name="Shape 11"/>
          <p:cNvSpPr/>
          <p:nvPr/>
        </p:nvSpPr>
        <p:spPr>
          <a:xfrm>
            <a:off x="8275320" y="1783080"/>
            <a:ext cx="3139135" cy="3977640"/>
          </a:xfrm>
          <a:prstGeom prst="rect">
            <a:avLst/>
          </a:prstGeom>
          <a:solidFill>
            <a:srgbClr val="1B1A33"/>
          </a:solidFill>
          <a:ln w="15875">
            <a:solidFill>
              <a:srgbClr val="6C63D9"/>
            </a:solidFill>
            <a:prstDash val="solid"/>
          </a:ln>
        </p:spPr>
      </p:sp>
      <p:sp>
        <p:nvSpPr>
          <p:cNvPr id="14" name="Text 12"/>
          <p:cNvSpPr txBox="1"/>
          <p:nvPr/>
        </p:nvSpPr>
        <p:spPr>
          <a:xfrm>
            <a:off x="8531352" y="1984248"/>
            <a:ext cx="2681935" cy="274320"/>
          </a:xfrm>
          <a:prstGeom prst="rect">
            <a:avLst/>
          </a:prstGeom>
          <a:noFill/>
          <a:ln/>
        </p:spPr>
        <p:txBody>
          <a:bodyPr wrap="square" lIns="0" tIns="0" rIns="0" bIns="0" rtlCol="0" anchor="ctr"/>
          <a:lstStyle/>
          <a:p>
            <a:pPr indent="0" marL="0">
              <a:buNone/>
            </a:pPr>
            <a:r>
              <a:rPr lang="en-US" sz="1200" b="1" spc="200" kern="0" dirty="0">
                <a:solidFill>
                  <a:srgbClr val="8B80F9"/>
                </a:solidFill>
                <a:latin typeface="Arial" pitchFamily="34" charset="0"/>
                <a:ea typeface="Arial" pitchFamily="34" charset="-122"/>
                <a:cs typeface="Arial" pitchFamily="34" charset="-120"/>
              </a:rPr>
              <a:t>READ IT AS</a:t>
            </a:r>
            <a:endParaRPr lang="en-US" sz="1200" dirty="0"/>
          </a:p>
        </p:txBody>
      </p:sp>
      <p:sp>
        <p:nvSpPr>
          <p:cNvPr id="15" name="Text 13"/>
          <p:cNvSpPr txBox="1"/>
          <p:nvPr/>
        </p:nvSpPr>
        <p:spPr>
          <a:xfrm>
            <a:off x="8531352" y="2331720"/>
            <a:ext cx="2681935" cy="3246120"/>
          </a:xfrm>
          <a:prstGeom prst="rect">
            <a:avLst/>
          </a:prstGeom>
          <a:noFill/>
          <a:ln/>
        </p:spPr>
        <p:txBody>
          <a:bodyPr wrap="square" lIns="0" tIns="0" rIns="0" bIns="0" rtlCol="0" anchor="t"/>
          <a:lstStyle/>
          <a:p>
            <a:pPr indent="0" marL="0">
              <a:lnSpc>
                <a:spcPct val="115000"/>
              </a:lnSpc>
              <a:spcAft>
                <a:spcPts val="500"/>
              </a:spcAft>
              <a:buNone/>
            </a:pPr>
            <a:r>
              <a:rPr lang="en-US" sz="1300" dirty="0">
                <a:solidFill>
                  <a:srgbClr val="ECEEF2"/>
                </a:solidFill>
                <a:latin typeface="Arial" pitchFamily="34" charset="0"/>
                <a:ea typeface="Arial" pitchFamily="34" charset="-122"/>
                <a:cs typeface="Arial" pitchFamily="34" charset="-120"/>
              </a:rPr>
              <a:t>Add the #define at the top.</a:t>
            </a:r>
            <a:endParaRPr lang="en-US" sz="1300" dirty="0"/>
          </a:p>
          <a:p>
            <a:pPr indent="0" marL="0">
              <a:lnSpc>
                <a:spcPct val="115000"/>
              </a:lnSpc>
              <a:spcAft>
                <a:spcPts val="500"/>
              </a:spcAft>
              <a:buNone/>
            </a:pPr>
            <a:r>
              <a:rPr lang="en-US" sz="1300" dirty="0">
                <a:solidFill>
                  <a:srgbClr val="ECEEF2"/>
                </a:solidFill>
                <a:latin typeface="Arial" pitchFamily="34" charset="0"/>
                <a:ea typeface="Arial" pitchFamily="34" charset="-122"/>
                <a:cs typeface="Arial" pitchFamily="34" charset="-120"/>
              </a:rPr>
              <a:t>col, row and the if are already there — leave them.</a:t>
            </a:r>
            <a:endParaRPr lang="en-US" sz="1300" dirty="0"/>
          </a:p>
          <a:p>
            <a:pPr indent="0" marL="0">
              <a:lnSpc>
                <a:spcPct val="115000"/>
              </a:lnSpc>
              <a:spcAft>
                <a:spcPts val="500"/>
              </a:spcAft>
              <a:buNone/>
            </a:pPr>
            <a:r>
              <a:rPr lang="en-US" sz="1300" dirty="0">
                <a:solidFill>
                  <a:srgbClr val="ECEEF2"/>
                </a:solidFill>
                <a:latin typeface="Arial" pitchFamily="34" charset="0"/>
                <a:ea typeface="Arial" pitchFamily="34" charset="-122"/>
                <a:cs typeface="Arial" pitchFamily="34" charset="-120"/>
              </a:rPr>
              <a:t>Walk the square around me. Skip neighbours that fall off the picture. Count the ones I used.</a:t>
            </a:r>
            <a:endParaRPr lang="en-US" sz="1300" dirty="0"/>
          </a:p>
          <a:p>
            <a:pPr indent="0" marL="0">
              <a:lnSpc>
                <a:spcPct val="115000"/>
              </a:lnSpc>
              <a:spcAft>
                <a:spcPts val="500"/>
              </a:spcAft>
              <a:buNone/>
            </a:pPr>
            <a:r>
              <a:rPr lang="en-US" sz="1300" dirty="0">
                <a:solidFill>
                  <a:srgbClr val="ECEEF2"/>
                </a:solidFill>
                <a:latin typeface="Arial" pitchFamily="34" charset="0"/>
                <a:ea typeface="Arial" pitchFamily="34" charset="-122"/>
                <a:cs typeface="Arial" pitchFamily="34" charset="-120"/>
              </a:rPr>
              <a:t>Divide by n — what I counted — not by 49.</a:t>
            </a:r>
            <a:endParaRPr lang="en-US" sz="1300" dirty="0"/>
          </a:p>
          <a:p>
            <a:pPr indent="0" marL="0">
              <a:lnSpc>
                <a:spcPct val="115000"/>
              </a:lnSpc>
              <a:spcAft>
                <a:spcPts val="500"/>
              </a:spcAft>
              <a:buNone/>
            </a:pPr>
            <a:r>
              <a:rPr lang="en-US" sz="1300" dirty="0">
                <a:solidFill>
                  <a:srgbClr val="ECEEF2"/>
                </a:solidFill>
                <a:latin typeface="Arial" pitchFamily="34" charset="0"/>
                <a:ea typeface="Arial" pitchFamily="34" charset="-122"/>
                <a:cs typeface="Arial" pitchFamily="34" charset="-120"/>
              </a:rPr>
              <a:t>Every CUDA call in main(): untouched.</a:t>
            </a:r>
            <a:endParaRPr lang="en-US" sz="1300" dirty="0"/>
          </a:p>
        </p:txBody>
      </p:sp>
      <p:sp>
        <p:nvSpPr>
          <p:cNvPr id="16" name="Shape 14"/>
          <p:cNvSpPr/>
          <p:nvPr/>
        </p:nvSpPr>
        <p:spPr>
          <a:xfrm>
            <a:off x="777240" y="5943600"/>
            <a:ext cx="10637215" cy="566928"/>
          </a:xfrm>
          <a:prstGeom prst="rect">
            <a:avLst/>
          </a:prstGeom>
          <a:solidFill>
            <a:srgbClr val="0F2A1C"/>
          </a:solidFill>
          <a:ln w="15875">
            <a:solidFill>
              <a:srgbClr val="46D07E"/>
            </a:solidFill>
            <a:prstDash val="solid"/>
          </a:ln>
        </p:spPr>
      </p:sp>
      <p:sp>
        <p:nvSpPr>
          <p:cNvPr id="17" name="Text 15"/>
          <p:cNvSpPr txBox="1"/>
          <p:nvPr/>
        </p:nvSpPr>
        <p:spPr>
          <a:xfrm>
            <a:off x="1051560" y="5943600"/>
            <a:ext cx="10180015" cy="566928"/>
          </a:xfrm>
          <a:prstGeom prst="rect">
            <a:avLst/>
          </a:prstGeom>
          <a:noFill/>
          <a:ln/>
        </p:spPr>
        <p:txBody>
          <a:bodyPr wrap="square" lIns="0" tIns="0" rIns="0" bIns="0" rtlCol="0" anchor="ctr"/>
          <a:lstStyle/>
          <a:p>
            <a:pPr indent="0" marL="0">
              <a:buNone/>
            </a:pPr>
            <a:r>
              <a:rPr lang="en-US" sz="1500" b="1" dirty="0">
                <a:solidFill>
                  <a:srgbClr val="46D07E"/>
                </a:solidFill>
                <a:latin typeface="Arial" pitchFamily="34" charset="0"/>
                <a:ea typeface="Arial" pitchFamily="34" charset="-122"/>
                <a:cs typeface="Arial" pitchFamily="34" charset="-120"/>
              </a:rPr>
              <a:t>✓  Run the cell, then lab.run().  Expect: ✅ Blur, edges included — then lab.show().</a:t>
            </a:r>
            <a:endParaRPr lang="en-US" sz="1500" dirty="0"/>
          </a:p>
        </p:txBody>
      </p:sp>
      <p:sp>
        <p:nvSpPr>
          <p:cNvPr id="18" name="Text 16"/>
          <p:cNvSpPr txBox="1"/>
          <p:nvPr/>
        </p:nvSpPr>
        <p:spPr>
          <a:xfrm>
            <a:off x="5928055" y="6556248"/>
            <a:ext cx="5486400" cy="228600"/>
          </a:xfrm>
          <a:prstGeom prst="rect">
            <a:avLst/>
          </a:prstGeom>
          <a:noFill/>
          <a:ln/>
        </p:spPr>
        <p:txBody>
          <a:bodyPr wrap="square" lIns="0" tIns="0" rIns="0" bIns="0" rtlCol="0" anchor="ctr"/>
          <a:lstStyle/>
          <a:p>
            <a:pPr algn="r" indent="0" marL="0">
              <a:buNone/>
            </a:pPr>
            <a:r>
              <a:rPr lang="en-US" sz="800" dirty="0">
                <a:solidFill>
                  <a:srgbClr val="6B7480"/>
                </a:solidFill>
                <a:latin typeface="Courier New" pitchFamily="34" charset="0"/>
                <a:ea typeface="Courier New" pitchFamily="34" charset="-122"/>
                <a:cs typeface="Courier New" pitchFamily="34" charset="-120"/>
              </a:rPr>
              <a:t>insert: after your Build 2 divider</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2026-09-20T23:58:44Z</dcterms:created>
  <dcterms:modified xsi:type="dcterms:W3CDTF">2026-09-20T23:58:44Z</dcterms:modified>
</cp:coreProperties>
</file>